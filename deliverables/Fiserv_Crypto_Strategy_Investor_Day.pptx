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3B5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058400" cy="1097280"/>
          </a:xfrm>
          <a:prstGeom prst="rect">
            <a:avLst/>
          </a:prstGeom>
          <a:noFill/>
        </p:spPr>
        <p:txBody>
          <a:bodyPr wrap="square">
            <a:spAutoFit/>
          </a:bodyPr>
          <a:lstStyle/>
          <a:p>
            <a:pPr algn="l">
              <a:defRPr sz="4800" b="1">
                <a:solidFill>
                  <a:srgbClr val="FFFFFF"/>
                </a:solidFill>
                <a:latin typeface="Calibri"/>
              </a:defRPr>
            </a:pPr>
            <a:r>
              <a:t>Fiserv Digital Pay</a:t>
            </a:r>
          </a:p>
        </p:txBody>
      </p:sp>
      <p:sp>
        <p:nvSpPr>
          <p:cNvPr id="4" name="TextBox 3"/>
          <p:cNvSpPr txBox="1"/>
          <p:nvPr/>
        </p:nvSpPr>
        <p:spPr>
          <a:xfrm>
            <a:off x="914400" y="2651760"/>
            <a:ext cx="10058400" cy="731520"/>
          </a:xfrm>
          <a:prstGeom prst="rect">
            <a:avLst/>
          </a:prstGeom>
          <a:noFill/>
        </p:spPr>
        <p:txBody>
          <a:bodyPr wrap="square">
            <a:spAutoFit/>
          </a:bodyPr>
          <a:lstStyle/>
          <a:p>
            <a:pPr algn="l">
              <a:defRPr sz="2800" b="0">
                <a:solidFill>
                  <a:srgbClr val="FF6600"/>
                </a:solidFill>
                <a:latin typeface="Calibri"/>
              </a:defRPr>
            </a:pPr>
            <a:r>
              <a:t>Crypto &amp; Stablecoin Acceptance Strategy</a:t>
            </a:r>
          </a:p>
        </p:txBody>
      </p:sp>
      <p:sp>
        <p:nvSpPr>
          <p:cNvPr id="5" name="TextBox 4"/>
          <p:cNvSpPr txBox="1"/>
          <p:nvPr/>
        </p:nvSpPr>
        <p:spPr>
          <a:xfrm>
            <a:off x="914400" y="3840480"/>
            <a:ext cx="10058400" cy="457200"/>
          </a:xfrm>
          <a:prstGeom prst="rect">
            <a:avLst/>
          </a:prstGeom>
          <a:noFill/>
        </p:spPr>
        <p:txBody>
          <a:bodyPr wrap="square">
            <a:spAutoFit/>
          </a:bodyPr>
          <a:lstStyle/>
          <a:p>
            <a:pPr algn="l">
              <a:defRPr sz="1800" b="0">
                <a:solidFill>
                  <a:srgbClr val="FFFFFF"/>
                </a:solidFill>
                <a:latin typeface="Calibri"/>
              </a:defRPr>
            </a:pPr>
            <a:r>
              <a:t>CommerceHub  |  Finxact  |  FIUSD  |  INDX</a:t>
            </a:r>
          </a:p>
        </p:txBody>
      </p:sp>
      <p:sp>
        <p:nvSpPr>
          <p:cNvPr id="6" name="Rectangle 5"/>
          <p:cNvSpPr/>
          <p:nvPr/>
        </p:nvSpPr>
        <p:spPr>
          <a:xfrm>
            <a:off x="0" y="6217920"/>
            <a:ext cx="12191695" cy="640080"/>
          </a:xfrm>
          <a:prstGeom prst="rect">
            <a:avLst/>
          </a:prstGeom>
          <a:solidFill>
            <a:srgbClr val="00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6309360"/>
            <a:ext cx="4572000" cy="365760"/>
          </a:xfrm>
          <a:prstGeom prst="rect">
            <a:avLst/>
          </a:prstGeom>
          <a:noFill/>
        </p:spPr>
        <p:txBody>
          <a:bodyPr wrap="square">
            <a:spAutoFit/>
          </a:bodyPr>
          <a:lstStyle/>
          <a:p>
            <a:pPr algn="l">
              <a:defRPr sz="1200" b="0">
                <a:solidFill>
                  <a:srgbClr val="9B9B9B"/>
                </a:solidFill>
                <a:latin typeface="Calibri"/>
              </a:defRPr>
            </a:pPr>
            <a:r>
              <a:t>May 2026  |  CONFIDENTIAL</a:t>
            </a:r>
          </a:p>
        </p:txBody>
      </p:sp>
      <p:sp>
        <p:nvSpPr>
          <p:cNvPr id="8" name="TextBox 7"/>
          <p:cNvSpPr txBox="1"/>
          <p:nvPr/>
        </p:nvSpPr>
        <p:spPr>
          <a:xfrm>
            <a:off x="6400800" y="6309360"/>
            <a:ext cx="5029200" cy="365760"/>
          </a:xfrm>
          <a:prstGeom prst="rect">
            <a:avLst/>
          </a:prstGeom>
          <a:noFill/>
        </p:spPr>
        <p:txBody>
          <a:bodyPr wrap="square">
            <a:spAutoFit/>
          </a:bodyPr>
          <a:lstStyle/>
          <a:p>
            <a:pPr algn="r">
              <a:defRPr sz="1200" b="0">
                <a:solidFill>
                  <a:srgbClr val="9B9B9B"/>
                </a:solidFill>
                <a:latin typeface="Calibri"/>
              </a:defRPr>
            </a:pPr>
            <a:r>
              <a:t>Investor Day Strategy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640080"/>
          </a:xfrm>
          <a:prstGeom prst="rect">
            <a:avLst/>
          </a:prstGeom>
          <a:noFill/>
        </p:spPr>
        <p:txBody>
          <a:bodyPr wrap="square">
            <a:spAutoFit/>
          </a:bodyPr>
          <a:lstStyle/>
          <a:p>
            <a:pPr algn="l">
              <a:defRPr sz="3600" b="1">
                <a:solidFill>
                  <a:srgbClr val="003B5C"/>
                </a:solidFill>
                <a:latin typeface="Calibri"/>
              </a:defRPr>
            </a:pPr>
            <a:r>
              <a:t>Executive Summary</a:t>
            </a:r>
          </a:p>
        </p:txBody>
      </p:sp>
      <p:sp>
        <p:nvSpPr>
          <p:cNvPr id="4" name="Rounded Rectangle 3"/>
          <p:cNvSpPr/>
          <p:nvPr/>
        </p:nvSpPr>
        <p:spPr>
          <a:xfrm>
            <a:off x="731520" y="1371600"/>
            <a:ext cx="2560320" cy="164592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508760"/>
            <a:ext cx="2011680" cy="731520"/>
          </a:xfrm>
          <a:prstGeom prst="rect">
            <a:avLst/>
          </a:prstGeom>
          <a:noFill/>
        </p:spPr>
        <p:txBody>
          <a:bodyPr wrap="square">
            <a:spAutoFit/>
          </a:bodyPr>
          <a:lstStyle/>
          <a:p>
            <a:pPr algn="ctr">
              <a:defRPr sz="4200" b="1">
                <a:solidFill>
                  <a:srgbClr val="003B5C"/>
                </a:solidFill>
                <a:latin typeface="Calibri"/>
              </a:defRPr>
            </a:pPr>
            <a:r>
              <a:t>$2-4T</a:t>
            </a:r>
          </a:p>
        </p:txBody>
      </p:sp>
      <p:sp>
        <p:nvSpPr>
          <p:cNvPr id="6" name="TextBox 5"/>
          <p:cNvSpPr txBox="1"/>
          <p:nvPr/>
        </p:nvSpPr>
        <p:spPr>
          <a:xfrm>
            <a:off x="1005840" y="2194560"/>
            <a:ext cx="2011680" cy="640080"/>
          </a:xfrm>
          <a:prstGeom prst="rect">
            <a:avLst/>
          </a:prstGeom>
          <a:noFill/>
        </p:spPr>
        <p:txBody>
          <a:bodyPr wrap="square">
            <a:spAutoFit/>
          </a:bodyPr>
          <a:lstStyle/>
          <a:p>
            <a:pPr algn="ctr">
              <a:defRPr sz="1300" b="0">
                <a:solidFill>
                  <a:srgbClr val="333333"/>
                </a:solidFill>
                <a:latin typeface="Calibri"/>
              </a:defRPr>
            </a:pPr>
            <a:r>
              <a:t>Stablecoin market</a:t>
            </a:r>
            <a:br/>
            <a:r>
              <a:t>by 2030</a:t>
            </a:r>
          </a:p>
        </p:txBody>
      </p:sp>
      <p:sp>
        <p:nvSpPr>
          <p:cNvPr id="7" name="Rounded Rectangle 6"/>
          <p:cNvSpPr/>
          <p:nvPr/>
        </p:nvSpPr>
        <p:spPr>
          <a:xfrm>
            <a:off x="3566160" y="1371600"/>
            <a:ext cx="2560320" cy="164592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40480" y="1508760"/>
            <a:ext cx="2011680" cy="731520"/>
          </a:xfrm>
          <a:prstGeom prst="rect">
            <a:avLst/>
          </a:prstGeom>
          <a:noFill/>
        </p:spPr>
        <p:txBody>
          <a:bodyPr wrap="square">
            <a:spAutoFit/>
          </a:bodyPr>
          <a:lstStyle/>
          <a:p>
            <a:pPr algn="ctr">
              <a:defRPr sz="4200" b="1">
                <a:solidFill>
                  <a:srgbClr val="FF6600"/>
                </a:solidFill>
                <a:latin typeface="Calibri"/>
              </a:defRPr>
            </a:pPr>
            <a:r>
              <a:t>&lt;1%</a:t>
            </a:r>
          </a:p>
        </p:txBody>
      </p:sp>
      <p:sp>
        <p:nvSpPr>
          <p:cNvPr id="9" name="TextBox 8"/>
          <p:cNvSpPr txBox="1"/>
          <p:nvPr/>
        </p:nvSpPr>
        <p:spPr>
          <a:xfrm>
            <a:off x="3840480" y="2194560"/>
            <a:ext cx="2011680" cy="640080"/>
          </a:xfrm>
          <a:prstGeom prst="rect">
            <a:avLst/>
          </a:prstGeom>
          <a:noFill/>
        </p:spPr>
        <p:txBody>
          <a:bodyPr wrap="square">
            <a:spAutoFit/>
          </a:bodyPr>
          <a:lstStyle/>
          <a:p>
            <a:pPr algn="ctr">
              <a:defRPr sz="1300" b="0">
                <a:solidFill>
                  <a:srgbClr val="333333"/>
                </a:solidFill>
                <a:latin typeface="Calibri"/>
              </a:defRPr>
            </a:pPr>
            <a:r>
              <a:t>Transaction cost</a:t>
            </a:r>
            <a:br/>
            <a:r>
              <a:t>vs 2-3% interchange</a:t>
            </a:r>
          </a:p>
        </p:txBody>
      </p:sp>
      <p:sp>
        <p:nvSpPr>
          <p:cNvPr id="10" name="Rounded Rectangle 9"/>
          <p:cNvSpPr/>
          <p:nvPr/>
        </p:nvSpPr>
        <p:spPr>
          <a:xfrm>
            <a:off x="6400800" y="1371600"/>
            <a:ext cx="2560320" cy="164592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508760"/>
            <a:ext cx="2011680" cy="731520"/>
          </a:xfrm>
          <a:prstGeom prst="rect">
            <a:avLst/>
          </a:prstGeom>
          <a:noFill/>
        </p:spPr>
        <p:txBody>
          <a:bodyPr wrap="square">
            <a:spAutoFit/>
          </a:bodyPr>
          <a:lstStyle/>
          <a:p>
            <a:pPr algn="ctr">
              <a:defRPr sz="4200" b="1">
                <a:solidFill>
                  <a:srgbClr val="008090"/>
                </a:solidFill>
                <a:latin typeface="Calibri"/>
              </a:defRPr>
            </a:pPr>
            <a:r>
              <a:t>6M</a:t>
            </a:r>
          </a:p>
        </p:txBody>
      </p:sp>
      <p:sp>
        <p:nvSpPr>
          <p:cNvPr id="12" name="TextBox 11"/>
          <p:cNvSpPr txBox="1"/>
          <p:nvPr/>
        </p:nvSpPr>
        <p:spPr>
          <a:xfrm>
            <a:off x="6675120" y="2194560"/>
            <a:ext cx="2011680" cy="640080"/>
          </a:xfrm>
          <a:prstGeom prst="rect">
            <a:avLst/>
          </a:prstGeom>
          <a:noFill/>
        </p:spPr>
        <p:txBody>
          <a:bodyPr wrap="square">
            <a:spAutoFit/>
          </a:bodyPr>
          <a:lstStyle/>
          <a:p>
            <a:pPr algn="ctr">
              <a:defRPr sz="1300" b="0">
                <a:solidFill>
                  <a:srgbClr val="333333"/>
                </a:solidFill>
                <a:latin typeface="Calibri"/>
              </a:defRPr>
            </a:pPr>
            <a:r>
              <a:t>Merchant locations</a:t>
            </a:r>
            <a:br/>
            <a:r>
              <a:t>ready for activation</a:t>
            </a:r>
          </a:p>
        </p:txBody>
      </p:sp>
      <p:sp>
        <p:nvSpPr>
          <p:cNvPr id="13" name="Rounded Rectangle 12"/>
          <p:cNvSpPr/>
          <p:nvPr/>
        </p:nvSpPr>
        <p:spPr>
          <a:xfrm>
            <a:off x="9235440" y="1371600"/>
            <a:ext cx="2560320" cy="164592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0" y="1508760"/>
            <a:ext cx="2011680" cy="731520"/>
          </a:xfrm>
          <a:prstGeom prst="rect">
            <a:avLst/>
          </a:prstGeom>
          <a:noFill/>
        </p:spPr>
        <p:txBody>
          <a:bodyPr wrap="square">
            <a:spAutoFit/>
          </a:bodyPr>
          <a:lstStyle/>
          <a:p>
            <a:pPr algn="ctr">
              <a:defRPr sz="4200" b="1">
                <a:solidFill>
                  <a:srgbClr val="2E7D32"/>
                </a:solidFill>
                <a:latin typeface="Calibri"/>
              </a:defRPr>
            </a:pPr>
            <a:r>
              <a:t>ONLY</a:t>
            </a:r>
          </a:p>
        </p:txBody>
      </p:sp>
      <p:sp>
        <p:nvSpPr>
          <p:cNvPr id="15" name="TextBox 14"/>
          <p:cNvSpPr txBox="1"/>
          <p:nvPr/>
        </p:nvSpPr>
        <p:spPr>
          <a:xfrm>
            <a:off x="9509760" y="2194560"/>
            <a:ext cx="2011680" cy="640080"/>
          </a:xfrm>
          <a:prstGeom prst="rect">
            <a:avLst/>
          </a:prstGeom>
          <a:noFill/>
        </p:spPr>
        <p:txBody>
          <a:bodyPr wrap="square">
            <a:spAutoFit/>
          </a:bodyPr>
          <a:lstStyle/>
          <a:p>
            <a:pPr algn="ctr">
              <a:defRPr sz="1300" b="0">
                <a:solidFill>
                  <a:srgbClr val="333333"/>
                </a:solidFill>
                <a:latin typeface="Calibri"/>
              </a:defRPr>
            </a:pPr>
            <a:r>
              <a:t>Vertically integrated</a:t>
            </a:r>
            <a:br/>
            <a:r>
              <a:t>crypto payment stack</a:t>
            </a:r>
          </a:p>
        </p:txBody>
      </p:sp>
      <p:sp>
        <p:nvSpPr>
          <p:cNvPr id="16" name="Rectangle 15"/>
          <p:cNvSpPr/>
          <p:nvPr/>
        </p:nvSpPr>
        <p:spPr>
          <a:xfrm>
            <a:off x="914400" y="3456432"/>
            <a:ext cx="109728" cy="109728"/>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3383280"/>
            <a:ext cx="10058400" cy="365760"/>
          </a:xfrm>
          <a:prstGeom prst="rect">
            <a:avLst/>
          </a:prstGeom>
          <a:noFill/>
        </p:spPr>
        <p:txBody>
          <a:bodyPr wrap="square">
            <a:spAutoFit/>
          </a:bodyPr>
          <a:lstStyle/>
          <a:p>
            <a:pPr algn="l">
              <a:defRPr sz="1300" b="0">
                <a:solidFill>
                  <a:srgbClr val="333333"/>
                </a:solidFill>
                <a:latin typeface="Calibri"/>
              </a:defRPr>
            </a:pPr>
            <a:r>
              <a:t>GENIUS Act (July 2025) legalized stablecoins as payment instruments in the US</a:t>
            </a:r>
          </a:p>
        </p:txBody>
      </p:sp>
      <p:sp>
        <p:nvSpPr>
          <p:cNvPr id="18" name="Rectangle 17"/>
          <p:cNvSpPr/>
          <p:nvPr/>
        </p:nvSpPr>
        <p:spPr>
          <a:xfrm>
            <a:off x="914400" y="3840480"/>
            <a:ext cx="109728" cy="109728"/>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3767328"/>
            <a:ext cx="10058400" cy="365760"/>
          </a:xfrm>
          <a:prstGeom prst="rect">
            <a:avLst/>
          </a:prstGeom>
          <a:noFill/>
        </p:spPr>
        <p:txBody>
          <a:bodyPr wrap="square">
            <a:spAutoFit/>
          </a:bodyPr>
          <a:lstStyle/>
          <a:p>
            <a:pPr algn="l">
              <a:defRPr sz="1300" b="0">
                <a:solidFill>
                  <a:srgbClr val="333333"/>
                </a:solidFill>
                <a:latin typeface="Calibri"/>
              </a:defRPr>
            </a:pPr>
            <a:r>
              <a:t>75% of NRF 2026 retailers implementing or planning agentic commerce</a:t>
            </a:r>
          </a:p>
        </p:txBody>
      </p:sp>
      <p:sp>
        <p:nvSpPr>
          <p:cNvPr id="20" name="Rectangle 19"/>
          <p:cNvSpPr/>
          <p:nvPr/>
        </p:nvSpPr>
        <p:spPr>
          <a:xfrm>
            <a:off x="914400" y="4224528"/>
            <a:ext cx="109728" cy="109728"/>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88720" y="4151376"/>
            <a:ext cx="10058400" cy="365760"/>
          </a:xfrm>
          <a:prstGeom prst="rect">
            <a:avLst/>
          </a:prstGeom>
          <a:noFill/>
        </p:spPr>
        <p:txBody>
          <a:bodyPr wrap="square">
            <a:spAutoFit/>
          </a:bodyPr>
          <a:lstStyle/>
          <a:p>
            <a:pPr algn="l">
              <a:defRPr sz="1300" b="0">
                <a:solidFill>
                  <a:srgbClr val="333333"/>
                </a:solidFill>
                <a:latin typeface="Calibri"/>
              </a:defRPr>
            </a:pPr>
            <a:r>
              <a:t>Fiserv is a founding member of the x402 Foundation (April 2, 2026)</a:t>
            </a:r>
          </a:p>
        </p:txBody>
      </p:sp>
      <p:sp>
        <p:nvSpPr>
          <p:cNvPr id="22" name="Rectangle 21"/>
          <p:cNvSpPr/>
          <p:nvPr/>
        </p:nvSpPr>
        <p:spPr>
          <a:xfrm>
            <a:off x="914400" y="4608576"/>
            <a:ext cx="109728" cy="109728"/>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8720" y="4535424"/>
            <a:ext cx="10058400" cy="365760"/>
          </a:xfrm>
          <a:prstGeom prst="rect">
            <a:avLst/>
          </a:prstGeom>
          <a:noFill/>
        </p:spPr>
        <p:txBody>
          <a:bodyPr wrap="square">
            <a:spAutoFit/>
          </a:bodyPr>
          <a:lstStyle/>
          <a:p>
            <a:pPr algn="l">
              <a:defRPr sz="1300" b="0">
                <a:solidFill>
                  <a:srgbClr val="333333"/>
                </a:solidFill>
                <a:latin typeface="Calibri"/>
              </a:defRPr>
            </a:pPr>
            <a:r>
              <a:t>Cross-border payments represent a $190 trillion annual market opportunity</a:t>
            </a:r>
          </a:p>
        </p:txBody>
      </p:sp>
      <p:sp>
        <p:nvSpPr>
          <p:cNvPr id="24" name="Rectangle 23"/>
          <p:cNvSpPr/>
          <p:nvPr/>
        </p:nvSpPr>
        <p:spPr>
          <a:xfrm>
            <a:off x="914400" y="4992624"/>
            <a:ext cx="109728" cy="109728"/>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88720" y="4919472"/>
            <a:ext cx="10058400" cy="365760"/>
          </a:xfrm>
          <a:prstGeom prst="rect">
            <a:avLst/>
          </a:prstGeom>
          <a:noFill/>
        </p:spPr>
        <p:txBody>
          <a:bodyPr wrap="square">
            <a:spAutoFit/>
          </a:bodyPr>
          <a:lstStyle/>
          <a:p>
            <a:pPr algn="l">
              <a:defRPr sz="1300" b="0">
                <a:solidFill>
                  <a:srgbClr val="333333"/>
                </a:solidFill>
                <a:latin typeface="Calibri"/>
              </a:defRPr>
            </a:pPr>
            <a:r>
              <a:t>FIUSD is live in production -- bank-embedded stablecoin on Solana via Paxos/Circle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640080"/>
          </a:xfrm>
          <a:prstGeom prst="rect">
            <a:avLst/>
          </a:prstGeom>
          <a:noFill/>
        </p:spPr>
        <p:txBody>
          <a:bodyPr wrap="square">
            <a:spAutoFit/>
          </a:bodyPr>
          <a:lstStyle/>
          <a:p>
            <a:pPr algn="l">
              <a:defRPr sz="3600" b="1">
                <a:solidFill>
                  <a:srgbClr val="003B5C"/>
                </a:solidFill>
                <a:latin typeface="Calibri"/>
              </a:defRPr>
            </a:pPr>
            <a:r>
              <a:t>Market Opportunity</a:t>
            </a:r>
          </a:p>
        </p:txBody>
      </p:sp>
      <p:sp>
        <p:nvSpPr>
          <p:cNvPr id="4" name="TextBox 3"/>
          <p:cNvSpPr txBox="1"/>
          <p:nvPr/>
        </p:nvSpPr>
        <p:spPr>
          <a:xfrm>
            <a:off x="731520" y="1280160"/>
            <a:ext cx="5486400" cy="457200"/>
          </a:xfrm>
          <a:prstGeom prst="rect">
            <a:avLst/>
          </a:prstGeom>
          <a:noFill/>
        </p:spPr>
        <p:txBody>
          <a:bodyPr wrap="square">
            <a:spAutoFit/>
          </a:bodyPr>
          <a:lstStyle/>
          <a:p>
            <a:pPr algn="l">
              <a:defRPr sz="2000" b="1">
                <a:solidFill>
                  <a:srgbClr val="003B5C"/>
                </a:solidFill>
                <a:latin typeface="Calibri"/>
              </a:defRPr>
            </a:pPr>
            <a:r>
              <a:t>Stablecoin &amp; Agentic Commerce Markets</a:t>
            </a:r>
          </a:p>
        </p:txBody>
      </p:sp>
      <p:graphicFrame>
        <p:nvGraphicFramePr>
          <p:cNvPr id="5" name="Table 4"/>
          <p:cNvGraphicFramePr>
            <a:graphicFrameLocks noGrp="1"/>
          </p:cNvGraphicFramePr>
          <p:nvPr/>
        </p:nvGraphicFramePr>
        <p:xfrm>
          <a:off x="731520" y="1828800"/>
          <a:ext cx="5486400" cy="2286000"/>
        </p:xfrm>
        <a:graphic>
          <a:graphicData uri="http://schemas.openxmlformats.org/drawingml/2006/table">
            <a:tbl>
              <a:tblPr firstRow="1" bandRow="1">
                <a:tableStyleId>{5C22544A-7EE6-4342-B048-85BDC9FD1C3A}</a:tableStyleId>
              </a:tblPr>
              <a:tblGrid>
                <a:gridCol w="1371600"/>
                <a:gridCol w="1371600"/>
                <a:gridCol w="1371600"/>
                <a:gridCol w="1371600"/>
              </a:tblGrid>
              <a:tr h="457200">
                <a:tc>
                  <a:txBody>
                    <a:bodyPr/>
                    <a:lstStyle/>
                    <a:p>
                      <a:pPr>
                        <a:defRPr sz="1000" b="1">
                          <a:solidFill>
                            <a:srgbClr val="FFFFFF"/>
                          </a:solidFill>
                          <a:latin typeface="Calibri"/>
                        </a:defRPr>
                      </a:pPr>
                      <a:r>
                        <a:t>Segment</a:t>
                      </a:r>
                    </a:p>
                  </a:txBody>
                  <a:tcPr anchor="ctr">
                    <a:solidFill>
                      <a:srgbClr val="003B5C"/>
                    </a:solidFill>
                  </a:tcPr>
                </a:tc>
                <a:tc>
                  <a:txBody>
                    <a:bodyPr/>
                    <a:lstStyle/>
                    <a:p>
                      <a:pPr>
                        <a:defRPr sz="1000" b="1">
                          <a:solidFill>
                            <a:srgbClr val="FFFFFF"/>
                          </a:solidFill>
                          <a:latin typeface="Calibri"/>
                        </a:defRPr>
                      </a:pPr>
                      <a:r>
                        <a:t>Current</a:t>
                      </a:r>
                    </a:p>
                  </a:txBody>
                  <a:tcPr anchor="ctr">
                    <a:solidFill>
                      <a:srgbClr val="003B5C"/>
                    </a:solidFill>
                  </a:tcPr>
                </a:tc>
                <a:tc>
                  <a:txBody>
                    <a:bodyPr/>
                    <a:lstStyle/>
                    <a:p>
                      <a:pPr>
                        <a:defRPr sz="1000" b="1">
                          <a:solidFill>
                            <a:srgbClr val="FFFFFF"/>
                          </a:solidFill>
                          <a:latin typeface="Calibri"/>
                        </a:defRPr>
                      </a:pPr>
                      <a:r>
                        <a:t>2030 Projected</a:t>
                      </a:r>
                    </a:p>
                  </a:txBody>
                  <a:tcPr anchor="ctr">
                    <a:solidFill>
                      <a:srgbClr val="003B5C"/>
                    </a:solidFill>
                  </a:tcPr>
                </a:tc>
                <a:tc>
                  <a:txBody>
                    <a:bodyPr/>
                    <a:lstStyle/>
                    <a:p>
                      <a:pPr>
                        <a:defRPr sz="1000" b="1">
                          <a:solidFill>
                            <a:srgbClr val="FFFFFF"/>
                          </a:solidFill>
                          <a:latin typeface="Calibri"/>
                        </a:defRPr>
                      </a:pPr>
                      <a:r>
                        <a:t>CAGR</a:t>
                      </a:r>
                    </a:p>
                  </a:txBody>
                  <a:tcPr anchor="ctr">
                    <a:solidFill>
                      <a:srgbClr val="003B5C"/>
                    </a:solidFill>
                  </a:tcPr>
                </a:tc>
              </a:tr>
              <a:tr h="457200">
                <a:tc>
                  <a:txBody>
                    <a:bodyPr/>
                    <a:lstStyle/>
                    <a:p>
                      <a:pPr>
                        <a:defRPr sz="1000">
                          <a:solidFill>
                            <a:srgbClr val="333333"/>
                          </a:solidFill>
                          <a:latin typeface="Calibri"/>
                        </a:defRPr>
                      </a:pPr>
                      <a:r>
                        <a:t>Stablecoin Market Cap</a:t>
                      </a:r>
                    </a:p>
                  </a:txBody>
                  <a:tcPr anchor="ctr">
                    <a:solidFill>
                      <a:srgbClr val="FFFFFF"/>
                    </a:solidFill>
                  </a:tcPr>
                </a:tc>
                <a:tc>
                  <a:txBody>
                    <a:bodyPr/>
                    <a:lstStyle/>
                    <a:p>
                      <a:pPr>
                        <a:defRPr sz="1000">
                          <a:solidFill>
                            <a:srgbClr val="333333"/>
                          </a:solidFill>
                          <a:latin typeface="Calibri"/>
                        </a:defRPr>
                      </a:pPr>
                      <a:r>
                        <a:t>$260B</a:t>
                      </a:r>
                    </a:p>
                  </a:txBody>
                  <a:tcPr anchor="ctr">
                    <a:solidFill>
                      <a:srgbClr val="FFFFFF"/>
                    </a:solidFill>
                  </a:tcPr>
                </a:tc>
                <a:tc>
                  <a:txBody>
                    <a:bodyPr/>
                    <a:lstStyle/>
                    <a:p>
                      <a:pPr>
                        <a:defRPr sz="1000">
                          <a:solidFill>
                            <a:srgbClr val="333333"/>
                          </a:solidFill>
                          <a:latin typeface="Calibri"/>
                        </a:defRPr>
                      </a:pPr>
                      <a:r>
                        <a:t>$2-4T</a:t>
                      </a:r>
                    </a:p>
                  </a:txBody>
                  <a:tcPr anchor="ctr">
                    <a:solidFill>
                      <a:srgbClr val="FFFFFF"/>
                    </a:solidFill>
                  </a:tcPr>
                </a:tc>
                <a:tc>
                  <a:txBody>
                    <a:bodyPr/>
                    <a:lstStyle/>
                    <a:p>
                      <a:pPr>
                        <a:defRPr sz="1000">
                          <a:solidFill>
                            <a:srgbClr val="333333"/>
                          </a:solidFill>
                          <a:latin typeface="Calibri"/>
                        </a:defRPr>
                      </a:pPr>
                      <a:r>
                        <a:t>~50%</a:t>
                      </a:r>
                    </a:p>
                  </a:txBody>
                  <a:tcPr anchor="ctr">
                    <a:solidFill>
                      <a:srgbClr val="FFFFFF"/>
                    </a:solidFill>
                  </a:tcPr>
                </a:tc>
              </a:tr>
              <a:tr h="457200">
                <a:tc>
                  <a:txBody>
                    <a:bodyPr/>
                    <a:lstStyle/>
                    <a:p>
                      <a:pPr>
                        <a:defRPr sz="1000">
                          <a:solidFill>
                            <a:srgbClr val="333333"/>
                          </a:solidFill>
                          <a:latin typeface="Calibri"/>
                        </a:defRPr>
                      </a:pPr>
                      <a:r>
                        <a:t>Cross-Border Payments</a:t>
                      </a:r>
                    </a:p>
                  </a:txBody>
                  <a:tcPr anchor="ctr">
                    <a:solidFill>
                      <a:srgbClr val="F2F2F2"/>
                    </a:solidFill>
                  </a:tcPr>
                </a:tc>
                <a:tc>
                  <a:txBody>
                    <a:bodyPr/>
                    <a:lstStyle/>
                    <a:p>
                      <a:pPr>
                        <a:defRPr sz="1000">
                          <a:solidFill>
                            <a:srgbClr val="333333"/>
                          </a:solidFill>
                          <a:latin typeface="Calibri"/>
                        </a:defRPr>
                      </a:pPr>
                      <a:r>
                        <a:t>$190T/yr</a:t>
                      </a:r>
                    </a:p>
                  </a:txBody>
                  <a:tcPr anchor="ctr">
                    <a:solidFill>
                      <a:srgbClr val="F2F2F2"/>
                    </a:solidFill>
                  </a:tcPr>
                </a:tc>
                <a:tc>
                  <a:txBody>
                    <a:bodyPr/>
                    <a:lstStyle/>
                    <a:p>
                      <a:pPr>
                        <a:defRPr sz="1000">
                          <a:solidFill>
                            <a:srgbClr val="333333"/>
                          </a:solidFill>
                          <a:latin typeface="Calibri"/>
                        </a:defRPr>
                      </a:pPr>
                      <a:r>
                        <a:t>$250T/yr</a:t>
                      </a:r>
                    </a:p>
                  </a:txBody>
                  <a:tcPr anchor="ctr">
                    <a:solidFill>
                      <a:srgbClr val="F2F2F2"/>
                    </a:solidFill>
                  </a:tcPr>
                </a:tc>
                <a:tc>
                  <a:txBody>
                    <a:bodyPr/>
                    <a:lstStyle/>
                    <a:p>
                      <a:pPr>
                        <a:defRPr sz="1000">
                          <a:solidFill>
                            <a:srgbClr val="333333"/>
                          </a:solidFill>
                          <a:latin typeface="Calibri"/>
                        </a:defRPr>
                      </a:pPr>
                      <a:r>
                        <a:t>~6%</a:t>
                      </a:r>
                    </a:p>
                  </a:txBody>
                  <a:tcPr anchor="ctr">
                    <a:solidFill>
                      <a:srgbClr val="F2F2F2"/>
                    </a:solidFill>
                  </a:tcPr>
                </a:tc>
              </a:tr>
              <a:tr h="457200">
                <a:tc>
                  <a:txBody>
                    <a:bodyPr/>
                    <a:lstStyle/>
                    <a:p>
                      <a:pPr>
                        <a:defRPr sz="1000">
                          <a:solidFill>
                            <a:srgbClr val="333333"/>
                          </a:solidFill>
                          <a:latin typeface="Calibri"/>
                        </a:defRPr>
                      </a:pPr>
                      <a:r>
                        <a:t>Agentic Commerce</a:t>
                      </a:r>
                    </a:p>
                  </a:txBody>
                  <a:tcPr anchor="ctr">
                    <a:solidFill>
                      <a:srgbClr val="FFFFFF"/>
                    </a:solidFill>
                  </a:tcPr>
                </a:tc>
                <a:tc>
                  <a:txBody>
                    <a:bodyPr/>
                    <a:lstStyle/>
                    <a:p>
                      <a:pPr>
                        <a:defRPr sz="1000">
                          <a:solidFill>
                            <a:srgbClr val="333333"/>
                          </a:solidFill>
                          <a:latin typeface="Calibri"/>
                        </a:defRPr>
                      </a:pPr>
                      <a:r>
                        <a:t>~$0</a:t>
                      </a:r>
                    </a:p>
                  </a:txBody>
                  <a:tcPr anchor="ctr">
                    <a:solidFill>
                      <a:srgbClr val="FFFFFF"/>
                    </a:solidFill>
                  </a:tcPr>
                </a:tc>
                <a:tc>
                  <a:txBody>
                    <a:bodyPr/>
                    <a:lstStyle/>
                    <a:p>
                      <a:pPr>
                        <a:defRPr sz="1000">
                          <a:solidFill>
                            <a:srgbClr val="333333"/>
                          </a:solidFill>
                          <a:latin typeface="Calibri"/>
                        </a:defRPr>
                      </a:pPr>
                      <a:r>
                        <a:t>$1-3T</a:t>
                      </a:r>
                    </a:p>
                  </a:txBody>
                  <a:tcPr anchor="ctr">
                    <a:solidFill>
                      <a:srgbClr val="FFFFFF"/>
                    </a:solidFill>
                  </a:tcPr>
                </a:tc>
                <a:tc>
                  <a:txBody>
                    <a:bodyPr/>
                    <a:lstStyle/>
                    <a:p>
                      <a:pPr>
                        <a:defRPr sz="1000">
                          <a:solidFill>
                            <a:srgbClr val="333333"/>
                          </a:solidFill>
                          <a:latin typeface="Calibri"/>
                        </a:defRPr>
                      </a:pPr>
                      <a:r>
                        <a:t>N/A (new)</a:t>
                      </a:r>
                    </a:p>
                  </a:txBody>
                  <a:tcPr anchor="ctr">
                    <a:solidFill>
                      <a:srgbClr val="FFFFFF"/>
                    </a:solidFill>
                  </a:tcPr>
                </a:tc>
              </a:tr>
              <a:tr h="457200">
                <a:tc>
                  <a:txBody>
                    <a:bodyPr/>
                    <a:lstStyle/>
                    <a:p>
                      <a:pPr>
                        <a:defRPr sz="1000">
                          <a:solidFill>
                            <a:srgbClr val="333333"/>
                          </a:solidFill>
                          <a:latin typeface="Calibri"/>
                        </a:defRPr>
                      </a:pPr>
                      <a:r>
                        <a:t>US Stablecoin Share</a:t>
                      </a:r>
                    </a:p>
                  </a:txBody>
                  <a:tcPr anchor="ctr">
                    <a:solidFill>
                      <a:srgbClr val="F2F2F2"/>
                    </a:solidFill>
                  </a:tcPr>
                </a:tc>
                <a:tc>
                  <a:txBody>
                    <a:bodyPr/>
                    <a:lstStyle/>
                    <a:p>
                      <a:pPr>
                        <a:defRPr sz="1000">
                          <a:solidFill>
                            <a:srgbClr val="333333"/>
                          </a:solidFill>
                          <a:latin typeface="Calibri"/>
                        </a:defRPr>
                      </a:pPr>
                      <a:r>
                        <a:t>3% of USD payments</a:t>
                      </a:r>
                    </a:p>
                  </a:txBody>
                  <a:tcPr anchor="ctr">
                    <a:solidFill>
                      <a:srgbClr val="F2F2F2"/>
                    </a:solidFill>
                  </a:tcPr>
                </a:tc>
                <a:tc>
                  <a:txBody>
                    <a:bodyPr/>
                    <a:lstStyle/>
                    <a:p>
                      <a:pPr>
                        <a:defRPr sz="1000">
                          <a:solidFill>
                            <a:srgbClr val="333333"/>
                          </a:solidFill>
                          <a:latin typeface="Calibri"/>
                        </a:defRPr>
                      </a:pPr>
                      <a:r>
                        <a:t>10% by 2031</a:t>
                      </a:r>
                    </a:p>
                  </a:txBody>
                  <a:tcPr anchor="ctr">
                    <a:solidFill>
                      <a:srgbClr val="F2F2F2"/>
                    </a:solidFill>
                  </a:tcPr>
                </a:tc>
                <a:tc>
                  <a:txBody>
                    <a:bodyPr/>
                    <a:lstStyle/>
                    <a:p>
                      <a:pPr>
                        <a:defRPr sz="1000">
                          <a:solidFill>
                            <a:srgbClr val="333333"/>
                          </a:solidFill>
                          <a:latin typeface="Calibri"/>
                        </a:defRPr>
                      </a:pPr>
                      <a:r>
                        <a:t>~25%</a:t>
                      </a:r>
                    </a:p>
                  </a:txBody>
                  <a:tcPr anchor="ctr">
                    <a:solidFill>
                      <a:srgbClr val="F2F2F2"/>
                    </a:solidFill>
                  </a:tcPr>
                </a:tc>
              </a:tr>
            </a:tbl>
          </a:graphicData>
        </a:graphic>
      </p:graphicFrame>
      <p:sp>
        <p:nvSpPr>
          <p:cNvPr id="6" name="TextBox 5"/>
          <p:cNvSpPr txBox="1"/>
          <p:nvPr/>
        </p:nvSpPr>
        <p:spPr>
          <a:xfrm>
            <a:off x="6858000" y="1280160"/>
            <a:ext cx="4572000" cy="457200"/>
          </a:xfrm>
          <a:prstGeom prst="rect">
            <a:avLst/>
          </a:prstGeom>
          <a:noFill/>
        </p:spPr>
        <p:txBody>
          <a:bodyPr wrap="square">
            <a:spAutoFit/>
          </a:bodyPr>
          <a:lstStyle/>
          <a:p>
            <a:pPr algn="l">
              <a:defRPr sz="2000" b="1">
                <a:solidFill>
                  <a:srgbClr val="003B5C"/>
                </a:solidFill>
                <a:latin typeface="Calibri"/>
              </a:defRPr>
            </a:pPr>
            <a:r>
              <a:t>Market Drivers</a:t>
            </a:r>
          </a:p>
        </p:txBody>
      </p:sp>
      <p:sp>
        <p:nvSpPr>
          <p:cNvPr id="7" name="Rounded Rectangle 6"/>
          <p:cNvSpPr/>
          <p:nvPr/>
        </p:nvSpPr>
        <p:spPr>
          <a:xfrm>
            <a:off x="6858000" y="1920240"/>
            <a:ext cx="4754880" cy="86868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0" y="1993392"/>
            <a:ext cx="4206240" cy="320040"/>
          </a:xfrm>
          <a:prstGeom prst="rect">
            <a:avLst/>
          </a:prstGeom>
          <a:noFill/>
        </p:spPr>
        <p:txBody>
          <a:bodyPr wrap="square">
            <a:spAutoFit/>
          </a:bodyPr>
          <a:lstStyle/>
          <a:p>
            <a:pPr algn="l">
              <a:defRPr sz="1300" b="1">
                <a:solidFill>
                  <a:srgbClr val="FF6600"/>
                </a:solidFill>
                <a:latin typeface="Calibri"/>
              </a:defRPr>
            </a:pPr>
            <a:r>
              <a:t>Regulatory Clarity</a:t>
            </a:r>
          </a:p>
        </p:txBody>
      </p:sp>
      <p:sp>
        <p:nvSpPr>
          <p:cNvPr id="9" name="TextBox 8"/>
          <p:cNvSpPr txBox="1"/>
          <p:nvPr/>
        </p:nvSpPr>
        <p:spPr>
          <a:xfrm>
            <a:off x="7132320" y="2286000"/>
            <a:ext cx="4206240" cy="457200"/>
          </a:xfrm>
          <a:prstGeom prst="rect">
            <a:avLst/>
          </a:prstGeom>
          <a:noFill/>
        </p:spPr>
        <p:txBody>
          <a:bodyPr wrap="square">
            <a:spAutoFit/>
          </a:bodyPr>
          <a:lstStyle/>
          <a:p>
            <a:pPr algn="l">
              <a:defRPr sz="1100" b="0">
                <a:solidFill>
                  <a:srgbClr val="333333"/>
                </a:solidFill>
                <a:latin typeface="Calibri"/>
              </a:defRPr>
            </a:pPr>
            <a:r>
              <a:t>GENIUS Act + MiCA create legal framework for stablecoins as payment instruments</a:t>
            </a:r>
          </a:p>
        </p:txBody>
      </p:sp>
      <p:sp>
        <p:nvSpPr>
          <p:cNvPr id="10" name="Rounded Rectangle 9"/>
          <p:cNvSpPr/>
          <p:nvPr/>
        </p:nvSpPr>
        <p:spPr>
          <a:xfrm>
            <a:off x="6858000" y="2926080"/>
            <a:ext cx="4754880" cy="86868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0" y="2999232"/>
            <a:ext cx="4206240" cy="320040"/>
          </a:xfrm>
          <a:prstGeom prst="rect">
            <a:avLst/>
          </a:prstGeom>
          <a:noFill/>
        </p:spPr>
        <p:txBody>
          <a:bodyPr wrap="square">
            <a:spAutoFit/>
          </a:bodyPr>
          <a:lstStyle/>
          <a:p>
            <a:pPr algn="l">
              <a:defRPr sz="1300" b="1">
                <a:solidFill>
                  <a:srgbClr val="FF6600"/>
                </a:solidFill>
                <a:latin typeface="Calibri"/>
              </a:defRPr>
            </a:pPr>
            <a:r>
              <a:t>Cost Advantage</a:t>
            </a:r>
          </a:p>
        </p:txBody>
      </p:sp>
      <p:sp>
        <p:nvSpPr>
          <p:cNvPr id="12" name="TextBox 11"/>
          <p:cNvSpPr txBox="1"/>
          <p:nvPr/>
        </p:nvSpPr>
        <p:spPr>
          <a:xfrm>
            <a:off x="7132320" y="3291840"/>
            <a:ext cx="4206240" cy="457200"/>
          </a:xfrm>
          <a:prstGeom prst="rect">
            <a:avLst/>
          </a:prstGeom>
          <a:noFill/>
        </p:spPr>
        <p:txBody>
          <a:bodyPr wrap="square">
            <a:spAutoFit/>
          </a:bodyPr>
          <a:lstStyle/>
          <a:p>
            <a:pPr algn="l">
              <a:defRPr sz="1100" b="0">
                <a:solidFill>
                  <a:srgbClr val="333333"/>
                </a:solidFill>
                <a:latin typeface="Calibri"/>
              </a:defRPr>
            </a:pPr>
            <a:r>
              <a:t>Sub-1% stablecoin costs vs 2-3% card interchange eliminates ~$50B in merchant fees</a:t>
            </a:r>
          </a:p>
        </p:txBody>
      </p:sp>
      <p:sp>
        <p:nvSpPr>
          <p:cNvPr id="13" name="Rounded Rectangle 12"/>
          <p:cNvSpPr/>
          <p:nvPr/>
        </p:nvSpPr>
        <p:spPr>
          <a:xfrm>
            <a:off x="6858000" y="3931920"/>
            <a:ext cx="4754880" cy="86868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4005072"/>
            <a:ext cx="4206240" cy="320040"/>
          </a:xfrm>
          <a:prstGeom prst="rect">
            <a:avLst/>
          </a:prstGeom>
          <a:noFill/>
        </p:spPr>
        <p:txBody>
          <a:bodyPr wrap="square">
            <a:spAutoFit/>
          </a:bodyPr>
          <a:lstStyle/>
          <a:p>
            <a:pPr algn="l">
              <a:defRPr sz="1300" b="1">
                <a:solidFill>
                  <a:srgbClr val="FF6600"/>
                </a:solidFill>
                <a:latin typeface="Calibri"/>
              </a:defRPr>
            </a:pPr>
            <a:r>
              <a:t>Speed</a:t>
            </a:r>
          </a:p>
        </p:txBody>
      </p:sp>
      <p:sp>
        <p:nvSpPr>
          <p:cNvPr id="15" name="TextBox 14"/>
          <p:cNvSpPr txBox="1"/>
          <p:nvPr/>
        </p:nvSpPr>
        <p:spPr>
          <a:xfrm>
            <a:off x="7132320" y="4297680"/>
            <a:ext cx="4206240" cy="457200"/>
          </a:xfrm>
          <a:prstGeom prst="rect">
            <a:avLst/>
          </a:prstGeom>
          <a:noFill/>
        </p:spPr>
        <p:txBody>
          <a:bodyPr wrap="square">
            <a:spAutoFit/>
          </a:bodyPr>
          <a:lstStyle/>
          <a:p>
            <a:pPr algn="l">
              <a:defRPr sz="1100" b="0">
                <a:solidFill>
                  <a:srgbClr val="333333"/>
                </a:solidFill>
                <a:latin typeface="Calibri"/>
              </a:defRPr>
            </a:pPr>
            <a:r>
              <a:t>Real-time settlement vs T+1 to T+3 on card rails -- cash flow unlocked</a:t>
            </a:r>
          </a:p>
        </p:txBody>
      </p:sp>
      <p:sp>
        <p:nvSpPr>
          <p:cNvPr id="16" name="Rounded Rectangle 15"/>
          <p:cNvSpPr/>
          <p:nvPr/>
        </p:nvSpPr>
        <p:spPr>
          <a:xfrm>
            <a:off x="6858000" y="4937760"/>
            <a:ext cx="4754880" cy="86868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0" y="5010912"/>
            <a:ext cx="4206240" cy="320040"/>
          </a:xfrm>
          <a:prstGeom prst="rect">
            <a:avLst/>
          </a:prstGeom>
          <a:noFill/>
        </p:spPr>
        <p:txBody>
          <a:bodyPr wrap="square">
            <a:spAutoFit/>
          </a:bodyPr>
          <a:lstStyle/>
          <a:p>
            <a:pPr algn="l">
              <a:defRPr sz="1300" b="1">
                <a:solidFill>
                  <a:srgbClr val="FF6600"/>
                </a:solidFill>
                <a:latin typeface="Calibri"/>
              </a:defRPr>
            </a:pPr>
            <a:r>
              <a:t>AI Agent Demand</a:t>
            </a:r>
          </a:p>
        </p:txBody>
      </p:sp>
      <p:sp>
        <p:nvSpPr>
          <p:cNvPr id="18" name="TextBox 17"/>
          <p:cNvSpPr txBox="1"/>
          <p:nvPr/>
        </p:nvSpPr>
        <p:spPr>
          <a:xfrm>
            <a:off x="7132320" y="5303520"/>
            <a:ext cx="4206240" cy="457200"/>
          </a:xfrm>
          <a:prstGeom prst="rect">
            <a:avLst/>
          </a:prstGeom>
          <a:noFill/>
        </p:spPr>
        <p:txBody>
          <a:bodyPr wrap="square">
            <a:spAutoFit/>
          </a:bodyPr>
          <a:lstStyle/>
          <a:p>
            <a:pPr algn="l">
              <a:defRPr sz="1100" b="0">
                <a:solidFill>
                  <a:srgbClr val="333333"/>
                </a:solidFill>
                <a:latin typeface="Calibri"/>
              </a:defRPr>
            </a:pPr>
            <a:r>
              <a:t>McKinsey: US B2C agentic commerce could reach $1T by 2030</a:t>
            </a:r>
          </a:p>
        </p:txBody>
      </p:sp>
      <p:sp>
        <p:nvSpPr>
          <p:cNvPr id="19" name="Rounded Rectangle 18"/>
          <p:cNvSpPr/>
          <p:nvPr/>
        </p:nvSpPr>
        <p:spPr>
          <a:xfrm>
            <a:off x="731520" y="5303520"/>
            <a:ext cx="10698480" cy="1097280"/>
          </a:xfrm>
          <a:prstGeom prst="round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440680"/>
            <a:ext cx="10058400" cy="822960"/>
          </a:xfrm>
          <a:prstGeom prst="rect">
            <a:avLst/>
          </a:prstGeom>
          <a:noFill/>
        </p:spPr>
        <p:txBody>
          <a:bodyPr wrap="square">
            <a:spAutoFit/>
          </a:bodyPr>
          <a:lstStyle/>
          <a:p>
            <a:pPr algn="ctr">
              <a:defRPr sz="1600" b="0">
                <a:solidFill>
                  <a:srgbClr val="FFFFFF"/>
                </a:solidFill>
                <a:latin typeface="Calibri"/>
              </a:defRPr>
            </a:pPr>
            <a:r>
              <a:t>"Stablecoin payments will capture 10% of US dollar payments by 2031.</a:t>
            </a:r>
            <a:br/>
            <a:r>
              <a:t>The question is not IF -- it's WHO captures the orchestration layer."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640080"/>
          </a:xfrm>
          <a:prstGeom prst="rect">
            <a:avLst/>
          </a:prstGeom>
          <a:noFill/>
        </p:spPr>
        <p:txBody>
          <a:bodyPr wrap="square">
            <a:spAutoFit/>
          </a:bodyPr>
          <a:lstStyle/>
          <a:p>
            <a:pPr algn="l">
              <a:defRPr sz="3600" b="1">
                <a:solidFill>
                  <a:srgbClr val="003B5C"/>
                </a:solidFill>
                <a:latin typeface="Calibri"/>
              </a:defRPr>
            </a:pPr>
            <a:r>
              <a:t>Competitive Landscape</a:t>
            </a:r>
          </a:p>
        </p:txBody>
      </p:sp>
      <p:sp>
        <p:nvSpPr>
          <p:cNvPr id="4" name="TextBox 3"/>
          <p:cNvSpPr txBox="1"/>
          <p:nvPr/>
        </p:nvSpPr>
        <p:spPr>
          <a:xfrm>
            <a:off x="731520" y="1005840"/>
            <a:ext cx="10058400" cy="365760"/>
          </a:xfrm>
          <a:prstGeom prst="rect">
            <a:avLst/>
          </a:prstGeom>
          <a:noFill/>
        </p:spPr>
        <p:txBody>
          <a:bodyPr wrap="square">
            <a:spAutoFit/>
          </a:bodyPr>
          <a:lstStyle/>
          <a:p>
            <a:pPr algn="l">
              <a:defRPr sz="1400" b="0">
                <a:solidFill>
                  <a:srgbClr val="9B9B9B"/>
                </a:solidFill>
                <a:latin typeface="Calibri"/>
              </a:defRPr>
            </a:pPr>
            <a:r>
              <a:t>Only Fiserv has all four pillars of the vertically integrated stablecoin payment stack</a:t>
            </a:r>
          </a:p>
        </p:txBody>
      </p:sp>
      <p:graphicFrame>
        <p:nvGraphicFramePr>
          <p:cNvPr id="5" name="Table 4"/>
          <p:cNvGraphicFramePr>
            <a:graphicFrameLocks noGrp="1"/>
          </p:cNvGraphicFramePr>
          <p:nvPr/>
        </p:nvGraphicFramePr>
        <p:xfrm>
          <a:off x="457200" y="1554480"/>
          <a:ext cx="11247120" cy="3474720"/>
        </p:xfrm>
        <a:graphic>
          <a:graphicData uri="http://schemas.openxmlformats.org/drawingml/2006/table">
            <a:tbl>
              <a:tblPr firstRow="1" bandRow="1">
                <a:tableStyleId>{5C22544A-7EE6-4342-B048-85BDC9FD1C3A}</a:tableStyleId>
              </a:tblPr>
              <a:tblGrid>
                <a:gridCol w="1371600"/>
                <a:gridCol w="1645920"/>
                <a:gridCol w="1828800"/>
                <a:gridCol w="2286000"/>
                <a:gridCol w="2743200"/>
                <a:gridCol w="1371600"/>
              </a:tblGrid>
              <a:tr h="496388">
                <a:tc>
                  <a:txBody>
                    <a:bodyPr/>
                    <a:lstStyle/>
                    <a:p>
                      <a:pPr>
                        <a:defRPr sz="1000" b="1">
                          <a:solidFill>
                            <a:srgbClr val="FFFFFF"/>
                          </a:solidFill>
                          <a:latin typeface="Calibri"/>
                        </a:defRPr>
                      </a:pPr>
                      <a:r>
                        <a:t>Competitor</a:t>
                      </a:r>
                    </a:p>
                  </a:txBody>
                  <a:tcPr anchor="ctr">
                    <a:solidFill>
                      <a:srgbClr val="003B5C"/>
                    </a:solidFill>
                  </a:tcPr>
                </a:tc>
                <a:tc>
                  <a:txBody>
                    <a:bodyPr/>
                    <a:lstStyle/>
                    <a:p>
                      <a:pPr>
                        <a:defRPr sz="1000" b="1">
                          <a:solidFill>
                            <a:srgbClr val="FFFFFF"/>
                          </a:solidFill>
                          <a:latin typeface="Calibri"/>
                        </a:defRPr>
                      </a:pPr>
                      <a:r>
                        <a:t>Banking Core</a:t>
                      </a:r>
                    </a:p>
                  </a:txBody>
                  <a:tcPr anchor="ctr">
                    <a:solidFill>
                      <a:srgbClr val="003B5C"/>
                    </a:solidFill>
                  </a:tcPr>
                </a:tc>
                <a:tc>
                  <a:txBody>
                    <a:bodyPr/>
                    <a:lstStyle/>
                    <a:p>
                      <a:pPr>
                        <a:defRPr sz="1000" b="1">
                          <a:solidFill>
                            <a:srgbClr val="FFFFFF"/>
                          </a:solidFill>
                          <a:latin typeface="Calibri"/>
                        </a:defRPr>
                      </a:pPr>
                      <a:r>
                        <a:t>Own Stablecoin</a:t>
                      </a:r>
                    </a:p>
                  </a:txBody>
                  <a:tcPr anchor="ctr">
                    <a:solidFill>
                      <a:srgbClr val="003B5C"/>
                    </a:solidFill>
                  </a:tcPr>
                </a:tc>
                <a:tc>
                  <a:txBody>
                    <a:bodyPr/>
                    <a:lstStyle/>
                    <a:p>
                      <a:pPr>
                        <a:defRPr sz="1000" b="1">
                          <a:solidFill>
                            <a:srgbClr val="FFFFFF"/>
                          </a:solidFill>
                          <a:latin typeface="Calibri"/>
                        </a:defRPr>
                      </a:pPr>
                      <a:r>
                        <a:t>Settlement Network</a:t>
                      </a:r>
                    </a:p>
                  </a:txBody>
                  <a:tcPr anchor="ctr">
                    <a:solidFill>
                      <a:srgbClr val="003B5C"/>
                    </a:solidFill>
                  </a:tcPr>
                </a:tc>
                <a:tc>
                  <a:txBody>
                    <a:bodyPr/>
                    <a:lstStyle/>
                    <a:p>
                      <a:pPr>
                        <a:defRPr sz="1000" b="1">
                          <a:solidFill>
                            <a:srgbClr val="FFFFFF"/>
                          </a:solidFill>
                          <a:latin typeface="Calibri"/>
                        </a:defRPr>
                      </a:pPr>
                      <a:r>
                        <a:t>Merchant Acceptance</a:t>
                      </a:r>
                    </a:p>
                  </a:txBody>
                  <a:tcPr anchor="ctr">
                    <a:solidFill>
                      <a:srgbClr val="003B5C"/>
                    </a:solidFill>
                  </a:tcPr>
                </a:tc>
                <a:tc>
                  <a:txBody>
                    <a:bodyPr/>
                    <a:lstStyle/>
                    <a:p>
                      <a:pPr>
                        <a:defRPr sz="1000" b="1">
                          <a:solidFill>
                            <a:srgbClr val="FFFFFF"/>
                          </a:solidFill>
                          <a:latin typeface="Calibri"/>
                        </a:defRPr>
                      </a:pPr>
                      <a:r>
                        <a:t>Full Stack?</a:t>
                      </a:r>
                    </a:p>
                  </a:txBody>
                  <a:tcPr anchor="ctr">
                    <a:solidFill>
                      <a:srgbClr val="003B5C"/>
                    </a:solidFill>
                  </a:tcPr>
                </a:tc>
              </a:tr>
              <a:tr h="496388">
                <a:tc>
                  <a:txBody>
                    <a:bodyPr/>
                    <a:lstStyle/>
                    <a:p>
                      <a:pPr>
                        <a:defRPr sz="1000">
                          <a:solidFill>
                            <a:srgbClr val="333333"/>
                          </a:solidFill>
                          <a:latin typeface="Calibri"/>
                        </a:defRPr>
                      </a:pPr>
                      <a:r>
                        <a:t>Fiserv</a:t>
                      </a:r>
                    </a:p>
                  </a:txBody>
                  <a:tcPr anchor="ctr">
                    <a:solidFill>
                      <a:srgbClr val="FFFFFF"/>
                    </a:solidFill>
                  </a:tcPr>
                </a:tc>
                <a:tc>
                  <a:txBody>
                    <a:bodyPr/>
                    <a:lstStyle/>
                    <a:p>
                      <a:pPr>
                        <a:defRPr sz="1000">
                          <a:solidFill>
                            <a:srgbClr val="333333"/>
                          </a:solidFill>
                          <a:latin typeface="Calibri"/>
                        </a:defRPr>
                      </a:pPr>
                      <a:r>
                        <a:t>Finxact</a:t>
                      </a:r>
                    </a:p>
                  </a:txBody>
                  <a:tcPr anchor="ctr">
                    <a:solidFill>
                      <a:srgbClr val="FFFFFF"/>
                    </a:solidFill>
                  </a:tcPr>
                </a:tc>
                <a:tc>
                  <a:txBody>
                    <a:bodyPr/>
                    <a:lstStyle/>
                    <a:p>
                      <a:pPr>
                        <a:defRPr sz="1000">
                          <a:solidFill>
                            <a:srgbClr val="333333"/>
                          </a:solidFill>
                          <a:latin typeface="Calibri"/>
                        </a:defRPr>
                      </a:pPr>
                      <a:r>
                        <a:t>FIUSD</a:t>
                      </a:r>
                    </a:p>
                  </a:txBody>
                  <a:tcPr anchor="ctr">
                    <a:solidFill>
                      <a:srgbClr val="FFFFFF"/>
                    </a:solidFill>
                  </a:tcPr>
                </a:tc>
                <a:tc>
                  <a:txBody>
                    <a:bodyPr/>
                    <a:lstStyle/>
                    <a:p>
                      <a:pPr>
                        <a:defRPr sz="1000">
                          <a:solidFill>
                            <a:srgbClr val="333333"/>
                          </a:solidFill>
                          <a:latin typeface="Calibri"/>
                        </a:defRPr>
                      </a:pPr>
                      <a:r>
                        <a:t>INDX (1,100+ banks)</a:t>
                      </a:r>
                    </a:p>
                  </a:txBody>
                  <a:tcPr anchor="ctr">
                    <a:solidFill>
                      <a:srgbClr val="FFFFFF"/>
                    </a:solidFill>
                  </a:tcPr>
                </a:tc>
                <a:tc>
                  <a:txBody>
                    <a:bodyPr/>
                    <a:lstStyle/>
                    <a:p>
                      <a:pPr>
                        <a:defRPr sz="1000">
                          <a:solidFill>
                            <a:srgbClr val="333333"/>
                          </a:solidFill>
                          <a:latin typeface="Calibri"/>
                        </a:defRPr>
                      </a:pPr>
                      <a:r>
                        <a:t>CommerceHub + Clover (6M)</a:t>
                      </a:r>
                    </a:p>
                  </a:txBody>
                  <a:tcPr anchor="ctr">
                    <a:solidFill>
                      <a:srgbClr val="FFFFFF"/>
                    </a:solidFill>
                  </a:tcPr>
                </a:tc>
                <a:tc>
                  <a:txBody>
                    <a:bodyPr/>
                    <a:lstStyle/>
                    <a:p>
                      <a:pPr>
                        <a:defRPr sz="1000">
                          <a:solidFill>
                            <a:srgbClr val="333333"/>
                          </a:solidFill>
                          <a:latin typeface="Calibri"/>
                        </a:defRPr>
                      </a:pPr>
                      <a:r>
                        <a:t>YES</a:t>
                      </a:r>
                    </a:p>
                  </a:txBody>
                  <a:tcPr anchor="ctr">
                    <a:solidFill>
                      <a:srgbClr val="FFFFFF"/>
                    </a:solidFill>
                  </a:tcPr>
                </a:tc>
              </a:tr>
              <a:tr h="496388">
                <a:tc>
                  <a:txBody>
                    <a:bodyPr/>
                    <a:lstStyle/>
                    <a:p>
                      <a:pPr>
                        <a:defRPr sz="1000">
                          <a:solidFill>
                            <a:srgbClr val="333333"/>
                          </a:solidFill>
                          <a:latin typeface="Calibri"/>
                        </a:defRPr>
                      </a:pPr>
                      <a:r>
                        <a:t>Stripe</a:t>
                      </a:r>
                    </a:p>
                  </a:txBody>
                  <a:tcPr anchor="ctr">
                    <a:solidFill>
                      <a:srgbClr val="F2F2F2"/>
                    </a:solidFill>
                  </a:tcPr>
                </a:tc>
                <a:tc>
                  <a:txBody>
                    <a:bodyPr/>
                    <a:lstStyle/>
                    <a:p>
                      <a:pPr>
                        <a:defRPr sz="1000">
                          <a:solidFill>
                            <a:srgbClr val="333333"/>
                          </a:solidFill>
                          <a:latin typeface="Calibri"/>
                        </a:defRPr>
                      </a:pPr>
                      <a:r>
                        <a:t>No</a:t>
                      </a:r>
                    </a:p>
                  </a:txBody>
                  <a:tcPr anchor="ctr">
                    <a:solidFill>
                      <a:srgbClr val="F2F2F2"/>
                    </a:solidFill>
                  </a:tcPr>
                </a:tc>
                <a:tc>
                  <a:txBody>
                    <a:bodyPr/>
                    <a:lstStyle/>
                    <a:p>
                      <a:pPr>
                        <a:defRPr sz="1000">
                          <a:solidFill>
                            <a:srgbClr val="333333"/>
                          </a:solidFill>
                          <a:latin typeface="Calibri"/>
                        </a:defRPr>
                      </a:pPr>
                      <a:r>
                        <a:t>No (Bridge/USDC)</a:t>
                      </a:r>
                    </a:p>
                  </a:txBody>
                  <a:tcPr anchor="ctr">
                    <a:solidFill>
                      <a:srgbClr val="F2F2F2"/>
                    </a:solidFill>
                  </a:tcPr>
                </a:tc>
                <a:tc>
                  <a:txBody>
                    <a:bodyPr/>
                    <a:lstStyle/>
                    <a:p>
                      <a:pPr>
                        <a:defRPr sz="1000">
                          <a:solidFill>
                            <a:srgbClr val="333333"/>
                          </a:solidFill>
                          <a:latin typeface="Calibri"/>
                        </a:defRPr>
                      </a:pPr>
                      <a:r>
                        <a:t>Via Bridge ($1.1B acq)</a:t>
                      </a:r>
                    </a:p>
                  </a:txBody>
                  <a:tcPr anchor="ctr">
                    <a:solidFill>
                      <a:srgbClr val="F2F2F2"/>
                    </a:solidFill>
                  </a:tcPr>
                </a:tc>
                <a:tc>
                  <a:txBody>
                    <a:bodyPr/>
                    <a:lstStyle/>
                    <a:p>
                      <a:pPr>
                        <a:defRPr sz="1000">
                          <a:solidFill>
                            <a:srgbClr val="333333"/>
                          </a:solidFill>
                          <a:latin typeface="Calibri"/>
                        </a:defRPr>
                      </a:pPr>
                      <a:r>
                        <a:t>Stripe Checkout</a:t>
                      </a:r>
                    </a:p>
                  </a:txBody>
                  <a:tcPr anchor="ctr">
                    <a:solidFill>
                      <a:srgbClr val="F2F2F2"/>
                    </a:solidFill>
                  </a:tcPr>
                </a:tc>
                <a:tc>
                  <a:txBody>
                    <a:bodyPr/>
                    <a:lstStyle/>
                    <a:p>
                      <a:pPr>
                        <a:defRPr sz="1000">
                          <a:solidFill>
                            <a:srgbClr val="333333"/>
                          </a:solidFill>
                          <a:latin typeface="Calibri"/>
                        </a:defRPr>
                      </a:pPr>
                      <a:r>
                        <a:t>No</a:t>
                      </a:r>
                    </a:p>
                  </a:txBody>
                  <a:tcPr anchor="ctr">
                    <a:solidFill>
                      <a:srgbClr val="F2F2F2"/>
                    </a:solidFill>
                  </a:tcPr>
                </a:tc>
              </a:tr>
              <a:tr h="496388">
                <a:tc>
                  <a:txBody>
                    <a:bodyPr/>
                    <a:lstStyle/>
                    <a:p>
                      <a:pPr>
                        <a:defRPr sz="1000">
                          <a:solidFill>
                            <a:srgbClr val="333333"/>
                          </a:solidFill>
                          <a:latin typeface="Calibri"/>
                        </a:defRPr>
                      </a:pPr>
                      <a:r>
                        <a:t>Adyen</a:t>
                      </a:r>
                    </a:p>
                  </a:txBody>
                  <a:tcPr anchor="ctr">
                    <a:solidFill>
                      <a:srgbClr val="FFFFFF"/>
                    </a:solidFill>
                  </a:tcPr>
                </a:tc>
                <a:tc>
                  <a:txBody>
                    <a:bodyPr/>
                    <a:lstStyle/>
                    <a:p>
                      <a:pPr>
                        <a:defRPr sz="1000">
                          <a:solidFill>
                            <a:srgbClr val="333333"/>
                          </a:solidFill>
                          <a:latin typeface="Calibri"/>
                        </a:defRPr>
                      </a:pPr>
                      <a:r>
                        <a:t>No</a:t>
                      </a:r>
                    </a:p>
                  </a:txBody>
                  <a:tcPr anchor="ctr">
                    <a:solidFill>
                      <a:srgbClr val="FFFFFF"/>
                    </a:solidFill>
                  </a:tcPr>
                </a:tc>
                <a:tc>
                  <a:txBody>
                    <a:bodyPr/>
                    <a:lstStyle/>
                    <a:p>
                      <a:pPr>
                        <a:defRPr sz="1000">
                          <a:solidFill>
                            <a:srgbClr val="333333"/>
                          </a:solidFill>
                          <a:latin typeface="Calibri"/>
                        </a:defRPr>
                      </a:pPr>
                      <a:r>
                        <a:t>No</a:t>
                      </a:r>
                    </a:p>
                  </a:txBody>
                  <a:tcPr anchor="ctr">
                    <a:solidFill>
                      <a:srgbClr val="FFFFFF"/>
                    </a:solidFill>
                  </a:tcPr>
                </a:tc>
                <a:tc>
                  <a:txBody>
                    <a:bodyPr/>
                    <a:lstStyle/>
                    <a:p>
                      <a:pPr>
                        <a:defRPr sz="1000">
                          <a:solidFill>
                            <a:srgbClr val="333333"/>
                          </a:solidFill>
                          <a:latin typeface="Calibri"/>
                        </a:defRPr>
                      </a:pPr>
                      <a:r>
                        <a:t>No</a:t>
                      </a:r>
                    </a:p>
                  </a:txBody>
                  <a:tcPr anchor="ctr">
                    <a:solidFill>
                      <a:srgbClr val="FFFFFF"/>
                    </a:solidFill>
                  </a:tcPr>
                </a:tc>
                <a:tc>
                  <a:txBody>
                    <a:bodyPr/>
                    <a:lstStyle/>
                    <a:p>
                      <a:pPr>
                        <a:defRPr sz="1000">
                          <a:solidFill>
                            <a:srgbClr val="333333"/>
                          </a:solidFill>
                          <a:latin typeface="Calibri"/>
                        </a:defRPr>
                      </a:pPr>
                      <a:r>
                        <a:t>Adyen platform</a:t>
                      </a:r>
                    </a:p>
                  </a:txBody>
                  <a:tcPr anchor="ctr">
                    <a:solidFill>
                      <a:srgbClr val="FFFFFF"/>
                    </a:solidFill>
                  </a:tcPr>
                </a:tc>
                <a:tc>
                  <a:txBody>
                    <a:bodyPr/>
                    <a:lstStyle/>
                    <a:p>
                      <a:pPr>
                        <a:defRPr sz="1000">
                          <a:solidFill>
                            <a:srgbClr val="333333"/>
                          </a:solidFill>
                          <a:latin typeface="Calibri"/>
                        </a:defRPr>
                      </a:pPr>
                      <a:r>
                        <a:t>No</a:t>
                      </a:r>
                    </a:p>
                  </a:txBody>
                  <a:tcPr anchor="ctr">
                    <a:solidFill>
                      <a:srgbClr val="FFFFFF"/>
                    </a:solidFill>
                  </a:tcPr>
                </a:tc>
              </a:tr>
              <a:tr h="496388">
                <a:tc>
                  <a:txBody>
                    <a:bodyPr/>
                    <a:lstStyle/>
                    <a:p>
                      <a:pPr>
                        <a:defRPr sz="1000">
                          <a:solidFill>
                            <a:srgbClr val="333333"/>
                          </a:solidFill>
                          <a:latin typeface="Calibri"/>
                        </a:defRPr>
                      </a:pPr>
                      <a:r>
                        <a:t>Worldpay</a:t>
                      </a:r>
                    </a:p>
                  </a:txBody>
                  <a:tcPr anchor="ctr">
                    <a:solidFill>
                      <a:srgbClr val="F2F2F2"/>
                    </a:solidFill>
                  </a:tcPr>
                </a:tc>
                <a:tc>
                  <a:txBody>
                    <a:bodyPr/>
                    <a:lstStyle/>
                    <a:p>
                      <a:pPr>
                        <a:defRPr sz="1000">
                          <a:solidFill>
                            <a:srgbClr val="333333"/>
                          </a:solidFill>
                          <a:latin typeface="Calibri"/>
                        </a:defRPr>
                      </a:pPr>
                      <a:r>
                        <a:t>No</a:t>
                      </a:r>
                    </a:p>
                  </a:txBody>
                  <a:tcPr anchor="ctr">
                    <a:solidFill>
                      <a:srgbClr val="F2F2F2"/>
                    </a:solidFill>
                  </a:tcPr>
                </a:tc>
                <a:tc>
                  <a:txBody>
                    <a:bodyPr/>
                    <a:lstStyle/>
                    <a:p>
                      <a:pPr>
                        <a:defRPr sz="1000">
                          <a:solidFill>
                            <a:srgbClr val="333333"/>
                          </a:solidFill>
                          <a:latin typeface="Calibri"/>
                        </a:defRPr>
                      </a:pPr>
                      <a:r>
                        <a:t>No</a:t>
                      </a:r>
                    </a:p>
                  </a:txBody>
                  <a:tcPr anchor="ctr">
                    <a:solidFill>
                      <a:srgbClr val="F2F2F2"/>
                    </a:solidFill>
                  </a:tcPr>
                </a:tc>
                <a:tc>
                  <a:txBody>
                    <a:bodyPr/>
                    <a:lstStyle/>
                    <a:p>
                      <a:pPr>
                        <a:defRPr sz="1000">
                          <a:solidFill>
                            <a:srgbClr val="333333"/>
                          </a:solidFill>
                          <a:latin typeface="Calibri"/>
                        </a:defRPr>
                      </a:pPr>
                      <a:r>
                        <a:t>Via BVNK</a:t>
                      </a:r>
                    </a:p>
                  </a:txBody>
                  <a:tcPr anchor="ctr">
                    <a:solidFill>
                      <a:srgbClr val="F2F2F2"/>
                    </a:solidFill>
                  </a:tcPr>
                </a:tc>
                <a:tc>
                  <a:txBody>
                    <a:bodyPr/>
                    <a:lstStyle/>
                    <a:p>
                      <a:pPr>
                        <a:defRPr sz="1000">
                          <a:solidFill>
                            <a:srgbClr val="333333"/>
                          </a:solidFill>
                          <a:latin typeface="Calibri"/>
                        </a:defRPr>
                      </a:pPr>
                      <a:r>
                        <a:t>Worldpay platform</a:t>
                      </a:r>
                    </a:p>
                  </a:txBody>
                  <a:tcPr anchor="ctr">
                    <a:solidFill>
                      <a:srgbClr val="F2F2F2"/>
                    </a:solidFill>
                  </a:tcPr>
                </a:tc>
                <a:tc>
                  <a:txBody>
                    <a:bodyPr/>
                    <a:lstStyle/>
                    <a:p>
                      <a:pPr>
                        <a:defRPr sz="1000">
                          <a:solidFill>
                            <a:srgbClr val="333333"/>
                          </a:solidFill>
                          <a:latin typeface="Calibri"/>
                        </a:defRPr>
                      </a:pPr>
                      <a:r>
                        <a:t>No</a:t>
                      </a:r>
                    </a:p>
                  </a:txBody>
                  <a:tcPr anchor="ctr">
                    <a:solidFill>
                      <a:srgbClr val="F2F2F2"/>
                    </a:solidFill>
                  </a:tcPr>
                </a:tc>
              </a:tr>
              <a:tr h="496388">
                <a:tc>
                  <a:txBody>
                    <a:bodyPr/>
                    <a:lstStyle/>
                    <a:p>
                      <a:pPr>
                        <a:defRPr sz="1000">
                          <a:solidFill>
                            <a:srgbClr val="333333"/>
                          </a:solidFill>
                          <a:latin typeface="Calibri"/>
                        </a:defRPr>
                      </a:pPr>
                      <a:r>
                        <a:t>PayPal</a:t>
                      </a:r>
                    </a:p>
                  </a:txBody>
                  <a:tcPr anchor="ctr">
                    <a:solidFill>
                      <a:srgbClr val="FFFFFF"/>
                    </a:solidFill>
                  </a:tcPr>
                </a:tc>
                <a:tc>
                  <a:txBody>
                    <a:bodyPr/>
                    <a:lstStyle/>
                    <a:p>
                      <a:pPr>
                        <a:defRPr sz="1000">
                          <a:solidFill>
                            <a:srgbClr val="333333"/>
                          </a:solidFill>
                          <a:latin typeface="Calibri"/>
                        </a:defRPr>
                      </a:pPr>
                      <a:r>
                        <a:t>No</a:t>
                      </a:r>
                    </a:p>
                  </a:txBody>
                  <a:tcPr anchor="ctr">
                    <a:solidFill>
                      <a:srgbClr val="FFFFFF"/>
                    </a:solidFill>
                  </a:tcPr>
                </a:tc>
                <a:tc>
                  <a:txBody>
                    <a:bodyPr/>
                    <a:lstStyle/>
                    <a:p>
                      <a:pPr>
                        <a:defRPr sz="1000">
                          <a:solidFill>
                            <a:srgbClr val="333333"/>
                          </a:solidFill>
                          <a:latin typeface="Calibri"/>
                        </a:defRPr>
                      </a:pPr>
                      <a:r>
                        <a:t>PYUSD</a:t>
                      </a:r>
                    </a:p>
                  </a:txBody>
                  <a:tcPr anchor="ctr">
                    <a:solidFill>
                      <a:srgbClr val="FFFFFF"/>
                    </a:solidFill>
                  </a:tcPr>
                </a:tc>
                <a:tc>
                  <a:txBody>
                    <a:bodyPr/>
                    <a:lstStyle/>
                    <a:p>
                      <a:pPr>
                        <a:defRPr sz="1000">
                          <a:solidFill>
                            <a:srgbClr val="333333"/>
                          </a:solidFill>
                          <a:latin typeface="Calibri"/>
                        </a:defRPr>
                      </a:pPr>
                      <a:r>
                        <a:t>No</a:t>
                      </a:r>
                    </a:p>
                  </a:txBody>
                  <a:tcPr anchor="ctr">
                    <a:solidFill>
                      <a:srgbClr val="FFFFFF"/>
                    </a:solidFill>
                  </a:tcPr>
                </a:tc>
                <a:tc>
                  <a:txBody>
                    <a:bodyPr/>
                    <a:lstStyle/>
                    <a:p>
                      <a:pPr>
                        <a:defRPr sz="1000">
                          <a:solidFill>
                            <a:srgbClr val="333333"/>
                          </a:solidFill>
                          <a:latin typeface="Calibri"/>
                        </a:defRPr>
                      </a:pPr>
                      <a:r>
                        <a:t>PayPal/Venmo</a:t>
                      </a:r>
                    </a:p>
                  </a:txBody>
                  <a:tcPr anchor="ctr">
                    <a:solidFill>
                      <a:srgbClr val="FFFFFF"/>
                    </a:solidFill>
                  </a:tcPr>
                </a:tc>
                <a:tc>
                  <a:txBody>
                    <a:bodyPr/>
                    <a:lstStyle/>
                    <a:p>
                      <a:pPr>
                        <a:defRPr sz="1000">
                          <a:solidFill>
                            <a:srgbClr val="333333"/>
                          </a:solidFill>
                          <a:latin typeface="Calibri"/>
                        </a:defRPr>
                      </a:pPr>
                      <a:r>
                        <a:t>No</a:t>
                      </a:r>
                    </a:p>
                  </a:txBody>
                  <a:tcPr anchor="ctr">
                    <a:solidFill>
                      <a:srgbClr val="FFFFFF"/>
                    </a:solidFill>
                  </a:tcPr>
                </a:tc>
              </a:tr>
              <a:tr h="496392">
                <a:tc>
                  <a:txBody>
                    <a:bodyPr/>
                    <a:lstStyle/>
                    <a:p>
                      <a:pPr>
                        <a:defRPr sz="1000">
                          <a:solidFill>
                            <a:srgbClr val="333333"/>
                          </a:solidFill>
                          <a:latin typeface="Calibri"/>
                        </a:defRPr>
                      </a:pPr>
                      <a:r>
                        <a:t>Block/Square</a:t>
                      </a:r>
                    </a:p>
                  </a:txBody>
                  <a:tcPr anchor="ctr">
                    <a:solidFill>
                      <a:srgbClr val="F2F2F2"/>
                    </a:solidFill>
                  </a:tcPr>
                </a:tc>
                <a:tc>
                  <a:txBody>
                    <a:bodyPr/>
                    <a:lstStyle/>
                    <a:p>
                      <a:pPr>
                        <a:defRPr sz="1000">
                          <a:solidFill>
                            <a:srgbClr val="333333"/>
                          </a:solidFill>
                          <a:latin typeface="Calibri"/>
                        </a:defRPr>
                      </a:pPr>
                      <a:r>
                        <a:t>No</a:t>
                      </a:r>
                    </a:p>
                  </a:txBody>
                  <a:tcPr anchor="ctr">
                    <a:solidFill>
                      <a:srgbClr val="F2F2F2"/>
                    </a:solidFill>
                  </a:tcPr>
                </a:tc>
                <a:tc>
                  <a:txBody>
                    <a:bodyPr/>
                    <a:lstStyle/>
                    <a:p>
                      <a:pPr>
                        <a:defRPr sz="1000">
                          <a:solidFill>
                            <a:srgbClr val="333333"/>
                          </a:solidFill>
                          <a:latin typeface="Calibri"/>
                        </a:defRPr>
                      </a:pPr>
                      <a:r>
                        <a:t>No (BTC only)</a:t>
                      </a:r>
                    </a:p>
                  </a:txBody>
                  <a:tcPr anchor="ctr">
                    <a:solidFill>
                      <a:srgbClr val="F2F2F2"/>
                    </a:solidFill>
                  </a:tcPr>
                </a:tc>
                <a:tc>
                  <a:txBody>
                    <a:bodyPr/>
                    <a:lstStyle/>
                    <a:p>
                      <a:pPr>
                        <a:defRPr sz="1000">
                          <a:solidFill>
                            <a:srgbClr val="333333"/>
                          </a:solidFill>
                          <a:latin typeface="Calibri"/>
                        </a:defRPr>
                      </a:pPr>
                      <a:r>
                        <a:t>No</a:t>
                      </a:r>
                    </a:p>
                  </a:txBody>
                  <a:tcPr anchor="ctr">
                    <a:solidFill>
                      <a:srgbClr val="F2F2F2"/>
                    </a:solidFill>
                  </a:tcPr>
                </a:tc>
                <a:tc>
                  <a:txBody>
                    <a:bodyPr/>
                    <a:lstStyle/>
                    <a:p>
                      <a:pPr>
                        <a:defRPr sz="1000">
                          <a:solidFill>
                            <a:srgbClr val="333333"/>
                          </a:solidFill>
                          <a:latin typeface="Calibri"/>
                        </a:defRPr>
                      </a:pPr>
                      <a:r>
                        <a:t>Square POS</a:t>
                      </a:r>
                    </a:p>
                  </a:txBody>
                  <a:tcPr anchor="ctr">
                    <a:solidFill>
                      <a:srgbClr val="F2F2F2"/>
                    </a:solidFill>
                  </a:tcPr>
                </a:tc>
                <a:tc>
                  <a:txBody>
                    <a:bodyPr/>
                    <a:lstStyle/>
                    <a:p>
                      <a:pPr>
                        <a:defRPr sz="1000">
                          <a:solidFill>
                            <a:srgbClr val="333333"/>
                          </a:solidFill>
                          <a:latin typeface="Calibri"/>
                        </a:defRPr>
                      </a:pPr>
                      <a:r>
                        <a:t>No</a:t>
                      </a:r>
                    </a:p>
                  </a:txBody>
                  <a:tcPr anchor="ctr">
                    <a:solidFill>
                      <a:srgbClr val="F2F2F2"/>
                    </a:solidFill>
                  </a:tcPr>
                </a:tc>
              </a:tr>
            </a:tbl>
          </a:graphicData>
        </a:graphic>
      </p:graphicFrame>
      <p:sp>
        <p:nvSpPr>
          <p:cNvPr id="6" name="Rounded Rectangle 5"/>
          <p:cNvSpPr/>
          <p:nvPr/>
        </p:nvSpPr>
        <p:spPr>
          <a:xfrm>
            <a:off x="731520" y="5303520"/>
            <a:ext cx="10698480" cy="1097280"/>
          </a:xfrm>
          <a:prstGeom prst="round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5440680"/>
            <a:ext cx="10058400" cy="822960"/>
          </a:xfrm>
          <a:prstGeom prst="rect">
            <a:avLst/>
          </a:prstGeom>
          <a:noFill/>
        </p:spPr>
        <p:txBody>
          <a:bodyPr wrap="square">
            <a:spAutoFit/>
          </a:bodyPr>
          <a:lstStyle/>
          <a:p>
            <a:pPr algn="ctr">
              <a:spcAft>
                <a:spcPts val="400"/>
              </a:spcAft>
              <a:defRPr sz="1600" b="1">
                <a:solidFill>
                  <a:srgbClr val="FF6600"/>
                </a:solidFill>
                <a:latin typeface="Calibri"/>
              </a:defRPr>
            </a:pPr>
            <a:r>
              <a:t>Key Insight: Fiserv's moat is structural, not feature-based</a:t>
            </a:r>
          </a:p>
          <a:p>
            <a:pPr algn="ctr">
              <a:spcAft>
                <a:spcPts val="400"/>
              </a:spcAft>
              <a:defRPr sz="1300" b="0">
                <a:solidFill>
                  <a:srgbClr val="FFFFFF"/>
                </a:solidFill>
                <a:latin typeface="Calibri"/>
              </a:defRPr>
            </a:pPr>
            <a:r>
              <a:t>No competitor can replicate the closed loop: bank issues FIUSD &gt; consumer pays merchant &gt; INDX settles in real-time &gt; merchant receives USD instantly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3B5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640080"/>
          </a:xfrm>
          <a:prstGeom prst="rect">
            <a:avLst/>
          </a:prstGeom>
          <a:noFill/>
        </p:spPr>
        <p:txBody>
          <a:bodyPr wrap="square">
            <a:spAutoFit/>
          </a:bodyPr>
          <a:lstStyle/>
          <a:p>
            <a:pPr algn="l">
              <a:defRPr sz="3600" b="1">
                <a:solidFill>
                  <a:srgbClr val="FFFFFF"/>
                </a:solidFill>
                <a:latin typeface="Calibri"/>
              </a:defRPr>
            </a:pPr>
            <a:r>
              <a:t>Our Vertically Integrated Stack</a:t>
            </a:r>
          </a:p>
        </p:txBody>
      </p:sp>
      <p:sp>
        <p:nvSpPr>
          <p:cNvPr id="4" name="TextBox 3"/>
          <p:cNvSpPr txBox="1"/>
          <p:nvPr/>
        </p:nvSpPr>
        <p:spPr>
          <a:xfrm>
            <a:off x="731520" y="914400"/>
            <a:ext cx="10058400" cy="365760"/>
          </a:xfrm>
          <a:prstGeom prst="rect">
            <a:avLst/>
          </a:prstGeom>
          <a:noFill/>
        </p:spPr>
        <p:txBody>
          <a:bodyPr wrap="square">
            <a:spAutoFit/>
          </a:bodyPr>
          <a:lstStyle/>
          <a:p>
            <a:pPr algn="l">
              <a:defRPr sz="1400" b="0">
                <a:solidFill>
                  <a:srgbClr val="FF6600"/>
                </a:solidFill>
                <a:latin typeface="Calibri"/>
              </a:defRPr>
            </a:pPr>
            <a:r>
              <a:t>The only company with bank-issued stablecoin accepted at 6M merchants with real-time FDIC-insured settlement</a:t>
            </a:r>
          </a:p>
        </p:txBody>
      </p:sp>
      <p:sp>
        <p:nvSpPr>
          <p:cNvPr id="5" name="Rounded Rectangle 4"/>
          <p:cNvSpPr/>
          <p:nvPr/>
        </p:nvSpPr>
        <p:spPr>
          <a:xfrm>
            <a:off x="731520" y="1645920"/>
            <a:ext cx="2560320" cy="3474720"/>
          </a:xfrm>
          <a:prstGeom prst="roundRect">
            <a:avLst/>
          </a:prstGeom>
          <a:solidFill>
            <a:srgbClr val="004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2194560" cy="457200"/>
          </a:xfrm>
          <a:prstGeom prst="rect">
            <a:avLst/>
          </a:prstGeom>
          <a:noFill/>
        </p:spPr>
        <p:txBody>
          <a:bodyPr wrap="square">
            <a:spAutoFit/>
          </a:bodyPr>
          <a:lstStyle/>
          <a:p>
            <a:pPr algn="ctr">
              <a:defRPr sz="2000" b="1">
                <a:solidFill>
                  <a:srgbClr val="FF6600"/>
                </a:solidFill>
                <a:latin typeface="Calibri"/>
              </a:defRPr>
            </a:pPr>
            <a:r>
              <a:t>Finxact</a:t>
            </a:r>
          </a:p>
        </p:txBody>
      </p:sp>
      <p:sp>
        <p:nvSpPr>
          <p:cNvPr id="7" name="TextBox 6"/>
          <p:cNvSpPr txBox="1"/>
          <p:nvPr/>
        </p:nvSpPr>
        <p:spPr>
          <a:xfrm>
            <a:off x="914400" y="2286000"/>
            <a:ext cx="2194560" cy="365760"/>
          </a:xfrm>
          <a:prstGeom prst="rect">
            <a:avLst/>
          </a:prstGeom>
          <a:noFill/>
        </p:spPr>
        <p:txBody>
          <a:bodyPr wrap="square">
            <a:spAutoFit/>
          </a:bodyPr>
          <a:lstStyle/>
          <a:p>
            <a:pPr algn="ctr">
              <a:defRPr sz="1200" b="1">
                <a:solidFill>
                  <a:srgbClr val="FFFFFF"/>
                </a:solidFill>
                <a:latin typeface="Calibri"/>
              </a:defRPr>
            </a:pPr>
            <a:r>
              <a:t>Cloud-Native Banking Core</a:t>
            </a:r>
          </a:p>
        </p:txBody>
      </p:sp>
      <p:sp>
        <p:nvSpPr>
          <p:cNvPr id="8" name="TextBox 7"/>
          <p:cNvSpPr txBox="1"/>
          <p:nvPr/>
        </p:nvSpPr>
        <p:spPr>
          <a:xfrm>
            <a:off x="914400" y="2834640"/>
            <a:ext cx="2194560" cy="1828800"/>
          </a:xfrm>
          <a:prstGeom prst="rect">
            <a:avLst/>
          </a:prstGeom>
          <a:noFill/>
        </p:spPr>
        <p:txBody>
          <a:bodyPr wrap="square">
            <a:spAutoFit/>
          </a:bodyPr>
          <a:lstStyle/>
          <a:p>
            <a:pPr algn="ctr">
              <a:defRPr sz="1200" b="0">
                <a:solidFill>
                  <a:srgbClr val="CCCCCC"/>
                </a:solidFill>
                <a:latin typeface="Calibri"/>
              </a:defRPr>
            </a:pPr>
            <a:r>
              <a:t>Multi-asset ledger</a:t>
            </a:r>
            <a:br/>
            <a:r>
              <a:t>API-first architecture</a:t>
            </a:r>
            <a:br/>
            <a:r>
              <a:t>10,000+ FI clients</a:t>
            </a:r>
          </a:p>
        </p:txBody>
      </p:sp>
      <p:sp>
        <p:nvSpPr>
          <p:cNvPr id="9" name="Rounded Rectangle 8"/>
          <p:cNvSpPr/>
          <p:nvPr/>
        </p:nvSpPr>
        <p:spPr>
          <a:xfrm>
            <a:off x="3566160" y="1645920"/>
            <a:ext cx="2560320" cy="3474720"/>
          </a:xfrm>
          <a:prstGeom prst="roundRect">
            <a:avLst/>
          </a:prstGeom>
          <a:solidFill>
            <a:srgbClr val="004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49040" y="1828800"/>
            <a:ext cx="2194560" cy="457200"/>
          </a:xfrm>
          <a:prstGeom prst="rect">
            <a:avLst/>
          </a:prstGeom>
          <a:noFill/>
        </p:spPr>
        <p:txBody>
          <a:bodyPr wrap="square">
            <a:spAutoFit/>
          </a:bodyPr>
          <a:lstStyle/>
          <a:p>
            <a:pPr algn="ctr">
              <a:defRPr sz="2000" b="1">
                <a:solidFill>
                  <a:srgbClr val="FF6600"/>
                </a:solidFill>
                <a:latin typeface="Calibri"/>
              </a:defRPr>
            </a:pPr>
            <a:r>
              <a:t>FIUSD</a:t>
            </a:r>
          </a:p>
        </p:txBody>
      </p:sp>
      <p:sp>
        <p:nvSpPr>
          <p:cNvPr id="11" name="TextBox 10"/>
          <p:cNvSpPr txBox="1"/>
          <p:nvPr/>
        </p:nvSpPr>
        <p:spPr>
          <a:xfrm>
            <a:off x="3749040" y="2286000"/>
            <a:ext cx="2194560" cy="365760"/>
          </a:xfrm>
          <a:prstGeom prst="rect">
            <a:avLst/>
          </a:prstGeom>
          <a:noFill/>
        </p:spPr>
        <p:txBody>
          <a:bodyPr wrap="square">
            <a:spAutoFit/>
          </a:bodyPr>
          <a:lstStyle/>
          <a:p>
            <a:pPr algn="ctr">
              <a:defRPr sz="1200" b="1">
                <a:solidFill>
                  <a:srgbClr val="FFFFFF"/>
                </a:solidFill>
                <a:latin typeface="Calibri"/>
              </a:defRPr>
            </a:pPr>
            <a:r>
              <a:t>Bank-Embedded Stablecoin</a:t>
            </a:r>
          </a:p>
        </p:txBody>
      </p:sp>
      <p:sp>
        <p:nvSpPr>
          <p:cNvPr id="12" name="TextBox 11"/>
          <p:cNvSpPr txBox="1"/>
          <p:nvPr/>
        </p:nvSpPr>
        <p:spPr>
          <a:xfrm>
            <a:off x="3749040" y="2834640"/>
            <a:ext cx="2194560" cy="1828800"/>
          </a:xfrm>
          <a:prstGeom prst="rect">
            <a:avLst/>
          </a:prstGeom>
          <a:noFill/>
        </p:spPr>
        <p:txBody>
          <a:bodyPr wrap="square">
            <a:spAutoFit/>
          </a:bodyPr>
          <a:lstStyle/>
          <a:p>
            <a:pPr algn="ctr">
              <a:defRPr sz="1200" b="0">
                <a:solidFill>
                  <a:srgbClr val="CCCCCC"/>
                </a:solidFill>
                <a:latin typeface="Calibri"/>
              </a:defRPr>
            </a:pPr>
            <a:r>
              <a:t>Live on Solana</a:t>
            </a:r>
            <a:br/>
            <a:r>
              <a:t>Paxos/Circle backed</a:t>
            </a:r>
            <a:br/>
            <a:r>
              <a:t>1:1 USD peg</a:t>
            </a:r>
          </a:p>
        </p:txBody>
      </p:sp>
      <p:sp>
        <p:nvSpPr>
          <p:cNvPr id="13" name="Rounded Rectangle 12"/>
          <p:cNvSpPr/>
          <p:nvPr/>
        </p:nvSpPr>
        <p:spPr>
          <a:xfrm>
            <a:off x="6400800" y="1645920"/>
            <a:ext cx="2560320" cy="3474720"/>
          </a:xfrm>
          <a:prstGeom prst="roundRect">
            <a:avLst/>
          </a:prstGeom>
          <a:solidFill>
            <a:srgbClr val="004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1828800"/>
            <a:ext cx="2194560" cy="457200"/>
          </a:xfrm>
          <a:prstGeom prst="rect">
            <a:avLst/>
          </a:prstGeom>
          <a:noFill/>
        </p:spPr>
        <p:txBody>
          <a:bodyPr wrap="square">
            <a:spAutoFit/>
          </a:bodyPr>
          <a:lstStyle/>
          <a:p>
            <a:pPr algn="ctr">
              <a:defRPr sz="2000" b="1">
                <a:solidFill>
                  <a:srgbClr val="FF6600"/>
                </a:solidFill>
                <a:latin typeface="Calibri"/>
              </a:defRPr>
            </a:pPr>
            <a:r>
              <a:t>INDX</a:t>
            </a:r>
          </a:p>
        </p:txBody>
      </p:sp>
      <p:sp>
        <p:nvSpPr>
          <p:cNvPr id="15" name="TextBox 14"/>
          <p:cNvSpPr txBox="1"/>
          <p:nvPr/>
        </p:nvSpPr>
        <p:spPr>
          <a:xfrm>
            <a:off x="6583680" y="2286000"/>
            <a:ext cx="2194560" cy="365760"/>
          </a:xfrm>
          <a:prstGeom prst="rect">
            <a:avLst/>
          </a:prstGeom>
          <a:noFill/>
        </p:spPr>
        <p:txBody>
          <a:bodyPr wrap="square">
            <a:spAutoFit/>
          </a:bodyPr>
          <a:lstStyle/>
          <a:p>
            <a:pPr algn="ctr">
              <a:defRPr sz="1200" b="1">
                <a:solidFill>
                  <a:srgbClr val="FFFFFF"/>
                </a:solidFill>
                <a:latin typeface="Calibri"/>
              </a:defRPr>
            </a:pPr>
            <a:r>
              <a:t>Real-Time Settlement</a:t>
            </a:r>
          </a:p>
        </p:txBody>
      </p:sp>
      <p:sp>
        <p:nvSpPr>
          <p:cNvPr id="16" name="TextBox 15"/>
          <p:cNvSpPr txBox="1"/>
          <p:nvPr/>
        </p:nvSpPr>
        <p:spPr>
          <a:xfrm>
            <a:off x="6583680" y="2834640"/>
            <a:ext cx="2194560" cy="1828800"/>
          </a:xfrm>
          <a:prstGeom prst="rect">
            <a:avLst/>
          </a:prstGeom>
          <a:noFill/>
        </p:spPr>
        <p:txBody>
          <a:bodyPr wrap="square">
            <a:spAutoFit/>
          </a:bodyPr>
          <a:lstStyle/>
          <a:p>
            <a:pPr algn="ctr">
              <a:defRPr sz="1200" b="0">
                <a:solidFill>
                  <a:srgbClr val="CCCCCC"/>
                </a:solidFill>
                <a:latin typeface="Calibri"/>
              </a:defRPr>
            </a:pPr>
            <a:r>
              <a:t>1,100+ FDIC banks</a:t>
            </a:r>
            <a:br/>
            <a:r>
              <a:t>$25M FDIC insurance</a:t>
            </a:r>
            <a:br/>
            <a:r>
              <a:t>24/7/365 settlement</a:t>
            </a:r>
          </a:p>
        </p:txBody>
      </p:sp>
      <p:sp>
        <p:nvSpPr>
          <p:cNvPr id="17" name="Rounded Rectangle 16"/>
          <p:cNvSpPr/>
          <p:nvPr/>
        </p:nvSpPr>
        <p:spPr>
          <a:xfrm>
            <a:off x="9235440" y="1645920"/>
            <a:ext cx="2560320" cy="3474720"/>
          </a:xfrm>
          <a:prstGeom prst="roundRect">
            <a:avLst/>
          </a:prstGeom>
          <a:solidFill>
            <a:srgbClr val="004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0" y="1828800"/>
            <a:ext cx="2194560" cy="457200"/>
          </a:xfrm>
          <a:prstGeom prst="rect">
            <a:avLst/>
          </a:prstGeom>
          <a:noFill/>
        </p:spPr>
        <p:txBody>
          <a:bodyPr wrap="square">
            <a:spAutoFit/>
          </a:bodyPr>
          <a:lstStyle/>
          <a:p>
            <a:pPr algn="ctr">
              <a:defRPr sz="2000" b="1">
                <a:solidFill>
                  <a:srgbClr val="FF6600"/>
                </a:solidFill>
                <a:latin typeface="Calibri"/>
              </a:defRPr>
            </a:pPr>
            <a:r>
              <a:t>CommerceHub / Clover</a:t>
            </a:r>
          </a:p>
        </p:txBody>
      </p:sp>
      <p:sp>
        <p:nvSpPr>
          <p:cNvPr id="19" name="TextBox 18"/>
          <p:cNvSpPr txBox="1"/>
          <p:nvPr/>
        </p:nvSpPr>
        <p:spPr>
          <a:xfrm>
            <a:off x="9418320" y="2286000"/>
            <a:ext cx="2194560" cy="365760"/>
          </a:xfrm>
          <a:prstGeom prst="rect">
            <a:avLst/>
          </a:prstGeom>
          <a:noFill/>
        </p:spPr>
        <p:txBody>
          <a:bodyPr wrap="square">
            <a:spAutoFit/>
          </a:bodyPr>
          <a:lstStyle/>
          <a:p>
            <a:pPr algn="ctr">
              <a:defRPr sz="1200" b="1">
                <a:solidFill>
                  <a:srgbClr val="FFFFFF"/>
                </a:solidFill>
                <a:latin typeface="Calibri"/>
              </a:defRPr>
            </a:pPr>
            <a:r>
              <a:t>Merchant Acceptance</a:t>
            </a:r>
          </a:p>
        </p:txBody>
      </p:sp>
      <p:sp>
        <p:nvSpPr>
          <p:cNvPr id="20" name="TextBox 19"/>
          <p:cNvSpPr txBox="1"/>
          <p:nvPr/>
        </p:nvSpPr>
        <p:spPr>
          <a:xfrm>
            <a:off x="9418320" y="2834640"/>
            <a:ext cx="2194560" cy="1828800"/>
          </a:xfrm>
          <a:prstGeom prst="rect">
            <a:avLst/>
          </a:prstGeom>
          <a:noFill/>
        </p:spPr>
        <p:txBody>
          <a:bodyPr wrap="square">
            <a:spAutoFit/>
          </a:bodyPr>
          <a:lstStyle/>
          <a:p>
            <a:pPr algn="ctr">
              <a:defRPr sz="1200" b="0">
                <a:solidFill>
                  <a:srgbClr val="CCCCCC"/>
                </a:solidFill>
                <a:latin typeface="Calibri"/>
              </a:defRPr>
            </a:pPr>
            <a:r>
              <a:t>6M merchant locations</a:t>
            </a:r>
            <a:br/>
            <a:r>
              <a:t>E-comm + in-store</a:t>
            </a:r>
            <a:br/>
            <a:r>
              <a:t>SMB to enterprise</a:t>
            </a:r>
          </a:p>
        </p:txBody>
      </p:sp>
      <p:sp>
        <p:nvSpPr>
          <p:cNvPr id="21" name="TextBox 20"/>
          <p:cNvSpPr txBox="1"/>
          <p:nvPr/>
        </p:nvSpPr>
        <p:spPr>
          <a:xfrm>
            <a:off x="3291840" y="2926080"/>
            <a:ext cx="457200" cy="457200"/>
          </a:xfrm>
          <a:prstGeom prst="rect">
            <a:avLst/>
          </a:prstGeom>
          <a:noFill/>
        </p:spPr>
        <p:txBody>
          <a:bodyPr wrap="square">
            <a:spAutoFit/>
          </a:bodyPr>
          <a:lstStyle/>
          <a:p>
            <a:pPr algn="ctr">
              <a:defRPr sz="2800" b="1">
                <a:solidFill>
                  <a:srgbClr val="FF6600"/>
                </a:solidFill>
                <a:latin typeface="Calibri"/>
              </a:defRPr>
            </a:pPr>
            <a:r>
              <a:t>→</a:t>
            </a:r>
          </a:p>
        </p:txBody>
      </p:sp>
      <p:sp>
        <p:nvSpPr>
          <p:cNvPr id="22" name="TextBox 21"/>
          <p:cNvSpPr txBox="1"/>
          <p:nvPr/>
        </p:nvSpPr>
        <p:spPr>
          <a:xfrm>
            <a:off x="6126480" y="2926080"/>
            <a:ext cx="457200" cy="457200"/>
          </a:xfrm>
          <a:prstGeom prst="rect">
            <a:avLst/>
          </a:prstGeom>
          <a:noFill/>
        </p:spPr>
        <p:txBody>
          <a:bodyPr wrap="square">
            <a:spAutoFit/>
          </a:bodyPr>
          <a:lstStyle/>
          <a:p>
            <a:pPr algn="ctr">
              <a:defRPr sz="2800" b="1">
                <a:solidFill>
                  <a:srgbClr val="FF6600"/>
                </a:solidFill>
                <a:latin typeface="Calibri"/>
              </a:defRPr>
            </a:pPr>
            <a:r>
              <a:t>→</a:t>
            </a:r>
          </a:p>
        </p:txBody>
      </p:sp>
      <p:sp>
        <p:nvSpPr>
          <p:cNvPr id="23" name="TextBox 22"/>
          <p:cNvSpPr txBox="1"/>
          <p:nvPr/>
        </p:nvSpPr>
        <p:spPr>
          <a:xfrm>
            <a:off x="8961120" y="2926080"/>
            <a:ext cx="457200" cy="457200"/>
          </a:xfrm>
          <a:prstGeom prst="rect">
            <a:avLst/>
          </a:prstGeom>
          <a:noFill/>
        </p:spPr>
        <p:txBody>
          <a:bodyPr wrap="square">
            <a:spAutoFit/>
          </a:bodyPr>
          <a:lstStyle/>
          <a:p>
            <a:pPr algn="ctr">
              <a:defRPr sz="2800" b="1">
                <a:solidFill>
                  <a:srgbClr val="FF6600"/>
                </a:solidFill>
                <a:latin typeface="Calibri"/>
              </a:defRPr>
            </a:pPr>
            <a:r>
              <a:t>→</a:t>
            </a:r>
          </a:p>
        </p:txBody>
      </p:sp>
      <p:sp>
        <p:nvSpPr>
          <p:cNvPr id="24" name="TextBox 23"/>
          <p:cNvSpPr txBox="1"/>
          <p:nvPr/>
        </p:nvSpPr>
        <p:spPr>
          <a:xfrm>
            <a:off x="731520" y="5669280"/>
            <a:ext cx="10698480" cy="731520"/>
          </a:xfrm>
          <a:prstGeom prst="rect">
            <a:avLst/>
          </a:prstGeom>
          <a:noFill/>
        </p:spPr>
        <p:txBody>
          <a:bodyPr wrap="square">
            <a:spAutoFit/>
          </a:bodyPr>
          <a:lstStyle/>
          <a:p>
            <a:pPr algn="ctr">
              <a:defRPr sz="1500" b="0">
                <a:solidFill>
                  <a:srgbClr val="FFFFFF"/>
                </a:solidFill>
                <a:latin typeface="Calibri"/>
              </a:defRPr>
            </a:pPr>
            <a:r>
              <a:t>Bank issues FIUSD  →  Consumer pays merchant  →  INDX settles in real-time  →  Merchant receives USD instantly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640080"/>
          </a:xfrm>
          <a:prstGeom prst="rect">
            <a:avLst/>
          </a:prstGeom>
          <a:noFill/>
        </p:spPr>
        <p:txBody>
          <a:bodyPr wrap="square">
            <a:spAutoFit/>
          </a:bodyPr>
          <a:lstStyle/>
          <a:p>
            <a:pPr algn="l">
              <a:defRPr sz="3600" b="1">
                <a:solidFill>
                  <a:srgbClr val="003B5C"/>
                </a:solidFill>
                <a:latin typeface="Calibri"/>
              </a:defRPr>
            </a:pPr>
            <a:r>
              <a:t>The FIUSD Flywheel</a:t>
            </a:r>
          </a:p>
        </p:txBody>
      </p:sp>
      <p:sp>
        <p:nvSpPr>
          <p:cNvPr id="4" name="Rounded Rectangle 3"/>
          <p:cNvSpPr/>
          <p:nvPr/>
        </p:nvSpPr>
        <p:spPr>
          <a:xfrm>
            <a:off x="4114800" y="1371600"/>
            <a:ext cx="2926080" cy="118872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51960" y="1463040"/>
            <a:ext cx="365760" cy="365760"/>
          </a:xfrm>
          <a:prstGeom prst="rect">
            <a:avLst/>
          </a:prstGeom>
          <a:noFill/>
        </p:spPr>
        <p:txBody>
          <a:bodyPr wrap="square">
            <a:spAutoFit/>
          </a:bodyPr>
          <a:lstStyle/>
          <a:p>
            <a:pPr algn="ctr">
              <a:defRPr sz="1600" b="1">
                <a:solidFill>
                  <a:srgbClr val="FFFFFF"/>
                </a:solidFill>
                <a:latin typeface="Calibri"/>
              </a:defRPr>
            </a:pPr>
            <a:r>
              <a:t>1</a:t>
            </a:r>
          </a:p>
        </p:txBody>
      </p:sp>
      <p:sp>
        <p:nvSpPr>
          <p:cNvPr id="6" name="Oval 5"/>
          <p:cNvSpPr/>
          <p:nvPr/>
        </p:nvSpPr>
        <p:spPr>
          <a:xfrm>
            <a:off x="4206240" y="1463040"/>
            <a:ext cx="365760" cy="36576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06240" y="1463040"/>
            <a:ext cx="365760" cy="365760"/>
          </a:xfrm>
          <a:prstGeom prst="rect">
            <a:avLst/>
          </a:prstGeom>
          <a:noFill/>
        </p:spPr>
        <p:txBody>
          <a:bodyPr wrap="square">
            <a:spAutoFit/>
          </a:bodyPr>
          <a:lstStyle/>
          <a:p>
            <a:pPr algn="ctr">
              <a:defRPr sz="1400" b="1">
                <a:solidFill>
                  <a:srgbClr val="FFFFFF"/>
                </a:solidFill>
                <a:latin typeface="Calibri"/>
              </a:defRPr>
            </a:pPr>
            <a:r>
              <a:t>1</a:t>
            </a:r>
          </a:p>
        </p:txBody>
      </p:sp>
      <p:sp>
        <p:nvSpPr>
          <p:cNvPr id="8" name="TextBox 7"/>
          <p:cNvSpPr txBox="1"/>
          <p:nvPr/>
        </p:nvSpPr>
        <p:spPr>
          <a:xfrm>
            <a:off x="4617720" y="1463040"/>
            <a:ext cx="2286000" cy="320040"/>
          </a:xfrm>
          <a:prstGeom prst="rect">
            <a:avLst/>
          </a:prstGeom>
          <a:noFill/>
        </p:spPr>
        <p:txBody>
          <a:bodyPr wrap="square">
            <a:spAutoFit/>
          </a:bodyPr>
          <a:lstStyle/>
          <a:p>
            <a:pPr algn="l">
              <a:defRPr sz="1400" b="1">
                <a:solidFill>
                  <a:srgbClr val="003B5C"/>
                </a:solidFill>
                <a:latin typeface="Calibri"/>
              </a:defRPr>
            </a:pPr>
            <a:r>
              <a:t>FIs Issue FIUSD</a:t>
            </a:r>
          </a:p>
        </p:txBody>
      </p:sp>
      <p:sp>
        <p:nvSpPr>
          <p:cNvPr id="9" name="TextBox 8"/>
          <p:cNvSpPr txBox="1"/>
          <p:nvPr/>
        </p:nvSpPr>
        <p:spPr>
          <a:xfrm>
            <a:off x="4617720" y="1783080"/>
            <a:ext cx="2286000" cy="640080"/>
          </a:xfrm>
          <a:prstGeom prst="rect">
            <a:avLst/>
          </a:prstGeom>
          <a:noFill/>
        </p:spPr>
        <p:txBody>
          <a:bodyPr wrap="square">
            <a:spAutoFit/>
          </a:bodyPr>
          <a:lstStyle/>
          <a:p>
            <a:pPr algn="l">
              <a:defRPr sz="1100" b="0">
                <a:solidFill>
                  <a:srgbClr val="333333"/>
                </a:solidFill>
                <a:latin typeface="Calibri"/>
              </a:defRPr>
            </a:pPr>
            <a:r>
              <a:t>10,000+ bank clients</a:t>
            </a:r>
            <a:br/>
            <a:r>
              <a:t>issue via Finxact</a:t>
            </a:r>
          </a:p>
        </p:txBody>
      </p:sp>
      <p:sp>
        <p:nvSpPr>
          <p:cNvPr id="10" name="Rounded Rectangle 9"/>
          <p:cNvSpPr/>
          <p:nvPr/>
        </p:nvSpPr>
        <p:spPr>
          <a:xfrm>
            <a:off x="7772400" y="2286000"/>
            <a:ext cx="2926080" cy="118872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09560" y="2377440"/>
            <a:ext cx="365760" cy="365760"/>
          </a:xfrm>
          <a:prstGeom prst="rect">
            <a:avLst/>
          </a:prstGeom>
          <a:noFill/>
        </p:spPr>
        <p:txBody>
          <a:bodyPr wrap="square">
            <a:spAutoFit/>
          </a:bodyPr>
          <a:lstStyle/>
          <a:p>
            <a:pPr algn="ctr">
              <a:defRPr sz="1600" b="1">
                <a:solidFill>
                  <a:srgbClr val="FFFFFF"/>
                </a:solidFill>
                <a:latin typeface="Calibri"/>
              </a:defRPr>
            </a:pPr>
            <a:r>
              <a:t>2</a:t>
            </a:r>
          </a:p>
        </p:txBody>
      </p:sp>
      <p:sp>
        <p:nvSpPr>
          <p:cNvPr id="12" name="Oval 11"/>
          <p:cNvSpPr/>
          <p:nvPr/>
        </p:nvSpPr>
        <p:spPr>
          <a:xfrm>
            <a:off x="7863840" y="2377440"/>
            <a:ext cx="365760" cy="36576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0" y="2377440"/>
            <a:ext cx="365760" cy="365760"/>
          </a:xfrm>
          <a:prstGeom prst="rect">
            <a:avLst/>
          </a:prstGeom>
          <a:noFill/>
        </p:spPr>
        <p:txBody>
          <a:bodyPr wrap="square">
            <a:spAutoFit/>
          </a:bodyPr>
          <a:lstStyle/>
          <a:p>
            <a:pPr algn="ctr">
              <a:defRPr sz="1400" b="1">
                <a:solidFill>
                  <a:srgbClr val="FFFFFF"/>
                </a:solidFill>
                <a:latin typeface="Calibri"/>
              </a:defRPr>
            </a:pPr>
            <a:r>
              <a:t>2</a:t>
            </a:r>
          </a:p>
        </p:txBody>
      </p:sp>
      <p:sp>
        <p:nvSpPr>
          <p:cNvPr id="14" name="TextBox 13"/>
          <p:cNvSpPr txBox="1"/>
          <p:nvPr/>
        </p:nvSpPr>
        <p:spPr>
          <a:xfrm>
            <a:off x="8275320" y="2377440"/>
            <a:ext cx="2286000" cy="320040"/>
          </a:xfrm>
          <a:prstGeom prst="rect">
            <a:avLst/>
          </a:prstGeom>
          <a:noFill/>
        </p:spPr>
        <p:txBody>
          <a:bodyPr wrap="square">
            <a:spAutoFit/>
          </a:bodyPr>
          <a:lstStyle/>
          <a:p>
            <a:pPr algn="l">
              <a:defRPr sz="1400" b="1">
                <a:solidFill>
                  <a:srgbClr val="003B5C"/>
                </a:solidFill>
                <a:latin typeface="Calibri"/>
              </a:defRPr>
            </a:pPr>
            <a:r>
              <a:t>Merchants Accept</a:t>
            </a:r>
          </a:p>
        </p:txBody>
      </p:sp>
      <p:sp>
        <p:nvSpPr>
          <p:cNvPr id="15" name="TextBox 14"/>
          <p:cNvSpPr txBox="1"/>
          <p:nvPr/>
        </p:nvSpPr>
        <p:spPr>
          <a:xfrm>
            <a:off x="8275320" y="2697480"/>
            <a:ext cx="2286000" cy="640080"/>
          </a:xfrm>
          <a:prstGeom prst="rect">
            <a:avLst/>
          </a:prstGeom>
          <a:noFill/>
        </p:spPr>
        <p:txBody>
          <a:bodyPr wrap="square">
            <a:spAutoFit/>
          </a:bodyPr>
          <a:lstStyle/>
          <a:p>
            <a:pPr algn="l">
              <a:defRPr sz="1100" b="0">
                <a:solidFill>
                  <a:srgbClr val="333333"/>
                </a:solidFill>
                <a:latin typeface="Calibri"/>
              </a:defRPr>
            </a:pPr>
            <a:r>
              <a:t>Cheaper than cards</a:t>
            </a:r>
            <a:br/>
            <a:r>
              <a:t>(sub-1% vs 2-3%)</a:t>
            </a:r>
          </a:p>
        </p:txBody>
      </p:sp>
      <p:sp>
        <p:nvSpPr>
          <p:cNvPr id="16" name="Rounded Rectangle 15"/>
          <p:cNvSpPr/>
          <p:nvPr/>
        </p:nvSpPr>
        <p:spPr>
          <a:xfrm>
            <a:off x="7772400" y="4114800"/>
            <a:ext cx="2926080" cy="118872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9560" y="4206240"/>
            <a:ext cx="365760" cy="365760"/>
          </a:xfrm>
          <a:prstGeom prst="rect">
            <a:avLst/>
          </a:prstGeom>
          <a:noFill/>
        </p:spPr>
        <p:txBody>
          <a:bodyPr wrap="square">
            <a:spAutoFit/>
          </a:bodyPr>
          <a:lstStyle/>
          <a:p>
            <a:pPr algn="ctr">
              <a:defRPr sz="1600" b="1">
                <a:solidFill>
                  <a:srgbClr val="FFFFFF"/>
                </a:solidFill>
                <a:latin typeface="Calibri"/>
              </a:defRPr>
            </a:pPr>
            <a:r>
              <a:t>3</a:t>
            </a:r>
          </a:p>
        </p:txBody>
      </p:sp>
      <p:sp>
        <p:nvSpPr>
          <p:cNvPr id="18" name="Oval 17"/>
          <p:cNvSpPr/>
          <p:nvPr/>
        </p:nvSpPr>
        <p:spPr>
          <a:xfrm>
            <a:off x="7863840" y="4206240"/>
            <a:ext cx="365760" cy="36576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0" y="4206240"/>
            <a:ext cx="365760" cy="365760"/>
          </a:xfrm>
          <a:prstGeom prst="rect">
            <a:avLst/>
          </a:prstGeom>
          <a:noFill/>
        </p:spPr>
        <p:txBody>
          <a:bodyPr wrap="square">
            <a:spAutoFit/>
          </a:bodyPr>
          <a:lstStyle/>
          <a:p>
            <a:pPr algn="ctr">
              <a:defRPr sz="1400" b="1">
                <a:solidFill>
                  <a:srgbClr val="FFFFFF"/>
                </a:solidFill>
                <a:latin typeface="Calibri"/>
              </a:defRPr>
            </a:pPr>
            <a:r>
              <a:t>3</a:t>
            </a:r>
          </a:p>
        </p:txBody>
      </p:sp>
      <p:sp>
        <p:nvSpPr>
          <p:cNvPr id="20" name="TextBox 19"/>
          <p:cNvSpPr txBox="1"/>
          <p:nvPr/>
        </p:nvSpPr>
        <p:spPr>
          <a:xfrm>
            <a:off x="8275320" y="4206240"/>
            <a:ext cx="2286000" cy="320040"/>
          </a:xfrm>
          <a:prstGeom prst="rect">
            <a:avLst/>
          </a:prstGeom>
          <a:noFill/>
        </p:spPr>
        <p:txBody>
          <a:bodyPr wrap="square">
            <a:spAutoFit/>
          </a:bodyPr>
          <a:lstStyle/>
          <a:p>
            <a:pPr algn="l">
              <a:defRPr sz="1400" b="1">
                <a:solidFill>
                  <a:srgbClr val="003B5C"/>
                </a:solidFill>
                <a:latin typeface="Calibri"/>
              </a:defRPr>
            </a:pPr>
            <a:r>
              <a:t>Consumers Adopt</a:t>
            </a:r>
          </a:p>
        </p:txBody>
      </p:sp>
      <p:sp>
        <p:nvSpPr>
          <p:cNvPr id="21" name="TextBox 20"/>
          <p:cNvSpPr txBox="1"/>
          <p:nvPr/>
        </p:nvSpPr>
        <p:spPr>
          <a:xfrm>
            <a:off x="8275320" y="4526280"/>
            <a:ext cx="2286000" cy="640080"/>
          </a:xfrm>
          <a:prstGeom prst="rect">
            <a:avLst/>
          </a:prstGeom>
          <a:noFill/>
        </p:spPr>
        <p:txBody>
          <a:bodyPr wrap="square">
            <a:spAutoFit/>
          </a:bodyPr>
          <a:lstStyle/>
          <a:p>
            <a:pPr algn="l">
              <a:defRPr sz="1100" b="0">
                <a:solidFill>
                  <a:srgbClr val="333333"/>
                </a:solidFill>
                <a:latin typeface="Calibri"/>
              </a:defRPr>
            </a:pPr>
            <a:r>
              <a:t>Hold FIUSD in</a:t>
            </a:r>
            <a:br/>
            <a:r>
              <a:t>bank wallets</a:t>
            </a:r>
          </a:p>
        </p:txBody>
      </p:sp>
      <p:sp>
        <p:nvSpPr>
          <p:cNvPr id="22" name="Rounded Rectangle 21"/>
          <p:cNvSpPr/>
          <p:nvPr/>
        </p:nvSpPr>
        <p:spPr>
          <a:xfrm>
            <a:off x="4114800" y="4114800"/>
            <a:ext cx="2926080" cy="118872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51960" y="4206240"/>
            <a:ext cx="365760" cy="365760"/>
          </a:xfrm>
          <a:prstGeom prst="rect">
            <a:avLst/>
          </a:prstGeom>
          <a:noFill/>
        </p:spPr>
        <p:txBody>
          <a:bodyPr wrap="square">
            <a:spAutoFit/>
          </a:bodyPr>
          <a:lstStyle/>
          <a:p>
            <a:pPr algn="ctr">
              <a:defRPr sz="1600" b="1">
                <a:solidFill>
                  <a:srgbClr val="FFFFFF"/>
                </a:solidFill>
                <a:latin typeface="Calibri"/>
              </a:defRPr>
            </a:pPr>
            <a:r>
              <a:t>4</a:t>
            </a:r>
          </a:p>
        </p:txBody>
      </p:sp>
      <p:sp>
        <p:nvSpPr>
          <p:cNvPr id="24" name="Oval 23"/>
          <p:cNvSpPr/>
          <p:nvPr/>
        </p:nvSpPr>
        <p:spPr>
          <a:xfrm>
            <a:off x="4206240" y="4206240"/>
            <a:ext cx="365760" cy="36576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06240" y="4206240"/>
            <a:ext cx="365760" cy="365760"/>
          </a:xfrm>
          <a:prstGeom prst="rect">
            <a:avLst/>
          </a:prstGeom>
          <a:noFill/>
        </p:spPr>
        <p:txBody>
          <a:bodyPr wrap="square">
            <a:spAutoFit/>
          </a:bodyPr>
          <a:lstStyle/>
          <a:p>
            <a:pPr algn="ctr">
              <a:defRPr sz="1400" b="1">
                <a:solidFill>
                  <a:srgbClr val="FFFFFF"/>
                </a:solidFill>
                <a:latin typeface="Calibri"/>
              </a:defRPr>
            </a:pPr>
            <a:r>
              <a:t>4</a:t>
            </a:r>
          </a:p>
        </p:txBody>
      </p:sp>
      <p:sp>
        <p:nvSpPr>
          <p:cNvPr id="26" name="TextBox 25"/>
          <p:cNvSpPr txBox="1"/>
          <p:nvPr/>
        </p:nvSpPr>
        <p:spPr>
          <a:xfrm>
            <a:off x="4617720" y="4206240"/>
            <a:ext cx="2286000" cy="320040"/>
          </a:xfrm>
          <a:prstGeom prst="rect">
            <a:avLst/>
          </a:prstGeom>
          <a:noFill/>
        </p:spPr>
        <p:txBody>
          <a:bodyPr wrap="square">
            <a:spAutoFit/>
          </a:bodyPr>
          <a:lstStyle/>
          <a:p>
            <a:pPr algn="l">
              <a:defRPr sz="1400" b="1">
                <a:solidFill>
                  <a:srgbClr val="003B5C"/>
                </a:solidFill>
                <a:latin typeface="Calibri"/>
              </a:defRPr>
            </a:pPr>
            <a:r>
              <a:t>Volume Grows</a:t>
            </a:r>
          </a:p>
        </p:txBody>
      </p:sp>
      <p:sp>
        <p:nvSpPr>
          <p:cNvPr id="27" name="TextBox 26"/>
          <p:cNvSpPr txBox="1"/>
          <p:nvPr/>
        </p:nvSpPr>
        <p:spPr>
          <a:xfrm>
            <a:off x="4617720" y="4526280"/>
            <a:ext cx="2286000" cy="640080"/>
          </a:xfrm>
          <a:prstGeom prst="rect">
            <a:avLst/>
          </a:prstGeom>
          <a:noFill/>
        </p:spPr>
        <p:txBody>
          <a:bodyPr wrap="square">
            <a:spAutoFit/>
          </a:bodyPr>
          <a:lstStyle/>
          <a:p>
            <a:pPr algn="l">
              <a:defRPr sz="1100" b="0">
                <a:solidFill>
                  <a:srgbClr val="333333"/>
                </a:solidFill>
                <a:latin typeface="Calibri"/>
              </a:defRPr>
            </a:pPr>
            <a:r>
              <a:t>More FIs want in</a:t>
            </a:r>
            <a:br/>
            <a:r>
              <a:t>costs decrease</a:t>
            </a:r>
          </a:p>
        </p:txBody>
      </p:sp>
      <p:sp>
        <p:nvSpPr>
          <p:cNvPr id="28" name="Rounded Rectangle 27"/>
          <p:cNvSpPr/>
          <p:nvPr/>
        </p:nvSpPr>
        <p:spPr>
          <a:xfrm>
            <a:off x="731520" y="3200400"/>
            <a:ext cx="2926080" cy="118872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3291840"/>
            <a:ext cx="365760" cy="365760"/>
          </a:xfrm>
          <a:prstGeom prst="rect">
            <a:avLst/>
          </a:prstGeom>
          <a:noFill/>
        </p:spPr>
        <p:txBody>
          <a:bodyPr wrap="square">
            <a:spAutoFit/>
          </a:bodyPr>
          <a:lstStyle/>
          <a:p>
            <a:pPr algn="ctr">
              <a:defRPr sz="1600" b="1">
                <a:solidFill>
                  <a:srgbClr val="FFFFFF"/>
                </a:solidFill>
                <a:latin typeface="Calibri"/>
              </a:defRPr>
            </a:pPr>
            <a:r>
              <a:t>5</a:t>
            </a:r>
          </a:p>
        </p:txBody>
      </p:sp>
      <p:sp>
        <p:nvSpPr>
          <p:cNvPr id="30" name="Oval 29"/>
          <p:cNvSpPr/>
          <p:nvPr/>
        </p:nvSpPr>
        <p:spPr>
          <a:xfrm>
            <a:off x="822960" y="3291840"/>
            <a:ext cx="365760" cy="36576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3291840"/>
            <a:ext cx="365760" cy="365760"/>
          </a:xfrm>
          <a:prstGeom prst="rect">
            <a:avLst/>
          </a:prstGeom>
          <a:noFill/>
        </p:spPr>
        <p:txBody>
          <a:bodyPr wrap="square">
            <a:spAutoFit/>
          </a:bodyPr>
          <a:lstStyle/>
          <a:p>
            <a:pPr algn="ctr">
              <a:defRPr sz="1400" b="1">
                <a:solidFill>
                  <a:srgbClr val="FFFFFF"/>
                </a:solidFill>
                <a:latin typeface="Calibri"/>
              </a:defRPr>
            </a:pPr>
            <a:r>
              <a:t>5</a:t>
            </a:r>
          </a:p>
        </p:txBody>
      </p:sp>
      <p:sp>
        <p:nvSpPr>
          <p:cNvPr id="32" name="TextBox 31"/>
          <p:cNvSpPr txBox="1"/>
          <p:nvPr/>
        </p:nvSpPr>
        <p:spPr>
          <a:xfrm>
            <a:off x="1234440" y="3291840"/>
            <a:ext cx="2286000" cy="320040"/>
          </a:xfrm>
          <a:prstGeom prst="rect">
            <a:avLst/>
          </a:prstGeom>
          <a:noFill/>
        </p:spPr>
        <p:txBody>
          <a:bodyPr wrap="square">
            <a:spAutoFit/>
          </a:bodyPr>
          <a:lstStyle/>
          <a:p>
            <a:pPr algn="l">
              <a:defRPr sz="1400" b="1">
                <a:solidFill>
                  <a:srgbClr val="003B5C"/>
                </a:solidFill>
                <a:latin typeface="Calibri"/>
              </a:defRPr>
            </a:pPr>
            <a:r>
              <a:t>Cycle Accelerates</a:t>
            </a:r>
          </a:p>
        </p:txBody>
      </p:sp>
      <p:sp>
        <p:nvSpPr>
          <p:cNvPr id="33" name="TextBox 32"/>
          <p:cNvSpPr txBox="1"/>
          <p:nvPr/>
        </p:nvSpPr>
        <p:spPr>
          <a:xfrm>
            <a:off x="1234440" y="3611880"/>
            <a:ext cx="2286000" cy="640080"/>
          </a:xfrm>
          <a:prstGeom prst="rect">
            <a:avLst/>
          </a:prstGeom>
          <a:noFill/>
        </p:spPr>
        <p:txBody>
          <a:bodyPr wrap="square">
            <a:spAutoFit/>
          </a:bodyPr>
          <a:lstStyle/>
          <a:p>
            <a:pPr algn="l">
              <a:defRPr sz="1100" b="0">
                <a:solidFill>
                  <a:srgbClr val="333333"/>
                </a:solidFill>
                <a:latin typeface="Calibri"/>
              </a:defRPr>
            </a:pPr>
            <a:r>
              <a:t>Network effects</a:t>
            </a:r>
            <a:br/>
            <a:r>
              <a:t>compound</a:t>
            </a:r>
          </a:p>
        </p:txBody>
      </p:sp>
      <p:sp>
        <p:nvSpPr>
          <p:cNvPr id="34" name="Rounded Rectangle 33"/>
          <p:cNvSpPr/>
          <p:nvPr/>
        </p:nvSpPr>
        <p:spPr>
          <a:xfrm>
            <a:off x="731520" y="5486400"/>
            <a:ext cx="10698480" cy="914400"/>
          </a:xfrm>
          <a:prstGeom prst="round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7280" y="5577840"/>
            <a:ext cx="10058400" cy="731520"/>
          </a:xfrm>
          <a:prstGeom prst="rect">
            <a:avLst/>
          </a:prstGeom>
          <a:noFill/>
        </p:spPr>
        <p:txBody>
          <a:bodyPr wrap="square">
            <a:spAutoFit/>
          </a:bodyPr>
          <a:lstStyle/>
          <a:p>
            <a:pPr algn="l">
              <a:spcAft>
                <a:spcPts val="400"/>
              </a:spcAft>
              <a:defRPr sz="1400" b="1">
                <a:solidFill>
                  <a:srgbClr val="FF6600"/>
                </a:solidFill>
                <a:latin typeface="Calibri"/>
              </a:defRPr>
            </a:pPr>
            <a:r>
              <a:t>Seed Strategy: Use Fiserv's own merchant settlement disbursements as initial FIUSD volume</a:t>
            </a:r>
          </a:p>
          <a:p>
            <a:pPr algn="l">
              <a:spcAft>
                <a:spcPts val="400"/>
              </a:spcAft>
              <a:defRPr sz="1200" b="0">
                <a:solidFill>
                  <a:srgbClr val="FFFFFF"/>
                </a:solidFill>
                <a:latin typeface="Calibri"/>
              </a:defRPr>
            </a:pPr>
            <a:r>
              <a:t>No dependency on consumer adoption. Fiserv controls enough of the system to prime the pump itself.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640080"/>
          </a:xfrm>
          <a:prstGeom prst="rect">
            <a:avLst/>
          </a:prstGeom>
          <a:noFill/>
        </p:spPr>
        <p:txBody>
          <a:bodyPr wrap="square">
            <a:spAutoFit/>
          </a:bodyPr>
          <a:lstStyle/>
          <a:p>
            <a:pPr algn="l">
              <a:defRPr sz="3600" b="1">
                <a:solidFill>
                  <a:srgbClr val="003B5C"/>
                </a:solidFill>
                <a:latin typeface="Calibri"/>
              </a:defRPr>
            </a:pPr>
            <a:r>
              <a:t>Provider Architecture</a:t>
            </a:r>
          </a:p>
        </p:txBody>
      </p:sp>
      <p:sp>
        <p:nvSpPr>
          <p:cNvPr id="4" name="TextBox 3"/>
          <p:cNvSpPr txBox="1"/>
          <p:nvPr/>
        </p:nvSpPr>
        <p:spPr>
          <a:xfrm>
            <a:off x="731520" y="914400"/>
            <a:ext cx="10058400" cy="365760"/>
          </a:xfrm>
          <a:prstGeom prst="rect">
            <a:avLst/>
          </a:prstGeom>
          <a:noFill/>
        </p:spPr>
        <p:txBody>
          <a:bodyPr wrap="square">
            <a:spAutoFit/>
          </a:bodyPr>
          <a:lstStyle/>
          <a:p>
            <a:pPr algn="l">
              <a:defRPr sz="1300" b="0">
                <a:solidFill>
                  <a:srgbClr val="9B9B9B"/>
                </a:solidFill>
                <a:latin typeface="Calibri"/>
              </a:defRPr>
            </a:pPr>
            <a:r>
              <a:t>Layered approach behind Fiserv-owned abstraction layer -- merchants see "Fiserv Digital Pay", never the underlying providers</a:t>
            </a:r>
          </a:p>
        </p:txBody>
      </p:sp>
      <p:sp>
        <p:nvSpPr>
          <p:cNvPr id="5" name="Rounded Rectangle 4"/>
          <p:cNvSpPr/>
          <p:nvPr/>
        </p:nvSpPr>
        <p:spPr>
          <a:xfrm>
            <a:off x="3200400" y="1463040"/>
            <a:ext cx="5760720" cy="731520"/>
          </a:xfrm>
          <a:prstGeom prst="round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0" y="1554480"/>
            <a:ext cx="5760720" cy="548640"/>
          </a:xfrm>
          <a:prstGeom prst="rect">
            <a:avLst/>
          </a:prstGeom>
          <a:noFill/>
        </p:spPr>
        <p:txBody>
          <a:bodyPr wrap="square">
            <a:spAutoFit/>
          </a:bodyPr>
          <a:lstStyle/>
          <a:p>
            <a:pPr algn="ctr">
              <a:defRPr sz="1600" b="1">
                <a:solidFill>
                  <a:srgbClr val="FFFFFF"/>
                </a:solidFill>
                <a:latin typeface="Calibri"/>
              </a:defRPr>
            </a:pPr>
            <a:r>
              <a:t>"Fiserv Digital Pay"  --  Merchant-Facing Brand</a:t>
            </a:r>
          </a:p>
        </p:txBody>
      </p:sp>
      <p:sp>
        <p:nvSpPr>
          <p:cNvPr id="7" name="Rounded Rectangle 6"/>
          <p:cNvSpPr/>
          <p:nvPr/>
        </p:nvSpPr>
        <p:spPr>
          <a:xfrm>
            <a:off x="2286000" y="2468880"/>
            <a:ext cx="7589520" cy="640080"/>
          </a:xfrm>
          <a:prstGeom prst="roundRect">
            <a:avLst/>
          </a:prstGeom>
          <a:solidFill>
            <a:srgbClr val="00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286000" y="2560320"/>
            <a:ext cx="7589520" cy="457200"/>
          </a:xfrm>
          <a:prstGeom prst="rect">
            <a:avLst/>
          </a:prstGeom>
          <a:noFill/>
        </p:spPr>
        <p:txBody>
          <a:bodyPr wrap="square">
            <a:spAutoFit/>
          </a:bodyPr>
          <a:lstStyle/>
          <a:p>
            <a:pPr algn="ctr">
              <a:defRPr sz="1400" b="1">
                <a:solidFill>
                  <a:srgbClr val="FFFFFF"/>
                </a:solidFill>
                <a:latin typeface="Calibri"/>
              </a:defRPr>
            </a:pPr>
            <a:r>
              <a:t>CommerceHub Crypto Orchestration Layer</a:t>
            </a:r>
          </a:p>
        </p:txBody>
      </p:sp>
      <p:sp>
        <p:nvSpPr>
          <p:cNvPr id="9" name="Rounded Rectangle 8"/>
          <p:cNvSpPr/>
          <p:nvPr/>
        </p:nvSpPr>
        <p:spPr>
          <a:xfrm>
            <a:off x="914400" y="3383280"/>
            <a:ext cx="3200400" cy="256032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474720"/>
            <a:ext cx="2834640" cy="365760"/>
          </a:xfrm>
          <a:prstGeom prst="rect">
            <a:avLst/>
          </a:prstGeom>
          <a:noFill/>
        </p:spPr>
        <p:txBody>
          <a:bodyPr wrap="square">
            <a:spAutoFit/>
          </a:bodyPr>
          <a:lstStyle/>
          <a:p>
            <a:pPr algn="ctr">
              <a:defRPr sz="1400" b="1">
                <a:solidFill>
                  <a:srgbClr val="003B5C"/>
                </a:solidFill>
                <a:latin typeface="Calibri"/>
              </a:defRPr>
            </a:pPr>
            <a:r>
              <a:t>Coinbase WaaS + CDP</a:t>
            </a:r>
          </a:p>
        </p:txBody>
      </p:sp>
      <p:sp>
        <p:nvSpPr>
          <p:cNvPr id="11" name="Rounded Rectangle 10"/>
          <p:cNvSpPr/>
          <p:nvPr/>
        </p:nvSpPr>
        <p:spPr>
          <a:xfrm>
            <a:off x="1645920" y="3840480"/>
            <a:ext cx="1737360" cy="320040"/>
          </a:xfrm>
          <a:prstGeom prst="round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3858768"/>
            <a:ext cx="1737360" cy="274320"/>
          </a:xfrm>
          <a:prstGeom prst="rect">
            <a:avLst/>
          </a:prstGeom>
          <a:noFill/>
        </p:spPr>
        <p:txBody>
          <a:bodyPr wrap="square">
            <a:spAutoFit/>
          </a:bodyPr>
          <a:lstStyle/>
          <a:p>
            <a:pPr algn="ctr">
              <a:defRPr sz="1000" b="1">
                <a:solidFill>
                  <a:srgbClr val="FFFFFF"/>
                </a:solidFill>
                <a:latin typeface="Calibri"/>
              </a:defRPr>
            </a:pPr>
            <a:r>
              <a:t>PRIMARY</a:t>
            </a:r>
          </a:p>
        </p:txBody>
      </p:sp>
      <p:sp>
        <p:nvSpPr>
          <p:cNvPr id="13" name="TextBox 12"/>
          <p:cNvSpPr txBox="1"/>
          <p:nvPr/>
        </p:nvSpPr>
        <p:spPr>
          <a:xfrm>
            <a:off x="1097280" y="4251960"/>
            <a:ext cx="2834640" cy="1463040"/>
          </a:xfrm>
          <a:prstGeom prst="rect">
            <a:avLst/>
          </a:prstGeom>
          <a:noFill/>
        </p:spPr>
        <p:txBody>
          <a:bodyPr wrap="square">
            <a:spAutoFit/>
          </a:bodyPr>
          <a:lstStyle/>
          <a:p>
            <a:pPr algn="ctr">
              <a:defRPr sz="1100" b="0">
                <a:solidFill>
                  <a:srgbClr val="333333"/>
                </a:solidFill>
                <a:latin typeface="Calibri"/>
              </a:defRPr>
            </a:pPr>
            <a:r>
              <a:t>White-label MPC wallets</a:t>
            </a:r>
            <a:br/>
            <a:r>
              <a:t>x402 protocol creator</a:t>
            </a:r>
            <a:br/>
            <a:r>
              <a:t>$370B custody, SOC 2</a:t>
            </a:r>
            <a:br/>
            <a:r>
              <a:t>700+ wallets via WalletConnect</a:t>
            </a:r>
          </a:p>
        </p:txBody>
      </p:sp>
      <p:sp>
        <p:nvSpPr>
          <p:cNvPr id="14" name="Rounded Rectangle 13"/>
          <p:cNvSpPr/>
          <p:nvPr/>
        </p:nvSpPr>
        <p:spPr>
          <a:xfrm>
            <a:off x="4754880" y="3383280"/>
            <a:ext cx="3200400" cy="256032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3474720"/>
            <a:ext cx="2834640" cy="365760"/>
          </a:xfrm>
          <a:prstGeom prst="rect">
            <a:avLst/>
          </a:prstGeom>
          <a:noFill/>
        </p:spPr>
        <p:txBody>
          <a:bodyPr wrap="square">
            <a:spAutoFit/>
          </a:bodyPr>
          <a:lstStyle/>
          <a:p>
            <a:pPr algn="ctr">
              <a:defRPr sz="1400" b="1">
                <a:solidFill>
                  <a:srgbClr val="003B5C"/>
                </a:solidFill>
                <a:latin typeface="Calibri"/>
              </a:defRPr>
            </a:pPr>
            <a:r>
              <a:t>Mesh Pay</a:t>
            </a:r>
          </a:p>
        </p:txBody>
      </p:sp>
      <p:sp>
        <p:nvSpPr>
          <p:cNvPr id="16" name="Rounded Rectangle 15"/>
          <p:cNvSpPr/>
          <p:nvPr/>
        </p:nvSpPr>
        <p:spPr>
          <a:xfrm>
            <a:off x="5486400" y="3840480"/>
            <a:ext cx="1737360" cy="320040"/>
          </a:xfrm>
          <a:prstGeom prst="round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0" y="3858768"/>
            <a:ext cx="1737360" cy="274320"/>
          </a:xfrm>
          <a:prstGeom prst="rect">
            <a:avLst/>
          </a:prstGeom>
          <a:noFill/>
        </p:spPr>
        <p:txBody>
          <a:bodyPr wrap="square">
            <a:spAutoFit/>
          </a:bodyPr>
          <a:lstStyle/>
          <a:p>
            <a:pPr algn="ctr">
              <a:defRPr sz="1000" b="1">
                <a:solidFill>
                  <a:srgbClr val="FFFFFF"/>
                </a:solidFill>
                <a:latin typeface="Calibri"/>
              </a:defRPr>
            </a:pPr>
            <a:r>
              <a:t>REACH</a:t>
            </a:r>
          </a:p>
        </p:txBody>
      </p:sp>
      <p:sp>
        <p:nvSpPr>
          <p:cNvPr id="18" name="TextBox 17"/>
          <p:cNvSpPr txBox="1"/>
          <p:nvPr/>
        </p:nvSpPr>
        <p:spPr>
          <a:xfrm>
            <a:off x="4937760" y="4251960"/>
            <a:ext cx="2834640" cy="1463040"/>
          </a:xfrm>
          <a:prstGeom prst="rect">
            <a:avLst/>
          </a:prstGeom>
          <a:noFill/>
        </p:spPr>
        <p:txBody>
          <a:bodyPr wrap="square">
            <a:spAutoFit/>
          </a:bodyPr>
          <a:lstStyle/>
          <a:p>
            <a:pPr algn="ctr">
              <a:defRPr sz="1100" b="0">
                <a:solidFill>
                  <a:srgbClr val="333333"/>
                </a:solidFill>
                <a:latin typeface="Calibri"/>
              </a:defRPr>
            </a:pPr>
            <a:r>
              <a:t>300+ wallet/exchange integrations</a:t>
            </a:r>
            <a:br/>
            <a:r>
              <a:t>SmartFunding (patent-pending)</a:t>
            </a:r>
            <a:br/>
            <a:r>
              <a:t>Apple Pay bridge</a:t>
            </a:r>
            <a:br/>
            <a:r>
              <a:t>45+ countries via Shift4</a:t>
            </a:r>
          </a:p>
        </p:txBody>
      </p:sp>
      <p:sp>
        <p:nvSpPr>
          <p:cNvPr id="19" name="Rounded Rectangle 18"/>
          <p:cNvSpPr/>
          <p:nvPr/>
        </p:nvSpPr>
        <p:spPr>
          <a:xfrm>
            <a:off x="8595360" y="3383280"/>
            <a:ext cx="3200400" cy="256032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3474720"/>
            <a:ext cx="2834640" cy="365760"/>
          </a:xfrm>
          <a:prstGeom prst="rect">
            <a:avLst/>
          </a:prstGeom>
          <a:noFill/>
        </p:spPr>
        <p:txBody>
          <a:bodyPr wrap="square">
            <a:spAutoFit/>
          </a:bodyPr>
          <a:lstStyle/>
          <a:p>
            <a:pPr algn="ctr">
              <a:defRPr sz="1400" b="1">
                <a:solidFill>
                  <a:srgbClr val="003B5C"/>
                </a:solidFill>
                <a:latin typeface="Calibri"/>
              </a:defRPr>
            </a:pPr>
            <a:r>
              <a:t>Finxact + FIUSD + INDX</a:t>
            </a:r>
          </a:p>
        </p:txBody>
      </p:sp>
      <p:sp>
        <p:nvSpPr>
          <p:cNvPr id="21" name="Rounded Rectangle 20"/>
          <p:cNvSpPr/>
          <p:nvPr/>
        </p:nvSpPr>
        <p:spPr>
          <a:xfrm>
            <a:off x="9326880" y="3840480"/>
            <a:ext cx="1737360" cy="320040"/>
          </a:xfrm>
          <a:prstGeom prst="round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0" y="3858768"/>
            <a:ext cx="1737360" cy="274320"/>
          </a:xfrm>
          <a:prstGeom prst="rect">
            <a:avLst/>
          </a:prstGeom>
          <a:noFill/>
        </p:spPr>
        <p:txBody>
          <a:bodyPr wrap="square">
            <a:spAutoFit/>
          </a:bodyPr>
          <a:lstStyle/>
          <a:p>
            <a:pPr algn="ctr">
              <a:defRPr sz="1000" b="1">
                <a:solidFill>
                  <a:srgbClr val="FFFFFF"/>
                </a:solidFill>
                <a:latin typeface="Calibri"/>
              </a:defRPr>
            </a:pPr>
            <a:r>
              <a:t>OWNED FALLBACK</a:t>
            </a:r>
          </a:p>
        </p:txBody>
      </p:sp>
      <p:sp>
        <p:nvSpPr>
          <p:cNvPr id="23" name="TextBox 22"/>
          <p:cNvSpPr txBox="1"/>
          <p:nvPr/>
        </p:nvSpPr>
        <p:spPr>
          <a:xfrm>
            <a:off x="8778240" y="4251960"/>
            <a:ext cx="2834640" cy="1463040"/>
          </a:xfrm>
          <a:prstGeom prst="rect">
            <a:avLst/>
          </a:prstGeom>
          <a:noFill/>
        </p:spPr>
        <p:txBody>
          <a:bodyPr wrap="square">
            <a:spAutoFit/>
          </a:bodyPr>
          <a:lstStyle/>
          <a:p>
            <a:pPr algn="ctr">
              <a:defRPr sz="1100" b="0">
                <a:solidFill>
                  <a:srgbClr val="333333"/>
                </a:solidFill>
                <a:latin typeface="Calibri"/>
              </a:defRPr>
            </a:pPr>
            <a:r>
              <a:t>Native wallet ledger</a:t>
            </a:r>
            <a:br/>
            <a:r>
              <a:t>FIUSD stablecoin</a:t>
            </a:r>
            <a:br/>
            <a:r>
              <a:t>$25M FDIC insurance</a:t>
            </a:r>
            <a:br/>
            <a:r>
              <a:t>Clover in-store path</a:t>
            </a:r>
          </a:p>
        </p:txBody>
      </p:sp>
      <p:sp>
        <p:nvSpPr>
          <p:cNvPr id="24" name="TextBox 23"/>
          <p:cNvSpPr txBox="1"/>
          <p:nvPr/>
        </p:nvSpPr>
        <p:spPr>
          <a:xfrm>
            <a:off x="731520" y="6126480"/>
            <a:ext cx="10972800" cy="365760"/>
          </a:xfrm>
          <a:prstGeom prst="rect">
            <a:avLst/>
          </a:prstGeom>
          <a:noFill/>
        </p:spPr>
        <p:txBody>
          <a:bodyPr wrap="square">
            <a:spAutoFit/>
          </a:bodyPr>
          <a:lstStyle/>
          <a:p>
            <a:pPr algn="ctr">
              <a:defRPr sz="1100" b="0">
                <a:solidFill>
                  <a:srgbClr val="9B9B9B"/>
                </a:solidFill>
                <a:latin typeface="Calibri"/>
              </a:defRPr>
            </a:pPr>
            <a:r>
              <a:t>Design Principles:  No provider &gt;40% volume  |  90-day termination clauses  |  Card-rail fallback on every transaction  |  Circuit breaker on depeg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640080"/>
          </a:xfrm>
          <a:prstGeom prst="rect">
            <a:avLst/>
          </a:prstGeom>
          <a:noFill/>
        </p:spPr>
        <p:txBody>
          <a:bodyPr wrap="square">
            <a:spAutoFit/>
          </a:bodyPr>
          <a:lstStyle/>
          <a:p>
            <a:pPr algn="l">
              <a:defRPr sz="3600" b="1">
                <a:solidFill>
                  <a:srgbClr val="003B5C"/>
                </a:solidFill>
                <a:latin typeface="Calibri"/>
              </a:defRPr>
            </a:pPr>
            <a:r>
              <a:t>Provider Scoring: 7 Requirements</a:t>
            </a:r>
          </a:p>
        </p:txBody>
      </p:sp>
      <p:graphicFrame>
        <p:nvGraphicFramePr>
          <p:cNvPr id="4" name="Table 3"/>
          <p:cNvGraphicFramePr>
            <a:graphicFrameLocks noGrp="1"/>
          </p:cNvGraphicFramePr>
          <p:nvPr/>
        </p:nvGraphicFramePr>
        <p:xfrm>
          <a:off x="548640" y="1188720"/>
          <a:ext cx="10241280" cy="4114800"/>
        </p:xfrm>
        <a:graphic>
          <a:graphicData uri="http://schemas.openxmlformats.org/drawingml/2006/table">
            <a:tbl>
              <a:tblPr firstRow="1" bandRow="1">
                <a:tableStyleId>{5C22544A-7EE6-4342-B048-85BDC9FD1C3A}</a:tableStyleId>
              </a:tblPr>
              <a:tblGrid>
                <a:gridCol w="2926080"/>
                <a:gridCol w="1828800"/>
                <a:gridCol w="1828800"/>
                <a:gridCol w="1828800"/>
                <a:gridCol w="1828800"/>
              </a:tblGrid>
              <a:tr h="457200">
                <a:tc>
                  <a:txBody>
                    <a:bodyPr/>
                    <a:lstStyle/>
                    <a:p>
                      <a:pPr>
                        <a:defRPr sz="1000" b="1">
                          <a:solidFill>
                            <a:srgbClr val="FFFFFF"/>
                          </a:solidFill>
                          <a:latin typeface="Calibri"/>
                        </a:defRPr>
                      </a:pPr>
                      <a:r>
                        <a:t>Requirement</a:t>
                      </a:r>
                    </a:p>
                  </a:txBody>
                  <a:tcPr anchor="ctr">
                    <a:solidFill>
                      <a:srgbClr val="003B5C"/>
                    </a:solidFill>
                  </a:tcPr>
                </a:tc>
                <a:tc>
                  <a:txBody>
                    <a:bodyPr/>
                    <a:lstStyle/>
                    <a:p>
                      <a:pPr>
                        <a:defRPr sz="1000" b="1">
                          <a:solidFill>
                            <a:srgbClr val="FFFFFF"/>
                          </a:solidFill>
                          <a:latin typeface="Calibri"/>
                        </a:defRPr>
                      </a:pPr>
                      <a:r>
                        <a:t>Coinbase</a:t>
                      </a:r>
                    </a:p>
                  </a:txBody>
                  <a:tcPr anchor="ctr">
                    <a:solidFill>
                      <a:srgbClr val="003B5C"/>
                    </a:solidFill>
                  </a:tcPr>
                </a:tc>
                <a:tc>
                  <a:txBody>
                    <a:bodyPr/>
                    <a:lstStyle/>
                    <a:p>
                      <a:pPr>
                        <a:defRPr sz="1000" b="1">
                          <a:solidFill>
                            <a:srgbClr val="FFFFFF"/>
                          </a:solidFill>
                          <a:latin typeface="Calibri"/>
                        </a:defRPr>
                      </a:pPr>
                      <a:r>
                        <a:t>Mesh</a:t>
                      </a:r>
                    </a:p>
                  </a:txBody>
                  <a:tcPr anchor="ctr">
                    <a:solidFill>
                      <a:srgbClr val="003B5C"/>
                    </a:solidFill>
                  </a:tcPr>
                </a:tc>
                <a:tc>
                  <a:txBody>
                    <a:bodyPr/>
                    <a:lstStyle/>
                    <a:p>
                      <a:pPr>
                        <a:defRPr sz="1000" b="1">
                          <a:solidFill>
                            <a:srgbClr val="FFFFFF"/>
                          </a:solidFill>
                          <a:latin typeface="Calibri"/>
                        </a:defRPr>
                      </a:pPr>
                      <a:r>
                        <a:t>Flexa*</a:t>
                      </a:r>
                    </a:p>
                  </a:txBody>
                  <a:tcPr anchor="ctr">
                    <a:solidFill>
                      <a:srgbClr val="003B5C"/>
                    </a:solidFill>
                  </a:tcPr>
                </a:tc>
                <a:tc>
                  <a:txBody>
                    <a:bodyPr/>
                    <a:lstStyle/>
                    <a:p>
                      <a:pPr>
                        <a:defRPr sz="1000" b="1">
                          <a:solidFill>
                            <a:srgbClr val="FFFFFF"/>
                          </a:solidFill>
                          <a:latin typeface="Calibri"/>
                        </a:defRPr>
                      </a:pPr>
                      <a:r>
                        <a:t>Heron*</a:t>
                      </a:r>
                    </a:p>
                  </a:txBody>
                  <a:tcPr anchor="ctr">
                    <a:solidFill>
                      <a:srgbClr val="003B5C"/>
                    </a:solidFill>
                  </a:tcPr>
                </a:tc>
              </a:tr>
              <a:tr h="457200">
                <a:tc>
                  <a:txBody>
                    <a:bodyPr/>
                    <a:lstStyle/>
                    <a:p>
                      <a:pPr>
                        <a:defRPr sz="1000">
                          <a:solidFill>
                            <a:srgbClr val="333333"/>
                          </a:solidFill>
                          <a:latin typeface="Calibri"/>
                        </a:defRPr>
                      </a:pPr>
                      <a:r>
                        <a:t>1. Crypto pay-in (global)</a:t>
                      </a:r>
                    </a:p>
                  </a:txBody>
                  <a:tcPr anchor="ctr">
                    <a:solidFill>
                      <a:srgbClr val="FFFFFF"/>
                    </a:solidFill>
                  </a:tcPr>
                </a:tc>
                <a:tc>
                  <a:txBody>
                    <a:bodyPr/>
                    <a:lstStyle/>
                    <a:p>
                      <a:pPr>
                        <a:defRPr sz="1000">
                          <a:solidFill>
                            <a:srgbClr val="333333"/>
                          </a:solidFill>
                          <a:latin typeface="Calibri"/>
                        </a:defRPr>
                      </a:pPr>
                      <a:r>
                        <a:t>9/10</a:t>
                      </a:r>
                    </a:p>
                  </a:txBody>
                  <a:tcPr anchor="ctr">
                    <a:solidFill>
                      <a:srgbClr val="FFFFFF"/>
                    </a:solidFill>
                  </a:tcPr>
                </a:tc>
                <a:tc>
                  <a:txBody>
                    <a:bodyPr/>
                    <a:lstStyle/>
                    <a:p>
                      <a:pPr>
                        <a:defRPr sz="1000">
                          <a:solidFill>
                            <a:srgbClr val="333333"/>
                          </a:solidFill>
                          <a:latin typeface="Calibri"/>
                        </a:defRPr>
                      </a:pPr>
                      <a:r>
                        <a:t>9/10</a:t>
                      </a:r>
                    </a:p>
                  </a:txBody>
                  <a:tcPr anchor="ctr">
                    <a:solidFill>
                      <a:srgbClr val="FFFFFF"/>
                    </a:solidFill>
                  </a:tcPr>
                </a:tc>
                <a:tc>
                  <a:txBody>
                    <a:bodyPr/>
                    <a:lstStyle/>
                    <a:p>
                      <a:pPr>
                        <a:defRPr sz="1000">
                          <a:solidFill>
                            <a:srgbClr val="333333"/>
                          </a:solidFill>
                          <a:latin typeface="Calibri"/>
                        </a:defRPr>
                      </a:pPr>
                      <a:r>
                        <a:t>7/10</a:t>
                      </a:r>
                    </a:p>
                  </a:txBody>
                  <a:tcPr anchor="ctr">
                    <a:solidFill>
                      <a:srgbClr val="FFFFFF"/>
                    </a:solidFill>
                  </a:tcPr>
                </a:tc>
                <a:tc>
                  <a:txBody>
                    <a:bodyPr/>
                    <a:lstStyle/>
                    <a:p>
                      <a:pPr>
                        <a:defRPr sz="1000">
                          <a:solidFill>
                            <a:srgbClr val="333333"/>
                          </a:solidFill>
                          <a:latin typeface="Calibri"/>
                        </a:defRPr>
                      </a:pPr>
                      <a:r>
                        <a:t>1/10</a:t>
                      </a:r>
                    </a:p>
                  </a:txBody>
                  <a:tcPr anchor="ctr">
                    <a:solidFill>
                      <a:srgbClr val="FFFFFF"/>
                    </a:solidFill>
                  </a:tcPr>
                </a:tc>
              </a:tr>
              <a:tr h="457200">
                <a:tc>
                  <a:txBody>
                    <a:bodyPr/>
                    <a:lstStyle/>
                    <a:p>
                      <a:pPr>
                        <a:defRPr sz="1000">
                          <a:solidFill>
                            <a:srgbClr val="333333"/>
                          </a:solidFill>
                          <a:latin typeface="Calibri"/>
                        </a:defRPr>
                      </a:pPr>
                      <a:r>
                        <a:t>2. Stablecoin pay-in (global)</a:t>
                      </a:r>
                    </a:p>
                  </a:txBody>
                  <a:tcPr anchor="ctr">
                    <a:solidFill>
                      <a:srgbClr val="F2F2F2"/>
                    </a:solidFill>
                  </a:tcPr>
                </a:tc>
                <a:tc>
                  <a:txBody>
                    <a:bodyPr/>
                    <a:lstStyle/>
                    <a:p>
                      <a:pPr>
                        <a:defRPr sz="1000">
                          <a:solidFill>
                            <a:srgbClr val="333333"/>
                          </a:solidFill>
                          <a:latin typeface="Calibri"/>
                        </a:defRPr>
                      </a:pPr>
                      <a:r>
                        <a:t>9/10</a:t>
                      </a:r>
                    </a:p>
                  </a:txBody>
                  <a:tcPr anchor="ctr">
                    <a:solidFill>
                      <a:srgbClr val="F2F2F2"/>
                    </a:solidFill>
                  </a:tcPr>
                </a:tc>
                <a:tc>
                  <a:txBody>
                    <a:bodyPr/>
                    <a:lstStyle/>
                    <a:p>
                      <a:pPr>
                        <a:defRPr sz="1000">
                          <a:solidFill>
                            <a:srgbClr val="333333"/>
                          </a:solidFill>
                          <a:latin typeface="Calibri"/>
                        </a:defRPr>
                      </a:pPr>
                      <a:r>
                        <a:t>8/10</a:t>
                      </a:r>
                    </a:p>
                  </a:txBody>
                  <a:tcPr anchor="ctr">
                    <a:solidFill>
                      <a:srgbClr val="F2F2F2"/>
                    </a:solidFill>
                  </a:tcPr>
                </a:tc>
                <a:tc>
                  <a:txBody>
                    <a:bodyPr/>
                    <a:lstStyle/>
                    <a:p>
                      <a:pPr>
                        <a:defRPr sz="1000">
                          <a:solidFill>
                            <a:srgbClr val="333333"/>
                          </a:solidFill>
                          <a:latin typeface="Calibri"/>
                        </a:defRPr>
                      </a:pPr>
                      <a:r>
                        <a:t>7/10</a:t>
                      </a:r>
                    </a:p>
                  </a:txBody>
                  <a:tcPr anchor="ctr">
                    <a:solidFill>
                      <a:srgbClr val="F2F2F2"/>
                    </a:solidFill>
                  </a:tcPr>
                </a:tc>
                <a:tc>
                  <a:txBody>
                    <a:bodyPr/>
                    <a:lstStyle/>
                    <a:p>
                      <a:pPr>
                        <a:defRPr sz="1000">
                          <a:solidFill>
                            <a:srgbClr val="333333"/>
                          </a:solidFill>
                          <a:latin typeface="Calibri"/>
                        </a:defRPr>
                      </a:pPr>
                      <a:r>
                        <a:t>3/10</a:t>
                      </a:r>
                    </a:p>
                  </a:txBody>
                  <a:tcPr anchor="ctr">
                    <a:solidFill>
                      <a:srgbClr val="F2F2F2"/>
                    </a:solidFill>
                  </a:tcPr>
                </a:tc>
              </a:tr>
              <a:tr h="457200">
                <a:tc>
                  <a:txBody>
                    <a:bodyPr/>
                    <a:lstStyle/>
                    <a:p>
                      <a:pPr>
                        <a:defRPr sz="1000">
                          <a:solidFill>
                            <a:srgbClr val="333333"/>
                          </a:solidFill>
                          <a:latin typeface="Calibri"/>
                        </a:defRPr>
                      </a:pPr>
                      <a:r>
                        <a:t>3. E-commerce + in-store</a:t>
                      </a:r>
                    </a:p>
                  </a:txBody>
                  <a:tcPr anchor="ctr">
                    <a:solidFill>
                      <a:srgbClr val="FFFFFF"/>
                    </a:solidFill>
                  </a:tcPr>
                </a:tc>
                <a:tc>
                  <a:txBody>
                    <a:bodyPr/>
                    <a:lstStyle/>
                    <a:p>
                      <a:pPr>
                        <a:defRPr sz="1000">
                          <a:solidFill>
                            <a:srgbClr val="333333"/>
                          </a:solidFill>
                          <a:latin typeface="Calibri"/>
                        </a:defRPr>
                      </a:pPr>
                      <a:r>
                        <a:t>5/10</a:t>
                      </a:r>
                    </a:p>
                  </a:txBody>
                  <a:tcPr anchor="ctr">
                    <a:solidFill>
                      <a:srgbClr val="FFFFFF"/>
                    </a:solidFill>
                  </a:tcPr>
                </a:tc>
                <a:tc>
                  <a:txBody>
                    <a:bodyPr/>
                    <a:lstStyle/>
                    <a:p>
                      <a:pPr>
                        <a:defRPr sz="1000">
                          <a:solidFill>
                            <a:srgbClr val="333333"/>
                          </a:solidFill>
                          <a:latin typeface="Calibri"/>
                        </a:defRPr>
                      </a:pPr>
                      <a:r>
                        <a:t>5/10</a:t>
                      </a:r>
                    </a:p>
                  </a:txBody>
                  <a:tcPr anchor="ctr">
                    <a:solidFill>
                      <a:srgbClr val="FFFFFF"/>
                    </a:solidFill>
                  </a:tcPr>
                </a:tc>
                <a:tc>
                  <a:txBody>
                    <a:bodyPr/>
                    <a:lstStyle/>
                    <a:p>
                      <a:pPr>
                        <a:defRPr sz="1000">
                          <a:solidFill>
                            <a:srgbClr val="333333"/>
                          </a:solidFill>
                          <a:latin typeface="Calibri"/>
                        </a:defRPr>
                      </a:pPr>
                      <a:r>
                        <a:t>7/10</a:t>
                      </a:r>
                    </a:p>
                  </a:txBody>
                  <a:tcPr anchor="ctr">
                    <a:solidFill>
                      <a:srgbClr val="FFFFFF"/>
                    </a:solidFill>
                  </a:tcPr>
                </a:tc>
                <a:tc>
                  <a:txBody>
                    <a:bodyPr/>
                    <a:lstStyle/>
                    <a:p>
                      <a:pPr>
                        <a:defRPr sz="1000">
                          <a:solidFill>
                            <a:srgbClr val="333333"/>
                          </a:solidFill>
                          <a:latin typeface="Calibri"/>
                        </a:defRPr>
                      </a:pPr>
                      <a:r>
                        <a:t>1/10</a:t>
                      </a:r>
                    </a:p>
                  </a:txBody>
                  <a:tcPr anchor="ctr">
                    <a:solidFill>
                      <a:srgbClr val="FFFFFF"/>
                    </a:solidFill>
                  </a:tcPr>
                </a:tc>
              </a:tr>
              <a:tr h="457200">
                <a:tc>
                  <a:txBody>
                    <a:bodyPr/>
                    <a:lstStyle/>
                    <a:p>
                      <a:pPr>
                        <a:defRPr sz="1000">
                          <a:solidFill>
                            <a:srgbClr val="333333"/>
                          </a:solidFill>
                          <a:latin typeface="Calibri"/>
                        </a:defRPr>
                      </a:pPr>
                      <a:r>
                        <a:t>4. Stablecoin disbursement</a:t>
                      </a:r>
                    </a:p>
                  </a:txBody>
                  <a:tcPr anchor="ctr">
                    <a:solidFill>
                      <a:srgbClr val="F2F2F2"/>
                    </a:solidFill>
                  </a:tcPr>
                </a:tc>
                <a:tc>
                  <a:txBody>
                    <a:bodyPr/>
                    <a:lstStyle/>
                    <a:p>
                      <a:pPr>
                        <a:defRPr sz="1000">
                          <a:solidFill>
                            <a:srgbClr val="333333"/>
                          </a:solidFill>
                          <a:latin typeface="Calibri"/>
                        </a:defRPr>
                      </a:pPr>
                      <a:r>
                        <a:t>8/10</a:t>
                      </a:r>
                    </a:p>
                  </a:txBody>
                  <a:tcPr anchor="ctr">
                    <a:solidFill>
                      <a:srgbClr val="F2F2F2"/>
                    </a:solidFill>
                  </a:tcPr>
                </a:tc>
                <a:tc>
                  <a:txBody>
                    <a:bodyPr/>
                    <a:lstStyle/>
                    <a:p>
                      <a:pPr>
                        <a:defRPr sz="1000">
                          <a:solidFill>
                            <a:srgbClr val="333333"/>
                          </a:solidFill>
                          <a:latin typeface="Calibri"/>
                        </a:defRPr>
                      </a:pPr>
                      <a:r>
                        <a:t>4/10</a:t>
                      </a:r>
                    </a:p>
                  </a:txBody>
                  <a:tcPr anchor="ctr">
                    <a:solidFill>
                      <a:srgbClr val="F2F2F2"/>
                    </a:solidFill>
                  </a:tcPr>
                </a:tc>
                <a:tc>
                  <a:txBody>
                    <a:bodyPr/>
                    <a:lstStyle/>
                    <a:p>
                      <a:pPr>
                        <a:defRPr sz="1000">
                          <a:solidFill>
                            <a:srgbClr val="333333"/>
                          </a:solidFill>
                          <a:latin typeface="Calibri"/>
                        </a:defRPr>
                      </a:pPr>
                      <a:r>
                        <a:t>2/10</a:t>
                      </a:r>
                    </a:p>
                  </a:txBody>
                  <a:tcPr anchor="ctr">
                    <a:solidFill>
                      <a:srgbClr val="F2F2F2"/>
                    </a:solidFill>
                  </a:tcPr>
                </a:tc>
                <a:tc>
                  <a:txBody>
                    <a:bodyPr/>
                    <a:lstStyle/>
                    <a:p>
                      <a:pPr>
                        <a:defRPr sz="1000">
                          <a:solidFill>
                            <a:srgbClr val="333333"/>
                          </a:solidFill>
                          <a:latin typeface="Calibri"/>
                        </a:defRPr>
                      </a:pPr>
                      <a:r>
                        <a:t>5/10</a:t>
                      </a:r>
                    </a:p>
                  </a:txBody>
                  <a:tcPr anchor="ctr">
                    <a:solidFill>
                      <a:srgbClr val="F2F2F2"/>
                    </a:solidFill>
                  </a:tcPr>
                </a:tc>
              </a:tr>
              <a:tr h="457200">
                <a:tc>
                  <a:txBody>
                    <a:bodyPr/>
                    <a:lstStyle/>
                    <a:p>
                      <a:pPr>
                        <a:defRPr sz="1000">
                          <a:solidFill>
                            <a:srgbClr val="333333"/>
                          </a:solidFill>
                          <a:latin typeface="Calibri"/>
                        </a:defRPr>
                      </a:pPr>
                      <a:r>
                        <a:t>5. Wallet storage on Finxact</a:t>
                      </a:r>
                    </a:p>
                  </a:txBody>
                  <a:tcPr anchor="ctr">
                    <a:solidFill>
                      <a:srgbClr val="FFFFFF"/>
                    </a:solidFill>
                  </a:tcPr>
                </a:tc>
                <a:tc>
                  <a:txBody>
                    <a:bodyPr/>
                    <a:lstStyle/>
                    <a:p>
                      <a:pPr>
                        <a:defRPr sz="1000">
                          <a:solidFill>
                            <a:srgbClr val="333333"/>
                          </a:solidFill>
                          <a:latin typeface="Calibri"/>
                        </a:defRPr>
                      </a:pPr>
                      <a:r>
                        <a:t>9/10</a:t>
                      </a:r>
                    </a:p>
                  </a:txBody>
                  <a:tcPr anchor="ctr">
                    <a:solidFill>
                      <a:srgbClr val="FFFFFF"/>
                    </a:solidFill>
                  </a:tcPr>
                </a:tc>
                <a:tc>
                  <a:txBody>
                    <a:bodyPr/>
                    <a:lstStyle/>
                    <a:p>
                      <a:pPr>
                        <a:defRPr sz="1000">
                          <a:solidFill>
                            <a:srgbClr val="333333"/>
                          </a:solidFill>
                          <a:latin typeface="Calibri"/>
                        </a:defRPr>
                      </a:pPr>
                      <a:r>
                        <a:t>4/10</a:t>
                      </a:r>
                    </a:p>
                  </a:txBody>
                  <a:tcPr anchor="ctr">
                    <a:solidFill>
                      <a:srgbClr val="FFFFFF"/>
                    </a:solidFill>
                  </a:tcPr>
                </a:tc>
                <a:tc>
                  <a:txBody>
                    <a:bodyPr/>
                    <a:lstStyle/>
                    <a:p>
                      <a:pPr>
                        <a:defRPr sz="1000">
                          <a:solidFill>
                            <a:srgbClr val="333333"/>
                          </a:solidFill>
                          <a:latin typeface="Calibri"/>
                        </a:defRPr>
                      </a:pPr>
                      <a:r>
                        <a:t>2/10</a:t>
                      </a:r>
                    </a:p>
                  </a:txBody>
                  <a:tcPr anchor="ctr">
                    <a:solidFill>
                      <a:srgbClr val="FFFFFF"/>
                    </a:solidFill>
                  </a:tcPr>
                </a:tc>
                <a:tc>
                  <a:txBody>
                    <a:bodyPr/>
                    <a:lstStyle/>
                    <a:p>
                      <a:pPr>
                        <a:defRPr sz="1000">
                          <a:solidFill>
                            <a:srgbClr val="333333"/>
                          </a:solidFill>
                          <a:latin typeface="Calibri"/>
                        </a:defRPr>
                      </a:pPr>
                      <a:r>
                        <a:t>2/10</a:t>
                      </a:r>
                    </a:p>
                  </a:txBody>
                  <a:tcPr anchor="ctr">
                    <a:solidFill>
                      <a:srgbClr val="FFFFFF"/>
                    </a:solidFill>
                  </a:tcPr>
                </a:tc>
              </a:tr>
              <a:tr h="457200">
                <a:tc>
                  <a:txBody>
                    <a:bodyPr/>
                    <a:lstStyle/>
                    <a:p>
                      <a:pPr>
                        <a:defRPr sz="1000">
                          <a:solidFill>
                            <a:srgbClr val="333333"/>
                          </a:solidFill>
                          <a:latin typeface="Calibri"/>
                        </a:defRPr>
                      </a:pPr>
                      <a:r>
                        <a:t>6. Stablecoin-to-fiat</a:t>
                      </a:r>
                    </a:p>
                  </a:txBody>
                  <a:tcPr anchor="ctr">
                    <a:solidFill>
                      <a:srgbClr val="F2F2F2"/>
                    </a:solidFill>
                  </a:tcPr>
                </a:tc>
                <a:tc>
                  <a:txBody>
                    <a:bodyPr/>
                    <a:lstStyle/>
                    <a:p>
                      <a:pPr>
                        <a:defRPr sz="1000">
                          <a:solidFill>
                            <a:srgbClr val="333333"/>
                          </a:solidFill>
                          <a:latin typeface="Calibri"/>
                        </a:defRPr>
                      </a:pPr>
                      <a:r>
                        <a:t>9/10</a:t>
                      </a:r>
                    </a:p>
                  </a:txBody>
                  <a:tcPr anchor="ctr">
                    <a:solidFill>
                      <a:srgbClr val="F2F2F2"/>
                    </a:solidFill>
                  </a:tcPr>
                </a:tc>
                <a:tc>
                  <a:txBody>
                    <a:bodyPr/>
                    <a:lstStyle/>
                    <a:p>
                      <a:pPr>
                        <a:defRPr sz="1000">
                          <a:solidFill>
                            <a:srgbClr val="333333"/>
                          </a:solidFill>
                          <a:latin typeface="Calibri"/>
                        </a:defRPr>
                      </a:pPr>
                      <a:r>
                        <a:t>8/10</a:t>
                      </a:r>
                    </a:p>
                  </a:txBody>
                  <a:tcPr anchor="ctr">
                    <a:solidFill>
                      <a:srgbClr val="F2F2F2"/>
                    </a:solidFill>
                  </a:tcPr>
                </a:tc>
                <a:tc>
                  <a:txBody>
                    <a:bodyPr/>
                    <a:lstStyle/>
                    <a:p>
                      <a:pPr>
                        <a:defRPr sz="1000">
                          <a:solidFill>
                            <a:srgbClr val="333333"/>
                          </a:solidFill>
                          <a:latin typeface="Calibri"/>
                        </a:defRPr>
                      </a:pPr>
                      <a:r>
                        <a:t>8/10</a:t>
                      </a:r>
                    </a:p>
                  </a:txBody>
                  <a:tcPr anchor="ctr">
                    <a:solidFill>
                      <a:srgbClr val="F2F2F2"/>
                    </a:solidFill>
                  </a:tcPr>
                </a:tc>
                <a:tc>
                  <a:txBody>
                    <a:bodyPr/>
                    <a:lstStyle/>
                    <a:p>
                      <a:pPr>
                        <a:defRPr sz="1000">
                          <a:solidFill>
                            <a:srgbClr val="333333"/>
                          </a:solidFill>
                          <a:latin typeface="Calibri"/>
                        </a:defRPr>
                      </a:pPr>
                      <a:r>
                        <a:t>4/10</a:t>
                      </a:r>
                    </a:p>
                  </a:txBody>
                  <a:tcPr anchor="ctr">
                    <a:solidFill>
                      <a:srgbClr val="F2F2F2"/>
                    </a:solidFill>
                  </a:tcPr>
                </a:tc>
              </a:tr>
              <a:tr h="457200">
                <a:tc>
                  <a:txBody>
                    <a:bodyPr/>
                    <a:lstStyle/>
                    <a:p>
                      <a:pPr>
                        <a:defRPr sz="1000">
                          <a:solidFill>
                            <a:srgbClr val="333333"/>
                          </a:solidFill>
                          <a:latin typeface="Calibri"/>
                        </a:defRPr>
                      </a:pPr>
                      <a:r>
                        <a:t>7. Any crypto-to-fiat (global)</a:t>
                      </a:r>
                    </a:p>
                  </a:txBody>
                  <a:tcPr anchor="ctr">
                    <a:solidFill>
                      <a:srgbClr val="FFFFFF"/>
                    </a:solidFill>
                  </a:tcPr>
                </a:tc>
                <a:tc>
                  <a:txBody>
                    <a:bodyPr/>
                    <a:lstStyle/>
                    <a:p>
                      <a:pPr>
                        <a:defRPr sz="1000">
                          <a:solidFill>
                            <a:srgbClr val="333333"/>
                          </a:solidFill>
                          <a:latin typeface="Calibri"/>
                        </a:defRPr>
                      </a:pPr>
                      <a:r>
                        <a:t>7/10</a:t>
                      </a:r>
                    </a:p>
                  </a:txBody>
                  <a:tcPr anchor="ctr">
                    <a:solidFill>
                      <a:srgbClr val="FFFFFF"/>
                    </a:solidFill>
                  </a:tcPr>
                </a:tc>
                <a:tc>
                  <a:txBody>
                    <a:bodyPr/>
                    <a:lstStyle/>
                    <a:p>
                      <a:pPr>
                        <a:defRPr sz="1000">
                          <a:solidFill>
                            <a:srgbClr val="333333"/>
                          </a:solidFill>
                          <a:latin typeface="Calibri"/>
                        </a:defRPr>
                      </a:pPr>
                      <a:r>
                        <a:t>9/10</a:t>
                      </a:r>
                    </a:p>
                  </a:txBody>
                  <a:tcPr anchor="ctr">
                    <a:solidFill>
                      <a:srgbClr val="FFFFFF"/>
                    </a:solidFill>
                  </a:tcPr>
                </a:tc>
                <a:tc>
                  <a:txBody>
                    <a:bodyPr/>
                    <a:lstStyle/>
                    <a:p>
                      <a:pPr>
                        <a:defRPr sz="1000">
                          <a:solidFill>
                            <a:srgbClr val="333333"/>
                          </a:solidFill>
                          <a:latin typeface="Calibri"/>
                        </a:defRPr>
                      </a:pPr>
                      <a:r>
                        <a:t>8/10</a:t>
                      </a:r>
                    </a:p>
                  </a:txBody>
                  <a:tcPr anchor="ctr">
                    <a:solidFill>
                      <a:srgbClr val="FFFFFF"/>
                    </a:solidFill>
                  </a:tcPr>
                </a:tc>
                <a:tc>
                  <a:txBody>
                    <a:bodyPr/>
                    <a:lstStyle/>
                    <a:p>
                      <a:pPr>
                        <a:defRPr sz="1000">
                          <a:solidFill>
                            <a:srgbClr val="333333"/>
                          </a:solidFill>
                          <a:latin typeface="Calibri"/>
                        </a:defRPr>
                      </a:pPr>
                      <a:r>
                        <a:t>1/10</a:t>
                      </a:r>
                    </a:p>
                  </a:txBody>
                  <a:tcPr anchor="ctr">
                    <a:solidFill>
                      <a:srgbClr val="FFFFFF"/>
                    </a:solidFill>
                  </a:tcPr>
                </a:tc>
              </a:tr>
              <a:tr h="457200">
                <a:tc>
                  <a:txBody>
                    <a:bodyPr/>
                    <a:lstStyle/>
                    <a:p>
                      <a:pPr>
                        <a:defRPr sz="1000">
                          <a:solidFill>
                            <a:srgbClr val="333333"/>
                          </a:solidFill>
                          <a:latin typeface="Calibri"/>
                        </a:defRPr>
                      </a:pPr>
                      <a:r>
                        <a:t>TOTAL</a:t>
                      </a:r>
                    </a:p>
                  </a:txBody>
                  <a:tcPr anchor="ctr">
                    <a:solidFill>
                      <a:srgbClr val="F2F2F2"/>
                    </a:solidFill>
                  </a:tcPr>
                </a:tc>
                <a:tc>
                  <a:txBody>
                    <a:bodyPr/>
                    <a:lstStyle/>
                    <a:p>
                      <a:pPr>
                        <a:defRPr sz="1000">
                          <a:solidFill>
                            <a:srgbClr val="333333"/>
                          </a:solidFill>
                          <a:latin typeface="Calibri"/>
                        </a:defRPr>
                      </a:pPr>
                      <a:r>
                        <a:t>56/70</a:t>
                      </a:r>
                    </a:p>
                  </a:txBody>
                  <a:tcPr anchor="ctr">
                    <a:solidFill>
                      <a:srgbClr val="F2F2F2"/>
                    </a:solidFill>
                  </a:tcPr>
                </a:tc>
                <a:tc>
                  <a:txBody>
                    <a:bodyPr/>
                    <a:lstStyle/>
                    <a:p>
                      <a:pPr>
                        <a:defRPr sz="1000">
                          <a:solidFill>
                            <a:srgbClr val="333333"/>
                          </a:solidFill>
                          <a:latin typeface="Calibri"/>
                        </a:defRPr>
                      </a:pPr>
                      <a:r>
                        <a:t>47/70</a:t>
                      </a:r>
                    </a:p>
                  </a:txBody>
                  <a:tcPr anchor="ctr">
                    <a:solidFill>
                      <a:srgbClr val="F2F2F2"/>
                    </a:solidFill>
                  </a:tcPr>
                </a:tc>
                <a:tc>
                  <a:txBody>
                    <a:bodyPr/>
                    <a:lstStyle/>
                    <a:p>
                      <a:pPr>
                        <a:defRPr sz="1000">
                          <a:solidFill>
                            <a:srgbClr val="333333"/>
                          </a:solidFill>
                          <a:latin typeface="Calibri"/>
                        </a:defRPr>
                      </a:pPr>
                      <a:r>
                        <a:t>41/70</a:t>
                      </a:r>
                    </a:p>
                  </a:txBody>
                  <a:tcPr anchor="ctr">
                    <a:solidFill>
                      <a:srgbClr val="F2F2F2"/>
                    </a:solidFill>
                  </a:tcPr>
                </a:tc>
                <a:tc>
                  <a:txBody>
                    <a:bodyPr/>
                    <a:lstStyle/>
                    <a:p>
                      <a:pPr>
                        <a:defRPr sz="1000">
                          <a:solidFill>
                            <a:srgbClr val="333333"/>
                          </a:solidFill>
                          <a:latin typeface="Calibri"/>
                        </a:defRPr>
                      </a:pPr>
                      <a:r>
                        <a:t>17/70</a:t>
                      </a:r>
                    </a:p>
                  </a:txBody>
                  <a:tcPr anchor="ctr">
                    <a:solidFill>
                      <a:srgbClr val="F2F2F2"/>
                    </a:solidFill>
                  </a:tcPr>
                </a:tc>
              </a:tr>
            </a:tbl>
          </a:graphicData>
        </a:graphic>
      </p:graphicFrame>
      <p:sp>
        <p:nvSpPr>
          <p:cNvPr id="5" name="Rounded Rectangle 4"/>
          <p:cNvSpPr/>
          <p:nvPr/>
        </p:nvSpPr>
        <p:spPr>
          <a:xfrm>
            <a:off x="731520" y="5486400"/>
            <a:ext cx="5029200" cy="100584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5577840"/>
            <a:ext cx="4572000" cy="822960"/>
          </a:xfrm>
          <a:prstGeom prst="rect">
            <a:avLst/>
          </a:prstGeom>
          <a:noFill/>
        </p:spPr>
        <p:txBody>
          <a:bodyPr wrap="square">
            <a:spAutoFit/>
          </a:bodyPr>
          <a:lstStyle/>
          <a:p>
            <a:pPr algn="l">
              <a:spcAft>
                <a:spcPts val="400"/>
              </a:spcAft>
              <a:defRPr sz="1200" b="1">
                <a:solidFill>
                  <a:srgbClr val="C62828"/>
                </a:solidFill>
                <a:latin typeface="Calibri"/>
              </a:defRPr>
            </a:pPr>
            <a:r>
              <a:t>*Flexa Removed:</a:t>
            </a:r>
          </a:p>
          <a:p>
            <a:pPr algn="l">
              <a:spcAft>
                <a:spcPts val="400"/>
              </a:spcAft>
              <a:defRPr sz="1000" b="0">
                <a:solidFill>
                  <a:srgbClr val="333333"/>
                </a:solidFill>
                <a:latin typeface="Calibri"/>
              </a:defRPr>
            </a:pPr>
            <a:r>
              <a:t>AMP token lost 98% of value. Only $14.1M raised after 7+ years. US/Canada only. No Clover integration confirmed.</a:t>
            </a:r>
          </a:p>
        </p:txBody>
      </p:sp>
      <p:sp>
        <p:nvSpPr>
          <p:cNvPr id="7" name="Rounded Rectangle 6"/>
          <p:cNvSpPr/>
          <p:nvPr/>
        </p:nvSpPr>
        <p:spPr>
          <a:xfrm>
            <a:off x="6217920" y="5486400"/>
            <a:ext cx="5212080" cy="100584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5577840"/>
            <a:ext cx="4754880" cy="822960"/>
          </a:xfrm>
          <a:prstGeom prst="rect">
            <a:avLst/>
          </a:prstGeom>
          <a:noFill/>
        </p:spPr>
        <p:txBody>
          <a:bodyPr wrap="square">
            <a:spAutoFit/>
          </a:bodyPr>
          <a:lstStyle/>
          <a:p>
            <a:pPr algn="l">
              <a:spcAft>
                <a:spcPts val="400"/>
              </a:spcAft>
              <a:defRPr sz="1200" b="1">
                <a:solidFill>
                  <a:srgbClr val="C62828"/>
                </a:solidFill>
                <a:latin typeface="Calibri"/>
              </a:defRPr>
            </a:pPr>
            <a:r>
              <a:t>*Heron Removed:</a:t>
            </a:r>
          </a:p>
          <a:p>
            <a:pPr algn="l">
              <a:spcAft>
                <a:spcPts val="400"/>
              </a:spcAft>
              <a:defRPr sz="1000" b="0">
                <a:solidFill>
                  <a:srgbClr val="333333"/>
                </a:solidFill>
                <a:latin typeface="Calibri"/>
              </a:defRPr>
            </a:pPr>
            <a:r>
              <a:t>Zero verifiable funding, team, customers, or certifications. Three different companies share the name. Cannot be evaluated.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640080"/>
          </a:xfrm>
          <a:prstGeom prst="rect">
            <a:avLst/>
          </a:prstGeom>
          <a:noFill/>
        </p:spPr>
        <p:txBody>
          <a:bodyPr wrap="square">
            <a:spAutoFit/>
          </a:bodyPr>
          <a:lstStyle/>
          <a:p>
            <a:pPr algn="l">
              <a:defRPr sz="3600" b="1">
                <a:solidFill>
                  <a:srgbClr val="003B5C"/>
                </a:solidFill>
                <a:latin typeface="Calibri"/>
              </a:defRPr>
            </a:pPr>
            <a:r>
              <a:t>Security &amp; Compliance Comparison</a:t>
            </a:r>
          </a:p>
        </p:txBody>
      </p:sp>
      <p:graphicFrame>
        <p:nvGraphicFramePr>
          <p:cNvPr id="4" name="Table 3"/>
          <p:cNvGraphicFramePr>
            <a:graphicFrameLocks noGrp="1"/>
          </p:cNvGraphicFramePr>
          <p:nvPr/>
        </p:nvGraphicFramePr>
        <p:xfrm>
          <a:off x="457200" y="1188720"/>
          <a:ext cx="11155680" cy="4389120"/>
        </p:xfrm>
        <a:graphic>
          <a:graphicData uri="http://schemas.openxmlformats.org/drawingml/2006/table">
            <a:tbl>
              <a:tblPr firstRow="1" bandRow="1">
                <a:tableStyleId>{5C22544A-7EE6-4342-B048-85BDC9FD1C3A}</a:tableStyleId>
              </a:tblPr>
              <a:tblGrid>
                <a:gridCol w="2011680"/>
                <a:gridCol w="2286000"/>
                <a:gridCol w="2286000"/>
                <a:gridCol w="2286000"/>
                <a:gridCol w="2286000"/>
              </a:tblGrid>
              <a:tr h="487680">
                <a:tc>
                  <a:txBody>
                    <a:bodyPr/>
                    <a:lstStyle/>
                    <a:p>
                      <a:pPr>
                        <a:defRPr sz="1000" b="1">
                          <a:solidFill>
                            <a:srgbClr val="FFFFFF"/>
                          </a:solidFill>
                          <a:latin typeface="Calibri"/>
                        </a:defRPr>
                      </a:pPr>
                      <a:r>
                        <a:t>Dimension</a:t>
                      </a:r>
                    </a:p>
                  </a:txBody>
                  <a:tcPr anchor="ctr">
                    <a:solidFill>
                      <a:srgbClr val="003B5C"/>
                    </a:solidFill>
                  </a:tcPr>
                </a:tc>
                <a:tc>
                  <a:txBody>
                    <a:bodyPr/>
                    <a:lstStyle/>
                    <a:p>
                      <a:pPr>
                        <a:defRPr sz="1000" b="1">
                          <a:solidFill>
                            <a:srgbClr val="FFFFFF"/>
                          </a:solidFill>
                          <a:latin typeface="Calibri"/>
                        </a:defRPr>
                      </a:pPr>
                      <a:r>
                        <a:t>Coinbase</a:t>
                      </a:r>
                    </a:p>
                  </a:txBody>
                  <a:tcPr anchor="ctr">
                    <a:solidFill>
                      <a:srgbClr val="003B5C"/>
                    </a:solidFill>
                  </a:tcPr>
                </a:tc>
                <a:tc>
                  <a:txBody>
                    <a:bodyPr/>
                    <a:lstStyle/>
                    <a:p>
                      <a:pPr>
                        <a:defRPr sz="1000" b="1">
                          <a:solidFill>
                            <a:srgbClr val="FFFFFF"/>
                          </a:solidFill>
                          <a:latin typeface="Calibri"/>
                        </a:defRPr>
                      </a:pPr>
                      <a:r>
                        <a:t>Mesh</a:t>
                      </a:r>
                    </a:p>
                  </a:txBody>
                  <a:tcPr anchor="ctr">
                    <a:solidFill>
                      <a:srgbClr val="003B5C"/>
                    </a:solidFill>
                  </a:tcPr>
                </a:tc>
                <a:tc>
                  <a:txBody>
                    <a:bodyPr/>
                    <a:lstStyle/>
                    <a:p>
                      <a:pPr>
                        <a:defRPr sz="1000" b="1">
                          <a:solidFill>
                            <a:srgbClr val="FFFFFF"/>
                          </a:solidFill>
                          <a:latin typeface="Calibri"/>
                        </a:defRPr>
                      </a:pPr>
                      <a:r>
                        <a:t>Flexa</a:t>
                      </a:r>
                    </a:p>
                  </a:txBody>
                  <a:tcPr anchor="ctr">
                    <a:solidFill>
                      <a:srgbClr val="003B5C"/>
                    </a:solidFill>
                  </a:tcPr>
                </a:tc>
                <a:tc>
                  <a:txBody>
                    <a:bodyPr/>
                    <a:lstStyle/>
                    <a:p>
                      <a:pPr>
                        <a:defRPr sz="1000" b="1">
                          <a:solidFill>
                            <a:srgbClr val="FFFFFF"/>
                          </a:solidFill>
                          <a:latin typeface="Calibri"/>
                        </a:defRPr>
                      </a:pPr>
                      <a:r>
                        <a:t>Heron</a:t>
                      </a:r>
                    </a:p>
                  </a:txBody>
                  <a:tcPr anchor="ctr">
                    <a:solidFill>
                      <a:srgbClr val="003B5C"/>
                    </a:solidFill>
                  </a:tcPr>
                </a:tc>
              </a:tr>
              <a:tr h="487680">
                <a:tc>
                  <a:txBody>
                    <a:bodyPr/>
                    <a:lstStyle/>
                    <a:p>
                      <a:pPr>
                        <a:defRPr sz="1000">
                          <a:solidFill>
                            <a:srgbClr val="333333"/>
                          </a:solidFill>
                          <a:latin typeface="Calibri"/>
                        </a:defRPr>
                      </a:pPr>
                      <a:r>
                        <a:t>SOC 2 Type II</a:t>
                      </a:r>
                    </a:p>
                  </a:txBody>
                  <a:tcPr anchor="ctr">
                    <a:solidFill>
                      <a:srgbClr val="FFFFFF"/>
                    </a:solidFill>
                  </a:tcPr>
                </a:tc>
                <a:tc>
                  <a:txBody>
                    <a:bodyPr/>
                    <a:lstStyle/>
                    <a:p>
                      <a:pPr>
                        <a:defRPr sz="1000">
                          <a:solidFill>
                            <a:srgbClr val="333333"/>
                          </a:solidFill>
                          <a:latin typeface="Calibri"/>
                        </a:defRPr>
                      </a:pPr>
                      <a:r>
                        <a:t>Yes (Deloitte)</a:t>
                      </a:r>
                    </a:p>
                  </a:txBody>
                  <a:tcPr anchor="ctr">
                    <a:solidFill>
                      <a:srgbClr val="FFFFFF"/>
                    </a:solidFill>
                  </a:tcPr>
                </a:tc>
                <a:tc>
                  <a:txBody>
                    <a:bodyPr/>
                    <a:lstStyle/>
                    <a:p>
                      <a:pPr>
                        <a:defRPr sz="1000">
                          <a:solidFill>
                            <a:srgbClr val="333333"/>
                          </a:solidFill>
                          <a:latin typeface="Calibri"/>
                        </a:defRPr>
                      </a:pPr>
                      <a:r>
                        <a:t>Yes</a:t>
                      </a:r>
                    </a:p>
                  </a:txBody>
                  <a:tcPr anchor="ctr">
                    <a:solidFill>
                      <a:srgbClr val="FFFFFF"/>
                    </a:solidFill>
                  </a:tcPr>
                </a:tc>
                <a:tc>
                  <a:txBody>
                    <a:bodyPr/>
                    <a:lstStyle/>
                    <a:p>
                      <a:pPr>
                        <a:defRPr sz="1000">
                          <a:solidFill>
                            <a:srgbClr val="333333"/>
                          </a:solidFill>
                          <a:latin typeface="Calibri"/>
                        </a:defRPr>
                      </a:pPr>
                      <a:r>
                        <a:t>No</a:t>
                      </a:r>
                    </a:p>
                  </a:txBody>
                  <a:tcPr anchor="ctr">
                    <a:solidFill>
                      <a:srgbClr val="FFFFFF"/>
                    </a:solidFill>
                  </a:tcPr>
                </a:tc>
                <a:tc>
                  <a:txBody>
                    <a:bodyPr/>
                    <a:lstStyle/>
                    <a:p>
                      <a:pPr>
                        <a:defRPr sz="1000">
                          <a:solidFill>
                            <a:srgbClr val="333333"/>
                          </a:solidFill>
                          <a:latin typeface="Calibri"/>
                        </a:defRPr>
                      </a:pPr>
                      <a:r>
                        <a:t>No</a:t>
                      </a:r>
                    </a:p>
                  </a:txBody>
                  <a:tcPr anchor="ctr">
                    <a:solidFill>
                      <a:srgbClr val="FFFFFF"/>
                    </a:solidFill>
                  </a:tcPr>
                </a:tc>
              </a:tr>
              <a:tr h="487680">
                <a:tc>
                  <a:txBody>
                    <a:bodyPr/>
                    <a:lstStyle/>
                    <a:p>
                      <a:pPr>
                        <a:defRPr sz="1000">
                          <a:solidFill>
                            <a:srgbClr val="333333"/>
                          </a:solidFill>
                          <a:latin typeface="Calibri"/>
                        </a:defRPr>
                      </a:pPr>
                      <a:r>
                        <a:t>SOC 1 Type II</a:t>
                      </a:r>
                    </a:p>
                  </a:txBody>
                  <a:tcPr anchor="ctr">
                    <a:solidFill>
                      <a:srgbClr val="F2F2F2"/>
                    </a:solidFill>
                  </a:tcPr>
                </a:tc>
                <a:tc>
                  <a:txBody>
                    <a:bodyPr/>
                    <a:lstStyle/>
                    <a:p>
                      <a:pPr>
                        <a:defRPr sz="1000">
                          <a:solidFill>
                            <a:srgbClr val="333333"/>
                          </a:solidFill>
                          <a:latin typeface="Calibri"/>
                        </a:defRPr>
                      </a:pPr>
                      <a:r>
                        <a:t>Yes (Deloitte)</a:t>
                      </a:r>
                    </a:p>
                  </a:txBody>
                  <a:tcPr anchor="ctr">
                    <a:solidFill>
                      <a:srgbClr val="F2F2F2"/>
                    </a:solidFill>
                  </a:tcPr>
                </a:tc>
                <a:tc>
                  <a:txBody>
                    <a:bodyPr/>
                    <a:lstStyle/>
                    <a:p>
                      <a:pPr>
                        <a:defRPr sz="1000">
                          <a:solidFill>
                            <a:srgbClr val="333333"/>
                          </a:solidFill>
                          <a:latin typeface="Calibri"/>
                        </a:defRPr>
                      </a:pPr>
                      <a:r>
                        <a:t>No</a:t>
                      </a:r>
                    </a:p>
                  </a:txBody>
                  <a:tcPr anchor="ctr">
                    <a:solidFill>
                      <a:srgbClr val="F2F2F2"/>
                    </a:solidFill>
                  </a:tcPr>
                </a:tc>
                <a:tc>
                  <a:txBody>
                    <a:bodyPr/>
                    <a:lstStyle/>
                    <a:p>
                      <a:pPr>
                        <a:defRPr sz="1000">
                          <a:solidFill>
                            <a:srgbClr val="333333"/>
                          </a:solidFill>
                          <a:latin typeface="Calibri"/>
                        </a:defRPr>
                      </a:pPr>
                      <a:r>
                        <a:t>No</a:t>
                      </a:r>
                    </a:p>
                  </a:txBody>
                  <a:tcPr anchor="ctr">
                    <a:solidFill>
                      <a:srgbClr val="F2F2F2"/>
                    </a:solidFill>
                  </a:tcPr>
                </a:tc>
                <a:tc>
                  <a:txBody>
                    <a:bodyPr/>
                    <a:lstStyle/>
                    <a:p>
                      <a:pPr>
                        <a:defRPr sz="1000">
                          <a:solidFill>
                            <a:srgbClr val="333333"/>
                          </a:solidFill>
                          <a:latin typeface="Calibri"/>
                        </a:defRPr>
                      </a:pPr>
                      <a:r>
                        <a:t>No</a:t>
                      </a:r>
                    </a:p>
                  </a:txBody>
                  <a:tcPr anchor="ctr">
                    <a:solidFill>
                      <a:srgbClr val="F2F2F2"/>
                    </a:solidFill>
                  </a:tcPr>
                </a:tc>
              </a:tr>
              <a:tr h="487680">
                <a:tc>
                  <a:txBody>
                    <a:bodyPr/>
                    <a:lstStyle/>
                    <a:p>
                      <a:pPr>
                        <a:defRPr sz="1000">
                          <a:solidFill>
                            <a:srgbClr val="333333"/>
                          </a:solidFill>
                          <a:latin typeface="Calibri"/>
                        </a:defRPr>
                      </a:pPr>
                      <a:r>
                        <a:t>Insurance</a:t>
                      </a:r>
                    </a:p>
                  </a:txBody>
                  <a:tcPr anchor="ctr">
                    <a:solidFill>
                      <a:srgbClr val="FFFFFF"/>
                    </a:solidFill>
                  </a:tcPr>
                </a:tc>
                <a:tc>
                  <a:txBody>
                    <a:bodyPr/>
                    <a:lstStyle/>
                    <a:p>
                      <a:pPr>
                        <a:defRPr sz="1000">
                          <a:solidFill>
                            <a:srgbClr val="333333"/>
                          </a:solidFill>
                          <a:latin typeface="Calibri"/>
                        </a:defRPr>
                      </a:pPr>
                      <a:r>
                        <a:t>$320M Lloyd's</a:t>
                      </a:r>
                    </a:p>
                  </a:txBody>
                  <a:tcPr anchor="ctr">
                    <a:solidFill>
                      <a:srgbClr val="FFFFFF"/>
                    </a:solidFill>
                  </a:tcPr>
                </a:tc>
                <a:tc>
                  <a:txBody>
                    <a:bodyPr/>
                    <a:lstStyle/>
                    <a:p>
                      <a:pPr>
                        <a:defRPr sz="1000">
                          <a:solidFill>
                            <a:srgbClr val="333333"/>
                          </a:solidFill>
                          <a:latin typeface="Calibri"/>
                        </a:defRPr>
                      </a:pPr>
                      <a:r>
                        <a:t>None</a:t>
                      </a:r>
                    </a:p>
                  </a:txBody>
                  <a:tcPr anchor="ctr">
                    <a:solidFill>
                      <a:srgbClr val="FFFFFF"/>
                    </a:solidFill>
                  </a:tcPr>
                </a:tc>
                <a:tc>
                  <a:txBody>
                    <a:bodyPr/>
                    <a:lstStyle/>
                    <a:p>
                      <a:pPr>
                        <a:defRPr sz="1000">
                          <a:solidFill>
                            <a:srgbClr val="333333"/>
                          </a:solidFill>
                          <a:latin typeface="Calibri"/>
                        </a:defRPr>
                      </a:pPr>
                      <a:r>
                        <a:t>AMP collateral</a:t>
                      </a:r>
                    </a:p>
                  </a:txBody>
                  <a:tcPr anchor="ctr">
                    <a:solidFill>
                      <a:srgbClr val="FFFFFF"/>
                    </a:solidFill>
                  </a:tcPr>
                </a:tc>
                <a:tc>
                  <a:txBody>
                    <a:bodyPr/>
                    <a:lstStyle/>
                    <a:p>
                      <a:pPr>
                        <a:defRPr sz="1000">
                          <a:solidFill>
                            <a:srgbClr val="333333"/>
                          </a:solidFill>
                          <a:latin typeface="Calibri"/>
                        </a:defRPr>
                      </a:pPr>
                      <a:r>
                        <a:t>None</a:t>
                      </a:r>
                    </a:p>
                  </a:txBody>
                  <a:tcPr anchor="ctr">
                    <a:solidFill>
                      <a:srgbClr val="FFFFFF"/>
                    </a:solidFill>
                  </a:tcPr>
                </a:tc>
              </a:tr>
              <a:tr h="487680">
                <a:tc>
                  <a:txBody>
                    <a:bodyPr/>
                    <a:lstStyle/>
                    <a:p>
                      <a:pPr>
                        <a:defRPr sz="1000">
                          <a:solidFill>
                            <a:srgbClr val="333333"/>
                          </a:solidFill>
                          <a:latin typeface="Calibri"/>
                        </a:defRPr>
                      </a:pPr>
                      <a:r>
                        <a:t>Assets Custody</a:t>
                      </a:r>
                    </a:p>
                  </a:txBody>
                  <a:tcPr anchor="ctr">
                    <a:solidFill>
                      <a:srgbClr val="F2F2F2"/>
                    </a:solidFill>
                  </a:tcPr>
                </a:tc>
                <a:tc>
                  <a:txBody>
                    <a:bodyPr/>
                    <a:lstStyle/>
                    <a:p>
                      <a:pPr>
                        <a:defRPr sz="1000">
                          <a:solidFill>
                            <a:srgbClr val="333333"/>
                          </a:solidFill>
                          <a:latin typeface="Calibri"/>
                        </a:defRPr>
                      </a:pPr>
                      <a:r>
                        <a:t>$370B+</a:t>
                      </a:r>
                    </a:p>
                  </a:txBody>
                  <a:tcPr anchor="ctr">
                    <a:solidFill>
                      <a:srgbClr val="F2F2F2"/>
                    </a:solidFill>
                  </a:tcPr>
                </a:tc>
                <a:tc>
                  <a:txBody>
                    <a:bodyPr/>
                    <a:lstStyle/>
                    <a:p>
                      <a:pPr>
                        <a:defRPr sz="1000">
                          <a:solidFill>
                            <a:srgbClr val="333333"/>
                          </a:solidFill>
                          <a:latin typeface="Calibri"/>
                        </a:defRPr>
                      </a:pPr>
                      <a:r>
                        <a:t>$0 (non-custodial)</a:t>
                      </a:r>
                    </a:p>
                  </a:txBody>
                  <a:tcPr anchor="ctr">
                    <a:solidFill>
                      <a:srgbClr val="F2F2F2"/>
                    </a:solidFill>
                  </a:tcPr>
                </a:tc>
                <a:tc>
                  <a:txBody>
                    <a:bodyPr/>
                    <a:lstStyle/>
                    <a:p>
                      <a:pPr>
                        <a:defRPr sz="1000">
                          <a:solidFill>
                            <a:srgbClr val="333333"/>
                          </a:solidFill>
                          <a:latin typeface="Calibri"/>
                        </a:defRPr>
                      </a:pPr>
                      <a:r>
                        <a:t>N/A</a:t>
                      </a:r>
                    </a:p>
                  </a:txBody>
                  <a:tcPr anchor="ctr">
                    <a:solidFill>
                      <a:srgbClr val="F2F2F2"/>
                    </a:solidFill>
                  </a:tcPr>
                </a:tc>
                <a:tc>
                  <a:txBody>
                    <a:bodyPr/>
                    <a:lstStyle/>
                    <a:p>
                      <a:pPr>
                        <a:defRPr sz="1000">
                          <a:solidFill>
                            <a:srgbClr val="333333"/>
                          </a:solidFill>
                          <a:latin typeface="Calibri"/>
                        </a:defRPr>
                      </a:pPr>
                      <a:r>
                        <a:t>$0</a:t>
                      </a:r>
                    </a:p>
                  </a:txBody>
                  <a:tcPr anchor="ctr">
                    <a:solidFill>
                      <a:srgbClr val="F2F2F2"/>
                    </a:solidFill>
                  </a:tcPr>
                </a:tc>
              </a:tr>
              <a:tr h="487680">
                <a:tc>
                  <a:txBody>
                    <a:bodyPr/>
                    <a:lstStyle/>
                    <a:p>
                      <a:pPr>
                        <a:defRPr sz="1000">
                          <a:solidFill>
                            <a:srgbClr val="333333"/>
                          </a:solidFill>
                          <a:latin typeface="Calibri"/>
                        </a:defRPr>
                      </a:pPr>
                      <a:r>
                        <a:t>US Licenses</a:t>
                      </a:r>
                    </a:p>
                  </a:txBody>
                  <a:tcPr anchor="ctr">
                    <a:solidFill>
                      <a:srgbClr val="FFFFFF"/>
                    </a:solidFill>
                  </a:tcPr>
                </a:tc>
                <a:tc>
                  <a:txBody>
                    <a:bodyPr/>
                    <a:lstStyle/>
                    <a:p>
                      <a:pPr>
                        <a:defRPr sz="1000">
                          <a:solidFill>
                            <a:srgbClr val="333333"/>
                          </a:solidFill>
                          <a:latin typeface="Calibri"/>
                        </a:defRPr>
                      </a:pPr>
                      <a:r>
                        <a:t>49 states + OCC</a:t>
                      </a:r>
                    </a:p>
                  </a:txBody>
                  <a:tcPr anchor="ctr">
                    <a:solidFill>
                      <a:srgbClr val="FFFFFF"/>
                    </a:solidFill>
                  </a:tcPr>
                </a:tc>
                <a:tc>
                  <a:txBody>
                    <a:bodyPr/>
                    <a:lstStyle/>
                    <a:p>
                      <a:pPr>
                        <a:defRPr sz="1000">
                          <a:solidFill>
                            <a:srgbClr val="333333"/>
                          </a:solidFill>
                          <a:latin typeface="Calibri"/>
                        </a:defRPr>
                      </a:pPr>
                      <a:r>
                        <a:t>None confirmed</a:t>
                      </a:r>
                    </a:p>
                  </a:txBody>
                  <a:tcPr anchor="ctr">
                    <a:solidFill>
                      <a:srgbClr val="FFFFFF"/>
                    </a:solidFill>
                  </a:tcPr>
                </a:tc>
                <a:tc>
                  <a:txBody>
                    <a:bodyPr/>
                    <a:lstStyle/>
                    <a:p>
                      <a:pPr>
                        <a:defRPr sz="1000">
                          <a:solidFill>
                            <a:srgbClr val="333333"/>
                          </a:solidFill>
                          <a:latin typeface="Calibri"/>
                        </a:defRPr>
                      </a:pPr>
                      <a:r>
                        <a:t>FinCEN MSB + MTLs</a:t>
                      </a:r>
                    </a:p>
                  </a:txBody>
                  <a:tcPr anchor="ctr">
                    <a:solidFill>
                      <a:srgbClr val="FFFFFF"/>
                    </a:solidFill>
                  </a:tcPr>
                </a:tc>
                <a:tc>
                  <a:txBody>
                    <a:bodyPr/>
                    <a:lstStyle/>
                    <a:p>
                      <a:pPr>
                        <a:defRPr sz="1000">
                          <a:solidFill>
                            <a:srgbClr val="333333"/>
                          </a:solidFill>
                          <a:latin typeface="Calibri"/>
                        </a:defRPr>
                      </a:pPr>
                      <a:r>
                        <a:t>None</a:t>
                      </a:r>
                    </a:p>
                  </a:txBody>
                  <a:tcPr anchor="ctr">
                    <a:solidFill>
                      <a:srgbClr val="FFFFFF"/>
                    </a:solidFill>
                  </a:tcPr>
                </a:tc>
              </a:tr>
              <a:tr h="487680">
                <a:tc>
                  <a:txBody>
                    <a:bodyPr/>
                    <a:lstStyle/>
                    <a:p>
                      <a:pPr>
                        <a:defRPr sz="1000">
                          <a:solidFill>
                            <a:srgbClr val="333333"/>
                          </a:solidFill>
                          <a:latin typeface="Calibri"/>
                        </a:defRPr>
                      </a:pPr>
                      <a:r>
                        <a:t>Int'l Licenses</a:t>
                      </a:r>
                    </a:p>
                  </a:txBody>
                  <a:tcPr anchor="ctr">
                    <a:solidFill>
                      <a:srgbClr val="F2F2F2"/>
                    </a:solidFill>
                  </a:tcPr>
                </a:tc>
                <a:tc>
                  <a:txBody>
                    <a:bodyPr/>
                    <a:lstStyle/>
                    <a:p>
                      <a:pPr>
                        <a:defRPr sz="1000">
                          <a:solidFill>
                            <a:srgbClr val="333333"/>
                          </a:solidFill>
                          <a:latin typeface="Calibri"/>
                        </a:defRPr>
                      </a:pPr>
                      <a:r>
                        <a:t>EU MiCA, SG, JP</a:t>
                      </a:r>
                    </a:p>
                  </a:txBody>
                  <a:tcPr anchor="ctr">
                    <a:solidFill>
                      <a:srgbClr val="F2F2F2"/>
                    </a:solidFill>
                  </a:tcPr>
                </a:tc>
                <a:tc>
                  <a:txBody>
                    <a:bodyPr/>
                    <a:lstStyle/>
                    <a:p>
                      <a:pPr>
                        <a:defRPr sz="1000">
                          <a:solidFill>
                            <a:srgbClr val="333333"/>
                          </a:solidFill>
                          <a:latin typeface="Calibri"/>
                        </a:defRPr>
                      </a:pPr>
                      <a:r>
                        <a:t>None confirmed</a:t>
                      </a:r>
                    </a:p>
                  </a:txBody>
                  <a:tcPr anchor="ctr">
                    <a:solidFill>
                      <a:srgbClr val="F2F2F2"/>
                    </a:solidFill>
                  </a:tcPr>
                </a:tc>
                <a:tc>
                  <a:txBody>
                    <a:bodyPr/>
                    <a:lstStyle/>
                    <a:p>
                      <a:pPr>
                        <a:defRPr sz="1000">
                          <a:solidFill>
                            <a:srgbClr val="333333"/>
                          </a:solidFill>
                          <a:latin typeface="Calibri"/>
                        </a:defRPr>
                      </a:pPr>
                      <a:r>
                        <a:t>None</a:t>
                      </a:r>
                    </a:p>
                  </a:txBody>
                  <a:tcPr anchor="ctr">
                    <a:solidFill>
                      <a:srgbClr val="F2F2F2"/>
                    </a:solidFill>
                  </a:tcPr>
                </a:tc>
                <a:tc>
                  <a:txBody>
                    <a:bodyPr/>
                    <a:lstStyle/>
                    <a:p>
                      <a:pPr>
                        <a:defRPr sz="1000">
                          <a:solidFill>
                            <a:srgbClr val="333333"/>
                          </a:solidFill>
                          <a:latin typeface="Calibri"/>
                        </a:defRPr>
                      </a:pPr>
                      <a:r>
                        <a:t>None</a:t>
                      </a:r>
                    </a:p>
                  </a:txBody>
                  <a:tcPr anchor="ctr">
                    <a:solidFill>
                      <a:srgbClr val="F2F2F2"/>
                    </a:solidFill>
                  </a:tcPr>
                </a:tc>
              </a:tr>
              <a:tr h="487680">
                <a:tc>
                  <a:txBody>
                    <a:bodyPr/>
                    <a:lstStyle/>
                    <a:p>
                      <a:pPr>
                        <a:defRPr sz="1000">
                          <a:solidFill>
                            <a:srgbClr val="333333"/>
                          </a:solidFill>
                          <a:latin typeface="Calibri"/>
                        </a:defRPr>
                      </a:pPr>
                      <a:r>
                        <a:t>KYC/AML</a:t>
                      </a:r>
                    </a:p>
                  </a:txBody>
                  <a:tcPr anchor="ctr">
                    <a:solidFill>
                      <a:srgbClr val="FFFFFF"/>
                    </a:solidFill>
                  </a:tcPr>
                </a:tc>
                <a:tc>
                  <a:txBody>
                    <a:bodyPr/>
                    <a:lstStyle/>
                    <a:p>
                      <a:pPr>
                        <a:defRPr sz="1000">
                          <a:solidFill>
                            <a:srgbClr val="333333"/>
                          </a:solidFill>
                          <a:latin typeface="Calibri"/>
                        </a:defRPr>
                      </a:pPr>
                      <a:r>
                        <a:t>Full internal</a:t>
                      </a:r>
                    </a:p>
                  </a:txBody>
                  <a:tcPr anchor="ctr">
                    <a:solidFill>
                      <a:srgbClr val="FFFFFF"/>
                    </a:solidFill>
                  </a:tcPr>
                </a:tc>
                <a:tc>
                  <a:txBody>
                    <a:bodyPr/>
                    <a:lstStyle/>
                    <a:p>
                      <a:pPr>
                        <a:defRPr sz="1000">
                          <a:solidFill>
                            <a:srgbClr val="333333"/>
                          </a:solidFill>
                          <a:latin typeface="Calibri"/>
                        </a:defRPr>
                      </a:pPr>
                      <a:r>
                        <a:t>Delegated</a:t>
                      </a:r>
                    </a:p>
                  </a:txBody>
                  <a:tcPr anchor="ctr">
                    <a:solidFill>
                      <a:srgbClr val="FFFFFF"/>
                    </a:solidFill>
                  </a:tcPr>
                </a:tc>
                <a:tc>
                  <a:txBody>
                    <a:bodyPr/>
                    <a:lstStyle/>
                    <a:p>
                      <a:pPr>
                        <a:defRPr sz="1000">
                          <a:solidFill>
                            <a:srgbClr val="333333"/>
                          </a:solidFill>
                          <a:latin typeface="Calibri"/>
                        </a:defRPr>
                      </a:pPr>
                      <a:r>
                        <a:t>Full internal</a:t>
                      </a:r>
                    </a:p>
                  </a:txBody>
                  <a:tcPr anchor="ctr">
                    <a:solidFill>
                      <a:srgbClr val="FFFFFF"/>
                    </a:solidFill>
                  </a:tcPr>
                </a:tc>
                <a:tc>
                  <a:txBody>
                    <a:bodyPr/>
                    <a:lstStyle/>
                    <a:p>
                      <a:pPr>
                        <a:defRPr sz="1000">
                          <a:solidFill>
                            <a:srgbClr val="333333"/>
                          </a:solidFill>
                          <a:latin typeface="Calibri"/>
                        </a:defRPr>
                      </a:pPr>
                      <a:r>
                        <a:t>Unknown</a:t>
                      </a:r>
                    </a:p>
                  </a:txBody>
                  <a:tcPr anchor="ctr">
                    <a:solidFill>
                      <a:srgbClr val="FFFFFF"/>
                    </a:solidFill>
                  </a:tcPr>
                </a:tc>
              </a:tr>
              <a:tr h="487680">
                <a:tc>
                  <a:txBody>
                    <a:bodyPr/>
                    <a:lstStyle/>
                    <a:p>
                      <a:pPr>
                        <a:defRPr sz="1000">
                          <a:solidFill>
                            <a:srgbClr val="333333"/>
                          </a:solidFill>
                          <a:latin typeface="Calibri"/>
                        </a:defRPr>
                      </a:pPr>
                      <a:r>
                        <a:t>Security Incidents</a:t>
                      </a:r>
                    </a:p>
                  </a:txBody>
                  <a:tcPr anchor="ctr">
                    <a:solidFill>
                      <a:srgbClr val="F2F2F2"/>
                    </a:solidFill>
                  </a:tcPr>
                </a:tc>
                <a:tc>
                  <a:txBody>
                    <a:bodyPr/>
                    <a:lstStyle/>
                    <a:p>
                      <a:pPr>
                        <a:defRPr sz="1000">
                          <a:solidFill>
                            <a:srgbClr val="333333"/>
                          </a:solidFill>
                          <a:latin typeface="Calibri"/>
                        </a:defRPr>
                      </a:pPr>
                      <a:r>
                        <a:t>1 (no crypto lost)</a:t>
                      </a:r>
                    </a:p>
                  </a:txBody>
                  <a:tcPr anchor="ctr">
                    <a:solidFill>
                      <a:srgbClr val="F2F2F2"/>
                    </a:solidFill>
                  </a:tcPr>
                </a:tc>
                <a:tc>
                  <a:txBody>
                    <a:bodyPr/>
                    <a:lstStyle/>
                    <a:p>
                      <a:pPr>
                        <a:defRPr sz="1000">
                          <a:solidFill>
                            <a:srgbClr val="333333"/>
                          </a:solidFill>
                          <a:latin typeface="Calibri"/>
                        </a:defRPr>
                      </a:pPr>
                      <a:r>
                        <a:t>None known</a:t>
                      </a:r>
                    </a:p>
                  </a:txBody>
                  <a:tcPr anchor="ctr">
                    <a:solidFill>
                      <a:srgbClr val="F2F2F2"/>
                    </a:solidFill>
                  </a:tcPr>
                </a:tc>
                <a:tc>
                  <a:txBody>
                    <a:bodyPr/>
                    <a:lstStyle/>
                    <a:p>
                      <a:pPr>
                        <a:defRPr sz="1000">
                          <a:solidFill>
                            <a:srgbClr val="333333"/>
                          </a:solidFill>
                          <a:latin typeface="Calibri"/>
                        </a:defRPr>
                      </a:pPr>
                      <a:r>
                        <a:t>None known</a:t>
                      </a:r>
                    </a:p>
                  </a:txBody>
                  <a:tcPr anchor="ctr">
                    <a:solidFill>
                      <a:srgbClr val="F2F2F2"/>
                    </a:solidFill>
                  </a:tcPr>
                </a:tc>
                <a:tc>
                  <a:txBody>
                    <a:bodyPr/>
                    <a:lstStyle/>
                    <a:p>
                      <a:pPr>
                        <a:defRPr sz="1000">
                          <a:solidFill>
                            <a:srgbClr val="333333"/>
                          </a:solidFill>
                          <a:latin typeface="Calibri"/>
                        </a:defRPr>
                      </a:pPr>
                      <a:r>
                        <a:t>Unknown</a:t>
                      </a:r>
                    </a:p>
                  </a:txBody>
                  <a:tcPr anchor="ctr">
                    <a:solidFill>
                      <a:srgbClr val="F2F2F2"/>
                    </a:solidFill>
                  </a:tcPr>
                </a:tc>
              </a:tr>
            </a:tbl>
          </a:graphicData>
        </a:graphic>
      </p:graphicFrame>
      <p:sp>
        <p:nvSpPr>
          <p:cNvPr id="5" name="Rounded Rectangle 4"/>
          <p:cNvSpPr/>
          <p:nvPr/>
        </p:nvSpPr>
        <p:spPr>
          <a:xfrm>
            <a:off x="731520" y="5760720"/>
            <a:ext cx="10698480" cy="73152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5852160"/>
            <a:ext cx="10241280" cy="548640"/>
          </a:xfrm>
          <a:prstGeom prst="rect">
            <a:avLst/>
          </a:prstGeom>
          <a:noFill/>
        </p:spPr>
        <p:txBody>
          <a:bodyPr wrap="square">
            <a:spAutoFit/>
          </a:bodyPr>
          <a:lstStyle/>
          <a:p>
            <a:pPr algn="ctr">
              <a:defRPr sz="1200" b="0">
                <a:solidFill>
                  <a:srgbClr val="333333"/>
                </a:solidFill>
                <a:latin typeface="Calibri"/>
              </a:defRPr>
            </a:pPr>
            <a:r>
              <a:t>Coinbase is the only provider with both SOC 1 and SOC 2 Type II certifications audited by a Big Four firm (Deloitte), plus $320M insurance via Lloyd's of London.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3B5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640080"/>
          </a:xfrm>
          <a:prstGeom prst="rect">
            <a:avLst/>
          </a:prstGeom>
          <a:noFill/>
        </p:spPr>
        <p:txBody>
          <a:bodyPr wrap="square">
            <a:spAutoFit/>
          </a:bodyPr>
          <a:lstStyle/>
          <a:p>
            <a:pPr algn="l">
              <a:defRPr sz="3600" b="1">
                <a:solidFill>
                  <a:srgbClr val="FFFFFF"/>
                </a:solidFill>
                <a:latin typeface="Calibri"/>
              </a:defRPr>
            </a:pPr>
            <a:r>
              <a:t>Agentic Commerce Protocol Landscape</a:t>
            </a:r>
          </a:p>
        </p:txBody>
      </p:sp>
      <p:sp>
        <p:nvSpPr>
          <p:cNvPr id="4" name="TextBox 3"/>
          <p:cNvSpPr txBox="1"/>
          <p:nvPr/>
        </p:nvSpPr>
        <p:spPr>
          <a:xfrm>
            <a:off x="731520" y="914400"/>
            <a:ext cx="10058400" cy="365760"/>
          </a:xfrm>
          <a:prstGeom prst="rect">
            <a:avLst/>
          </a:prstGeom>
          <a:noFill/>
        </p:spPr>
        <p:txBody>
          <a:bodyPr wrap="square">
            <a:spAutoFit/>
          </a:bodyPr>
          <a:lstStyle/>
          <a:p>
            <a:pPr algn="l">
              <a:defRPr sz="1300" b="0">
                <a:solidFill>
                  <a:srgbClr val="FF6600"/>
                </a:solidFill>
                <a:latin typeface="Calibri"/>
              </a:defRPr>
            </a:pPr>
            <a:r>
              <a:t>Five complementary protocols forming the agentic payment stack -- Fiserv is positioned across all of them</a:t>
            </a:r>
          </a:p>
        </p:txBody>
      </p:sp>
      <p:sp>
        <p:nvSpPr>
          <p:cNvPr id="5" name="Rounded Rectangle 4"/>
          <p:cNvSpPr/>
          <p:nvPr/>
        </p:nvSpPr>
        <p:spPr>
          <a:xfrm>
            <a:off x="457200" y="1554480"/>
            <a:ext cx="2148840" cy="3200400"/>
          </a:xfrm>
          <a:prstGeom prst="roundRect">
            <a:avLst/>
          </a:prstGeom>
          <a:solidFill>
            <a:srgbClr val="004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91640"/>
            <a:ext cx="1874519" cy="457200"/>
          </a:xfrm>
          <a:prstGeom prst="rect">
            <a:avLst/>
          </a:prstGeom>
          <a:noFill/>
        </p:spPr>
        <p:txBody>
          <a:bodyPr wrap="square">
            <a:spAutoFit/>
          </a:bodyPr>
          <a:lstStyle/>
          <a:p>
            <a:pPr algn="ctr">
              <a:defRPr sz="2200" b="1">
                <a:solidFill>
                  <a:srgbClr val="FF6600"/>
                </a:solidFill>
                <a:latin typeface="Calibri"/>
              </a:defRPr>
            </a:pPr>
            <a:r>
              <a:t>x402</a:t>
            </a:r>
          </a:p>
        </p:txBody>
      </p:sp>
      <p:sp>
        <p:nvSpPr>
          <p:cNvPr id="7" name="TextBox 6"/>
          <p:cNvSpPr txBox="1"/>
          <p:nvPr/>
        </p:nvSpPr>
        <p:spPr>
          <a:xfrm>
            <a:off x="594360" y="2194560"/>
            <a:ext cx="1874519" cy="548640"/>
          </a:xfrm>
          <a:prstGeom prst="rect">
            <a:avLst/>
          </a:prstGeom>
          <a:noFill/>
        </p:spPr>
        <p:txBody>
          <a:bodyPr wrap="square">
            <a:spAutoFit/>
          </a:bodyPr>
          <a:lstStyle/>
          <a:p>
            <a:pPr algn="ctr">
              <a:defRPr sz="1100" b="0">
                <a:solidFill>
                  <a:srgbClr val="9B9B9B"/>
                </a:solidFill>
                <a:latin typeface="Calibri"/>
              </a:defRPr>
            </a:pPr>
            <a:r>
              <a:t>Linux Foundation</a:t>
            </a:r>
            <a:br/>
            <a:r>
              <a:t>(Coinbase-created)</a:t>
            </a:r>
          </a:p>
        </p:txBody>
      </p:sp>
      <p:sp>
        <p:nvSpPr>
          <p:cNvPr id="8" name="TextBox 7"/>
          <p:cNvSpPr txBox="1"/>
          <p:nvPr/>
        </p:nvSpPr>
        <p:spPr>
          <a:xfrm>
            <a:off x="594360" y="2834640"/>
            <a:ext cx="1874519" cy="548640"/>
          </a:xfrm>
          <a:prstGeom prst="rect">
            <a:avLst/>
          </a:prstGeom>
          <a:noFill/>
        </p:spPr>
        <p:txBody>
          <a:bodyPr wrap="square">
            <a:spAutoFit/>
          </a:bodyPr>
          <a:lstStyle/>
          <a:p>
            <a:pPr algn="ctr">
              <a:defRPr sz="1100" b="0">
                <a:solidFill>
                  <a:srgbClr val="FFFFFF"/>
                </a:solidFill>
                <a:latin typeface="Calibri"/>
              </a:defRPr>
            </a:pPr>
            <a:r>
              <a:t>HTTP-native</a:t>
            </a:r>
            <a:br/>
            <a:r>
              <a:t>stablecoin settlement</a:t>
            </a:r>
          </a:p>
        </p:txBody>
      </p:sp>
      <p:sp>
        <p:nvSpPr>
          <p:cNvPr id="9" name="Rounded Rectangle 8"/>
          <p:cNvSpPr/>
          <p:nvPr/>
        </p:nvSpPr>
        <p:spPr>
          <a:xfrm>
            <a:off x="594360" y="3566160"/>
            <a:ext cx="1874519" cy="548640"/>
          </a:xfrm>
          <a:prstGeom prst="round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3611880"/>
            <a:ext cx="1874519" cy="457200"/>
          </a:xfrm>
          <a:prstGeom prst="rect">
            <a:avLst/>
          </a:prstGeom>
          <a:noFill/>
        </p:spPr>
        <p:txBody>
          <a:bodyPr wrap="square">
            <a:spAutoFit/>
          </a:bodyPr>
          <a:lstStyle/>
          <a:p>
            <a:pPr algn="ctr">
              <a:defRPr sz="1000" b="1">
                <a:solidFill>
                  <a:srgbClr val="FFFFFF"/>
                </a:solidFill>
                <a:latin typeface="Calibri"/>
              </a:defRPr>
            </a:pPr>
            <a:r>
              <a:t>Fiserv is</a:t>
            </a:r>
            <a:br/>
            <a:r>
              <a:t>FOUNDING MEMBER</a:t>
            </a:r>
          </a:p>
        </p:txBody>
      </p:sp>
      <p:sp>
        <p:nvSpPr>
          <p:cNvPr id="11" name="Rounded Rectangle 10"/>
          <p:cNvSpPr/>
          <p:nvPr/>
        </p:nvSpPr>
        <p:spPr>
          <a:xfrm>
            <a:off x="2788920" y="1554480"/>
            <a:ext cx="2148840" cy="3200400"/>
          </a:xfrm>
          <a:prstGeom prst="roundRect">
            <a:avLst/>
          </a:prstGeom>
          <a:solidFill>
            <a:srgbClr val="004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691640"/>
            <a:ext cx="1874519" cy="457200"/>
          </a:xfrm>
          <a:prstGeom prst="rect">
            <a:avLst/>
          </a:prstGeom>
          <a:noFill/>
        </p:spPr>
        <p:txBody>
          <a:bodyPr wrap="square">
            <a:spAutoFit/>
          </a:bodyPr>
          <a:lstStyle/>
          <a:p>
            <a:pPr algn="ctr">
              <a:defRPr sz="2200" b="1">
                <a:solidFill>
                  <a:srgbClr val="FF6600"/>
                </a:solidFill>
                <a:latin typeface="Calibri"/>
              </a:defRPr>
            </a:pPr>
            <a:r>
              <a:t>MPP</a:t>
            </a:r>
          </a:p>
        </p:txBody>
      </p:sp>
      <p:sp>
        <p:nvSpPr>
          <p:cNvPr id="13" name="TextBox 12"/>
          <p:cNvSpPr txBox="1"/>
          <p:nvPr/>
        </p:nvSpPr>
        <p:spPr>
          <a:xfrm>
            <a:off x="2926080" y="2194560"/>
            <a:ext cx="1874519" cy="548640"/>
          </a:xfrm>
          <a:prstGeom prst="rect">
            <a:avLst/>
          </a:prstGeom>
          <a:noFill/>
        </p:spPr>
        <p:txBody>
          <a:bodyPr wrap="square">
            <a:spAutoFit/>
          </a:bodyPr>
          <a:lstStyle/>
          <a:p>
            <a:pPr algn="ctr">
              <a:defRPr sz="1100" b="0">
                <a:solidFill>
                  <a:srgbClr val="9B9B9B"/>
                </a:solidFill>
                <a:latin typeface="Calibri"/>
              </a:defRPr>
            </a:pPr>
            <a:r>
              <a:t>Stripe / Tempo</a:t>
            </a:r>
          </a:p>
        </p:txBody>
      </p:sp>
      <p:sp>
        <p:nvSpPr>
          <p:cNvPr id="14" name="TextBox 13"/>
          <p:cNvSpPr txBox="1"/>
          <p:nvPr/>
        </p:nvSpPr>
        <p:spPr>
          <a:xfrm>
            <a:off x="2926080" y="2834640"/>
            <a:ext cx="1874519" cy="548640"/>
          </a:xfrm>
          <a:prstGeom prst="rect">
            <a:avLst/>
          </a:prstGeom>
          <a:noFill/>
        </p:spPr>
        <p:txBody>
          <a:bodyPr wrap="square">
            <a:spAutoFit/>
          </a:bodyPr>
          <a:lstStyle/>
          <a:p>
            <a:pPr algn="ctr">
              <a:defRPr sz="1100" b="0">
                <a:solidFill>
                  <a:srgbClr val="FFFFFF"/>
                </a:solidFill>
                <a:latin typeface="Calibri"/>
              </a:defRPr>
            </a:pPr>
            <a:r>
              <a:t>Session-based</a:t>
            </a:r>
            <a:br/>
            <a:r>
              <a:t>batched payments</a:t>
            </a:r>
          </a:p>
        </p:txBody>
      </p:sp>
      <p:sp>
        <p:nvSpPr>
          <p:cNvPr id="15" name="Rounded Rectangle 14"/>
          <p:cNvSpPr/>
          <p:nvPr/>
        </p:nvSpPr>
        <p:spPr>
          <a:xfrm>
            <a:off x="2926080" y="3566160"/>
            <a:ext cx="1874519" cy="548640"/>
          </a:xfrm>
          <a:prstGeom prst="round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26080" y="3611880"/>
            <a:ext cx="1874519" cy="457200"/>
          </a:xfrm>
          <a:prstGeom prst="rect">
            <a:avLst/>
          </a:prstGeom>
          <a:noFill/>
        </p:spPr>
        <p:txBody>
          <a:bodyPr wrap="square">
            <a:spAutoFit/>
          </a:bodyPr>
          <a:lstStyle/>
          <a:p>
            <a:pPr algn="ctr">
              <a:defRPr sz="1000" b="1">
                <a:solidFill>
                  <a:srgbClr val="FFFFFF"/>
                </a:solidFill>
                <a:latin typeface="Calibri"/>
              </a:defRPr>
            </a:pPr>
            <a:r>
              <a:t>Support via</a:t>
            </a:r>
            <a:br/>
            <a:r>
              <a:t>CommerceHub</a:t>
            </a:r>
          </a:p>
        </p:txBody>
      </p:sp>
      <p:sp>
        <p:nvSpPr>
          <p:cNvPr id="17" name="Rounded Rectangle 16"/>
          <p:cNvSpPr/>
          <p:nvPr/>
        </p:nvSpPr>
        <p:spPr>
          <a:xfrm>
            <a:off x="5120640" y="1554480"/>
            <a:ext cx="2148840" cy="3200400"/>
          </a:xfrm>
          <a:prstGeom prst="roundRect">
            <a:avLst/>
          </a:prstGeom>
          <a:solidFill>
            <a:srgbClr val="004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57800" y="1691640"/>
            <a:ext cx="1874519" cy="457200"/>
          </a:xfrm>
          <a:prstGeom prst="rect">
            <a:avLst/>
          </a:prstGeom>
          <a:noFill/>
        </p:spPr>
        <p:txBody>
          <a:bodyPr wrap="square">
            <a:spAutoFit/>
          </a:bodyPr>
          <a:lstStyle/>
          <a:p>
            <a:pPr algn="ctr">
              <a:defRPr sz="2200" b="1">
                <a:solidFill>
                  <a:srgbClr val="FF6600"/>
                </a:solidFill>
                <a:latin typeface="Calibri"/>
              </a:defRPr>
            </a:pPr>
            <a:r>
              <a:t>AP2</a:t>
            </a:r>
          </a:p>
        </p:txBody>
      </p:sp>
      <p:sp>
        <p:nvSpPr>
          <p:cNvPr id="19" name="TextBox 18"/>
          <p:cNvSpPr txBox="1"/>
          <p:nvPr/>
        </p:nvSpPr>
        <p:spPr>
          <a:xfrm>
            <a:off x="5257800" y="2194560"/>
            <a:ext cx="1874519" cy="548640"/>
          </a:xfrm>
          <a:prstGeom prst="rect">
            <a:avLst/>
          </a:prstGeom>
          <a:noFill/>
        </p:spPr>
        <p:txBody>
          <a:bodyPr wrap="square">
            <a:spAutoFit/>
          </a:bodyPr>
          <a:lstStyle/>
          <a:p>
            <a:pPr algn="ctr">
              <a:defRPr sz="1100" b="0">
                <a:solidFill>
                  <a:srgbClr val="9B9B9B"/>
                </a:solidFill>
                <a:latin typeface="Calibri"/>
              </a:defRPr>
            </a:pPr>
            <a:r>
              <a:t>Google</a:t>
            </a:r>
            <a:br/>
            <a:r>
              <a:t>+ 60 partners</a:t>
            </a:r>
          </a:p>
        </p:txBody>
      </p:sp>
      <p:sp>
        <p:nvSpPr>
          <p:cNvPr id="20" name="TextBox 19"/>
          <p:cNvSpPr txBox="1"/>
          <p:nvPr/>
        </p:nvSpPr>
        <p:spPr>
          <a:xfrm>
            <a:off x="5257800" y="2834640"/>
            <a:ext cx="1874519" cy="548640"/>
          </a:xfrm>
          <a:prstGeom prst="rect">
            <a:avLst/>
          </a:prstGeom>
          <a:noFill/>
        </p:spPr>
        <p:txBody>
          <a:bodyPr wrap="square">
            <a:spAutoFit/>
          </a:bodyPr>
          <a:lstStyle/>
          <a:p>
            <a:pPr algn="ctr">
              <a:defRPr sz="1100" b="0">
                <a:solidFill>
                  <a:srgbClr val="FFFFFF"/>
                </a:solidFill>
                <a:latin typeface="Calibri"/>
              </a:defRPr>
            </a:pPr>
            <a:r>
              <a:t>Agent authorization</a:t>
            </a:r>
            <a:br/>
            <a:r>
              <a:t>&amp; trust</a:t>
            </a:r>
          </a:p>
        </p:txBody>
      </p:sp>
      <p:sp>
        <p:nvSpPr>
          <p:cNvPr id="21" name="Rounded Rectangle 20"/>
          <p:cNvSpPr/>
          <p:nvPr/>
        </p:nvSpPr>
        <p:spPr>
          <a:xfrm>
            <a:off x="5257800" y="3566160"/>
            <a:ext cx="1874519" cy="548640"/>
          </a:xfrm>
          <a:prstGeom prst="round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57800" y="3611880"/>
            <a:ext cx="1874519" cy="457200"/>
          </a:xfrm>
          <a:prstGeom prst="rect">
            <a:avLst/>
          </a:prstGeom>
          <a:noFill/>
        </p:spPr>
        <p:txBody>
          <a:bodyPr wrap="square">
            <a:spAutoFit/>
          </a:bodyPr>
          <a:lstStyle/>
          <a:p>
            <a:pPr algn="ctr">
              <a:defRPr sz="1000" b="1">
                <a:solidFill>
                  <a:srgbClr val="FFFFFF"/>
                </a:solidFill>
                <a:latin typeface="Calibri"/>
              </a:defRPr>
            </a:pPr>
            <a:r>
              <a:t>Ecosystem</a:t>
            </a:r>
            <a:br/>
            <a:r>
              <a:t>participant</a:t>
            </a:r>
          </a:p>
        </p:txBody>
      </p:sp>
      <p:sp>
        <p:nvSpPr>
          <p:cNvPr id="23" name="Rounded Rectangle 22"/>
          <p:cNvSpPr/>
          <p:nvPr/>
        </p:nvSpPr>
        <p:spPr>
          <a:xfrm>
            <a:off x="7452359" y="1554480"/>
            <a:ext cx="2148840" cy="3200400"/>
          </a:xfrm>
          <a:prstGeom prst="roundRect">
            <a:avLst/>
          </a:prstGeom>
          <a:solidFill>
            <a:srgbClr val="004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9519" y="1691640"/>
            <a:ext cx="1874519" cy="457200"/>
          </a:xfrm>
          <a:prstGeom prst="rect">
            <a:avLst/>
          </a:prstGeom>
          <a:noFill/>
        </p:spPr>
        <p:txBody>
          <a:bodyPr wrap="square">
            <a:spAutoFit/>
          </a:bodyPr>
          <a:lstStyle/>
          <a:p>
            <a:pPr algn="ctr">
              <a:defRPr sz="2200" b="1">
                <a:solidFill>
                  <a:srgbClr val="FF6600"/>
                </a:solidFill>
                <a:latin typeface="Calibri"/>
              </a:defRPr>
            </a:pPr>
            <a:r>
              <a:t>TAP</a:t>
            </a:r>
          </a:p>
        </p:txBody>
      </p:sp>
      <p:sp>
        <p:nvSpPr>
          <p:cNvPr id="25" name="TextBox 24"/>
          <p:cNvSpPr txBox="1"/>
          <p:nvPr/>
        </p:nvSpPr>
        <p:spPr>
          <a:xfrm>
            <a:off x="7589519" y="2194560"/>
            <a:ext cx="1874519" cy="548640"/>
          </a:xfrm>
          <a:prstGeom prst="rect">
            <a:avLst/>
          </a:prstGeom>
          <a:noFill/>
        </p:spPr>
        <p:txBody>
          <a:bodyPr wrap="square">
            <a:spAutoFit/>
          </a:bodyPr>
          <a:lstStyle/>
          <a:p>
            <a:pPr algn="ctr">
              <a:defRPr sz="1100" b="0">
                <a:solidFill>
                  <a:srgbClr val="9B9B9B"/>
                </a:solidFill>
                <a:latin typeface="Calibri"/>
              </a:defRPr>
            </a:pPr>
            <a:r>
              <a:t>Visa</a:t>
            </a:r>
          </a:p>
        </p:txBody>
      </p:sp>
      <p:sp>
        <p:nvSpPr>
          <p:cNvPr id="26" name="TextBox 25"/>
          <p:cNvSpPr txBox="1"/>
          <p:nvPr/>
        </p:nvSpPr>
        <p:spPr>
          <a:xfrm>
            <a:off x="7589519" y="2834640"/>
            <a:ext cx="1874519" cy="548640"/>
          </a:xfrm>
          <a:prstGeom prst="rect">
            <a:avLst/>
          </a:prstGeom>
          <a:noFill/>
        </p:spPr>
        <p:txBody>
          <a:bodyPr wrap="square">
            <a:spAutoFit/>
          </a:bodyPr>
          <a:lstStyle/>
          <a:p>
            <a:pPr algn="ctr">
              <a:defRPr sz="1100" b="0">
                <a:solidFill>
                  <a:srgbClr val="FFFFFF"/>
                </a:solidFill>
                <a:latin typeface="Calibri"/>
              </a:defRPr>
            </a:pPr>
            <a:r>
              <a:t>Cryptographic</a:t>
            </a:r>
            <a:br/>
            <a:r>
              <a:t>agent identity</a:t>
            </a:r>
          </a:p>
        </p:txBody>
      </p:sp>
      <p:sp>
        <p:nvSpPr>
          <p:cNvPr id="27" name="Rounded Rectangle 26"/>
          <p:cNvSpPr/>
          <p:nvPr/>
        </p:nvSpPr>
        <p:spPr>
          <a:xfrm>
            <a:off x="7589519" y="3566160"/>
            <a:ext cx="1874519" cy="548640"/>
          </a:xfrm>
          <a:prstGeom prst="round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19" y="3611880"/>
            <a:ext cx="1874519" cy="457200"/>
          </a:xfrm>
          <a:prstGeom prst="rect">
            <a:avLst/>
          </a:prstGeom>
          <a:noFill/>
        </p:spPr>
        <p:txBody>
          <a:bodyPr wrap="square">
            <a:spAutoFit/>
          </a:bodyPr>
          <a:lstStyle/>
          <a:p>
            <a:pPr algn="ctr">
              <a:defRPr sz="1000" b="1">
                <a:solidFill>
                  <a:srgbClr val="FFFFFF"/>
                </a:solidFill>
                <a:latin typeface="Calibri"/>
              </a:defRPr>
            </a:pPr>
            <a:r>
              <a:t>Fiserv partnership</a:t>
            </a:r>
            <a:br/>
            <a:r>
              <a:t>announced</a:t>
            </a:r>
          </a:p>
        </p:txBody>
      </p:sp>
      <p:sp>
        <p:nvSpPr>
          <p:cNvPr id="29" name="Rounded Rectangle 28"/>
          <p:cNvSpPr/>
          <p:nvPr/>
        </p:nvSpPr>
        <p:spPr>
          <a:xfrm>
            <a:off x="9784080" y="1554480"/>
            <a:ext cx="2148840" cy="3200400"/>
          </a:xfrm>
          <a:prstGeom prst="roundRect">
            <a:avLst/>
          </a:prstGeom>
          <a:solidFill>
            <a:srgbClr val="004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21240" y="1691640"/>
            <a:ext cx="1874519" cy="457200"/>
          </a:xfrm>
          <a:prstGeom prst="rect">
            <a:avLst/>
          </a:prstGeom>
          <a:noFill/>
        </p:spPr>
        <p:txBody>
          <a:bodyPr wrap="square">
            <a:spAutoFit/>
          </a:bodyPr>
          <a:lstStyle/>
          <a:p>
            <a:pPr algn="ctr">
              <a:defRPr sz="2200" b="1">
                <a:solidFill>
                  <a:srgbClr val="FF6600"/>
                </a:solidFill>
                <a:latin typeface="Calibri"/>
              </a:defRPr>
            </a:pPr>
            <a:r>
              <a:t>Agent Pay</a:t>
            </a:r>
          </a:p>
        </p:txBody>
      </p:sp>
      <p:sp>
        <p:nvSpPr>
          <p:cNvPr id="31" name="TextBox 30"/>
          <p:cNvSpPr txBox="1"/>
          <p:nvPr/>
        </p:nvSpPr>
        <p:spPr>
          <a:xfrm>
            <a:off x="9921240" y="2194560"/>
            <a:ext cx="1874519" cy="548640"/>
          </a:xfrm>
          <a:prstGeom prst="rect">
            <a:avLst/>
          </a:prstGeom>
          <a:noFill/>
        </p:spPr>
        <p:txBody>
          <a:bodyPr wrap="square">
            <a:spAutoFit/>
          </a:bodyPr>
          <a:lstStyle/>
          <a:p>
            <a:pPr algn="ctr">
              <a:defRPr sz="1100" b="0">
                <a:solidFill>
                  <a:srgbClr val="9B9B9B"/>
                </a:solidFill>
                <a:latin typeface="Calibri"/>
              </a:defRPr>
            </a:pPr>
            <a:r>
              <a:t>Mastercard</a:t>
            </a:r>
          </a:p>
        </p:txBody>
      </p:sp>
      <p:sp>
        <p:nvSpPr>
          <p:cNvPr id="32" name="TextBox 31"/>
          <p:cNvSpPr txBox="1"/>
          <p:nvPr/>
        </p:nvSpPr>
        <p:spPr>
          <a:xfrm>
            <a:off x="9921240" y="2834640"/>
            <a:ext cx="1874519" cy="548640"/>
          </a:xfrm>
          <a:prstGeom prst="rect">
            <a:avLst/>
          </a:prstGeom>
          <a:noFill/>
        </p:spPr>
        <p:txBody>
          <a:bodyPr wrap="square">
            <a:spAutoFit/>
          </a:bodyPr>
          <a:lstStyle/>
          <a:p>
            <a:pPr algn="ctr">
              <a:defRPr sz="1100" b="0">
                <a:solidFill>
                  <a:srgbClr val="FFFFFF"/>
                </a:solidFill>
                <a:latin typeface="Calibri"/>
              </a:defRPr>
            </a:pPr>
            <a:r>
              <a:t>Card infrastructure</a:t>
            </a:r>
            <a:br/>
            <a:r>
              <a:t>for agents</a:t>
            </a:r>
          </a:p>
        </p:txBody>
      </p:sp>
      <p:sp>
        <p:nvSpPr>
          <p:cNvPr id="33" name="Rounded Rectangle 32"/>
          <p:cNvSpPr/>
          <p:nvPr/>
        </p:nvSpPr>
        <p:spPr>
          <a:xfrm>
            <a:off x="9921240" y="3566160"/>
            <a:ext cx="1874519" cy="548640"/>
          </a:xfrm>
          <a:prstGeom prst="round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21240" y="3611880"/>
            <a:ext cx="1874519" cy="457200"/>
          </a:xfrm>
          <a:prstGeom prst="rect">
            <a:avLst/>
          </a:prstGeom>
          <a:noFill/>
        </p:spPr>
        <p:txBody>
          <a:bodyPr wrap="square">
            <a:spAutoFit/>
          </a:bodyPr>
          <a:lstStyle/>
          <a:p>
            <a:pPr algn="ctr">
              <a:defRPr sz="1000" b="1">
                <a:solidFill>
                  <a:srgbClr val="FFFFFF"/>
                </a:solidFill>
                <a:latin typeface="Calibri"/>
              </a:defRPr>
            </a:pPr>
            <a:r>
              <a:t>Expanded Fiserv</a:t>
            </a:r>
            <a:br/>
            <a:r>
              <a:t>partnership</a:t>
            </a:r>
          </a:p>
        </p:txBody>
      </p:sp>
      <p:sp>
        <p:nvSpPr>
          <p:cNvPr id="35" name="Rounded Rectangle 34"/>
          <p:cNvSpPr/>
          <p:nvPr/>
        </p:nvSpPr>
        <p:spPr>
          <a:xfrm>
            <a:off x="1371600" y="5120640"/>
            <a:ext cx="9418320" cy="1188720"/>
          </a:xfrm>
          <a:prstGeom prst="roundRect">
            <a:avLst/>
          </a:prstGeom>
          <a:solidFill>
            <a:srgbClr val="00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828800" y="5212080"/>
            <a:ext cx="8503920" cy="1005840"/>
          </a:xfrm>
          <a:prstGeom prst="rect">
            <a:avLst/>
          </a:prstGeom>
          <a:noFill/>
        </p:spPr>
        <p:txBody>
          <a:bodyPr wrap="square">
            <a:spAutoFit/>
          </a:bodyPr>
          <a:lstStyle/>
          <a:p>
            <a:pPr algn="ctr">
              <a:spcAft>
                <a:spcPts val="400"/>
              </a:spcAft>
              <a:defRPr sz="1800" b="1">
                <a:solidFill>
                  <a:srgbClr val="FFFFFF"/>
                </a:solidFill>
                <a:latin typeface="Calibri"/>
              </a:defRPr>
            </a:pPr>
            <a:r>
              <a:t>CommerceHub Agent Pay: Protocol-Agnostic Orchestration</a:t>
            </a:r>
          </a:p>
          <a:p>
            <a:pPr algn="ctr">
              <a:spcAft>
                <a:spcPts val="400"/>
              </a:spcAft>
              <a:defRPr sz="1300" b="0">
                <a:solidFill>
                  <a:srgbClr val="FFFFFF"/>
                </a:solidFill>
                <a:latin typeface="Calibri"/>
              </a:defRPr>
            </a:pPr>
            <a:r>
              <a:t>One CommerceHub endpoint. Detects whether the agent speaks x402, MPP, AP2, or TAP. Routes accordingly.</a:t>
            </a:r>
          </a:p>
          <a:p>
            <a:pPr algn="ctr">
              <a:spcAft>
                <a:spcPts val="400"/>
              </a:spcAft>
              <a:defRPr sz="1200" b="0">
                <a:solidFill>
                  <a:srgbClr val="CCCCCC"/>
                </a:solidFill>
                <a:latin typeface="Calibri"/>
              </a:defRPr>
            </a:pPr>
            <a:r>
              <a:t>Defaults to FIUSD settlement. Bank-verified identity via Finxact. USD guaranteed via INDX.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640080"/>
          </a:xfrm>
          <a:prstGeom prst="rect">
            <a:avLst/>
          </a:prstGeom>
          <a:noFill/>
        </p:spPr>
        <p:txBody>
          <a:bodyPr wrap="square">
            <a:spAutoFit/>
          </a:bodyPr>
          <a:lstStyle/>
          <a:p>
            <a:pPr algn="l">
              <a:defRPr sz="3600" b="1">
                <a:solidFill>
                  <a:srgbClr val="003B5C"/>
                </a:solidFill>
                <a:latin typeface="Calibri"/>
              </a:defRPr>
            </a:pPr>
            <a:r>
              <a:t>Build vs. Implement: Protocol Strategy</a:t>
            </a:r>
          </a:p>
        </p:txBody>
      </p:sp>
      <p:sp>
        <p:nvSpPr>
          <p:cNvPr id="4" name="Rounded Rectangle 3"/>
          <p:cNvSpPr/>
          <p:nvPr/>
        </p:nvSpPr>
        <p:spPr>
          <a:xfrm>
            <a:off x="731520" y="1280160"/>
            <a:ext cx="5303520" cy="475488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371600"/>
            <a:ext cx="4937760" cy="457200"/>
          </a:xfrm>
          <a:prstGeom prst="rect">
            <a:avLst/>
          </a:prstGeom>
          <a:noFill/>
        </p:spPr>
        <p:txBody>
          <a:bodyPr wrap="square">
            <a:spAutoFit/>
          </a:bodyPr>
          <a:lstStyle/>
          <a:p>
            <a:pPr algn="l">
              <a:defRPr sz="1800" b="1">
                <a:solidFill>
                  <a:srgbClr val="C62828"/>
                </a:solidFill>
                <a:latin typeface="Calibri"/>
              </a:defRPr>
            </a:pPr>
            <a:r>
              <a:t>Don't Build a Proprietary Protocol</a:t>
            </a:r>
          </a:p>
        </p:txBody>
      </p:sp>
      <p:sp>
        <p:nvSpPr>
          <p:cNvPr id="6" name="Rectangle 5"/>
          <p:cNvSpPr/>
          <p:nvPr/>
        </p:nvSpPr>
        <p:spPr>
          <a:xfrm>
            <a:off x="1097280" y="1965960"/>
            <a:ext cx="109728" cy="10972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874519"/>
            <a:ext cx="4389120" cy="457200"/>
          </a:xfrm>
          <a:prstGeom prst="rect">
            <a:avLst/>
          </a:prstGeom>
          <a:noFill/>
        </p:spPr>
        <p:txBody>
          <a:bodyPr wrap="square">
            <a:spAutoFit/>
          </a:bodyPr>
          <a:lstStyle/>
          <a:p>
            <a:pPr algn="l">
              <a:defRPr sz="1200" b="0">
                <a:solidFill>
                  <a:srgbClr val="333333"/>
                </a:solidFill>
                <a:latin typeface="Calibri"/>
              </a:defRPr>
            </a:pPr>
            <a:r>
              <a:t>Fiserv publicly committed to x402 Foundation (Apr 2, 2026)</a:t>
            </a:r>
          </a:p>
        </p:txBody>
      </p:sp>
      <p:sp>
        <p:nvSpPr>
          <p:cNvPr id="8" name="Rectangle 7"/>
          <p:cNvSpPr/>
          <p:nvPr/>
        </p:nvSpPr>
        <p:spPr>
          <a:xfrm>
            <a:off x="1097280" y="2468880"/>
            <a:ext cx="109728" cy="10972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2377439"/>
            <a:ext cx="4389120" cy="457200"/>
          </a:xfrm>
          <a:prstGeom prst="rect">
            <a:avLst/>
          </a:prstGeom>
          <a:noFill/>
        </p:spPr>
        <p:txBody>
          <a:bodyPr wrap="square">
            <a:spAutoFit/>
          </a:bodyPr>
          <a:lstStyle/>
          <a:p>
            <a:pPr algn="l">
              <a:defRPr sz="1200" b="0">
                <a:solidFill>
                  <a:srgbClr val="333333"/>
                </a:solidFill>
                <a:latin typeface="Calibri"/>
              </a:defRPr>
            </a:pPr>
            <a:r>
              <a:t>Adyen (closest analog) is NOT building their own</a:t>
            </a:r>
          </a:p>
        </p:txBody>
      </p:sp>
      <p:sp>
        <p:nvSpPr>
          <p:cNvPr id="10" name="Rectangle 9"/>
          <p:cNvSpPr/>
          <p:nvPr/>
        </p:nvSpPr>
        <p:spPr>
          <a:xfrm>
            <a:off x="1097280" y="2971800"/>
            <a:ext cx="109728" cy="10972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71600" y="2880360"/>
            <a:ext cx="4389120" cy="457200"/>
          </a:xfrm>
          <a:prstGeom prst="rect">
            <a:avLst/>
          </a:prstGeom>
          <a:noFill/>
        </p:spPr>
        <p:txBody>
          <a:bodyPr wrap="square">
            <a:spAutoFit/>
          </a:bodyPr>
          <a:lstStyle/>
          <a:p>
            <a:pPr algn="l">
              <a:defRPr sz="1200" b="0">
                <a:solidFill>
                  <a:srgbClr val="333333"/>
                </a:solidFill>
                <a:latin typeface="Calibri"/>
              </a:defRPr>
            </a:pPr>
            <a:r>
              <a:t>Protocol adoption requires ecosystem (22+ members vs 0)</a:t>
            </a:r>
          </a:p>
        </p:txBody>
      </p:sp>
      <p:sp>
        <p:nvSpPr>
          <p:cNvPr id="12" name="Rectangle 11"/>
          <p:cNvSpPr/>
          <p:nvPr/>
        </p:nvSpPr>
        <p:spPr>
          <a:xfrm>
            <a:off x="1097280" y="3474720"/>
            <a:ext cx="109728" cy="10972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0" y="3383280"/>
            <a:ext cx="4389120" cy="457200"/>
          </a:xfrm>
          <a:prstGeom prst="rect">
            <a:avLst/>
          </a:prstGeom>
          <a:noFill/>
        </p:spPr>
        <p:txBody>
          <a:bodyPr wrap="square">
            <a:spAutoFit/>
          </a:bodyPr>
          <a:lstStyle/>
          <a:p>
            <a:pPr algn="l">
              <a:defRPr sz="1200" b="0">
                <a:solidFill>
                  <a:srgbClr val="333333"/>
                </a:solidFill>
                <a:latin typeface="Calibri"/>
              </a:defRPr>
            </a:pPr>
            <a:r>
              <a:t>12-18 months engineering cost for zero network effects</a:t>
            </a:r>
          </a:p>
        </p:txBody>
      </p:sp>
      <p:sp>
        <p:nvSpPr>
          <p:cNvPr id="14" name="Rectangle 13"/>
          <p:cNvSpPr/>
          <p:nvPr/>
        </p:nvSpPr>
        <p:spPr>
          <a:xfrm>
            <a:off x="1097280" y="3977639"/>
            <a:ext cx="109728" cy="10972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0" y="3886200"/>
            <a:ext cx="4389120" cy="457200"/>
          </a:xfrm>
          <a:prstGeom prst="rect">
            <a:avLst/>
          </a:prstGeom>
          <a:noFill/>
        </p:spPr>
        <p:txBody>
          <a:bodyPr wrap="square">
            <a:spAutoFit/>
          </a:bodyPr>
          <a:lstStyle/>
          <a:p>
            <a:pPr algn="l">
              <a:defRPr sz="1200" b="0">
                <a:solidFill>
                  <a:srgbClr val="333333"/>
                </a:solidFill>
                <a:latin typeface="Calibri"/>
              </a:defRPr>
            </a:pPr>
            <a:r>
              <a:t>Every Fiserv advantage deliverable as implementation layer</a:t>
            </a:r>
          </a:p>
        </p:txBody>
      </p:sp>
      <p:sp>
        <p:nvSpPr>
          <p:cNvPr id="16" name="Rounded Rectangle 15"/>
          <p:cNvSpPr/>
          <p:nvPr/>
        </p:nvSpPr>
        <p:spPr>
          <a:xfrm>
            <a:off x="6400800" y="1280160"/>
            <a:ext cx="5303520" cy="475488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0" y="1371600"/>
            <a:ext cx="4937760" cy="457200"/>
          </a:xfrm>
          <a:prstGeom prst="rect">
            <a:avLst/>
          </a:prstGeom>
          <a:noFill/>
        </p:spPr>
        <p:txBody>
          <a:bodyPr wrap="square">
            <a:spAutoFit/>
          </a:bodyPr>
          <a:lstStyle/>
          <a:p>
            <a:pPr algn="l">
              <a:defRPr sz="1800" b="1">
                <a:solidFill>
                  <a:srgbClr val="2E7D32"/>
                </a:solidFill>
                <a:latin typeface="Calibri"/>
              </a:defRPr>
            </a:pPr>
            <a:r>
              <a:t>Build the Best Implementation Layer</a:t>
            </a:r>
          </a:p>
        </p:txBody>
      </p:sp>
      <p:sp>
        <p:nvSpPr>
          <p:cNvPr id="18" name="Rectangle 17"/>
          <p:cNvSpPr/>
          <p:nvPr/>
        </p:nvSpPr>
        <p:spPr>
          <a:xfrm>
            <a:off x="6766560" y="1965960"/>
            <a:ext cx="109728" cy="1097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0" y="1874519"/>
            <a:ext cx="4389120" cy="457200"/>
          </a:xfrm>
          <a:prstGeom prst="rect">
            <a:avLst/>
          </a:prstGeom>
          <a:noFill/>
        </p:spPr>
        <p:txBody>
          <a:bodyPr wrap="square">
            <a:spAutoFit/>
          </a:bodyPr>
          <a:lstStyle/>
          <a:p>
            <a:pPr algn="l">
              <a:defRPr sz="1200" b="0">
                <a:solidFill>
                  <a:srgbClr val="333333"/>
                </a:solidFill>
                <a:latin typeface="Calibri"/>
              </a:defRPr>
            </a:pPr>
            <a:r>
              <a:t>Protocol-agnostic gateway (x402 + MPP + AP2 + TAP)</a:t>
            </a:r>
          </a:p>
        </p:txBody>
      </p:sp>
      <p:sp>
        <p:nvSpPr>
          <p:cNvPr id="20" name="Rectangle 19"/>
          <p:cNvSpPr/>
          <p:nvPr/>
        </p:nvSpPr>
        <p:spPr>
          <a:xfrm>
            <a:off x="6766560" y="2468880"/>
            <a:ext cx="109728" cy="1097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0" y="2377439"/>
            <a:ext cx="4389120" cy="457200"/>
          </a:xfrm>
          <a:prstGeom prst="rect">
            <a:avLst/>
          </a:prstGeom>
          <a:noFill/>
        </p:spPr>
        <p:txBody>
          <a:bodyPr wrap="square">
            <a:spAutoFit/>
          </a:bodyPr>
          <a:lstStyle/>
          <a:p>
            <a:pPr algn="l">
              <a:defRPr sz="1200" b="0">
                <a:solidFill>
                  <a:srgbClr val="333333"/>
                </a:solidFill>
                <a:latin typeface="Calibri"/>
              </a:defRPr>
            </a:pPr>
            <a:r>
              <a:t>Default to FIUSD settlement on Solana</a:t>
            </a:r>
          </a:p>
        </p:txBody>
      </p:sp>
      <p:sp>
        <p:nvSpPr>
          <p:cNvPr id="22" name="Rectangle 21"/>
          <p:cNvSpPr/>
          <p:nvPr/>
        </p:nvSpPr>
        <p:spPr>
          <a:xfrm>
            <a:off x="6766560" y="2971800"/>
            <a:ext cx="109728" cy="1097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0" y="2880360"/>
            <a:ext cx="4389120" cy="457200"/>
          </a:xfrm>
          <a:prstGeom prst="rect">
            <a:avLst/>
          </a:prstGeom>
          <a:noFill/>
        </p:spPr>
        <p:txBody>
          <a:bodyPr wrap="square">
            <a:spAutoFit/>
          </a:bodyPr>
          <a:lstStyle/>
          <a:p>
            <a:pPr algn="l">
              <a:defRPr sz="1200" b="0">
                <a:solidFill>
                  <a:srgbClr val="333333"/>
                </a:solidFill>
                <a:latin typeface="Calibri"/>
              </a:defRPr>
            </a:pPr>
            <a:r>
              <a:t>Bank-verified agent identity via Finxact KYC</a:t>
            </a:r>
          </a:p>
        </p:txBody>
      </p:sp>
      <p:sp>
        <p:nvSpPr>
          <p:cNvPr id="24" name="Rectangle 23"/>
          <p:cNvSpPr/>
          <p:nvPr/>
        </p:nvSpPr>
        <p:spPr>
          <a:xfrm>
            <a:off x="6766560" y="3474720"/>
            <a:ext cx="109728" cy="1097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0" y="3383280"/>
            <a:ext cx="4389120" cy="457200"/>
          </a:xfrm>
          <a:prstGeom prst="rect">
            <a:avLst/>
          </a:prstGeom>
          <a:noFill/>
        </p:spPr>
        <p:txBody>
          <a:bodyPr wrap="square">
            <a:spAutoFit/>
          </a:bodyPr>
          <a:lstStyle/>
          <a:p>
            <a:pPr algn="l">
              <a:defRPr sz="1200" b="0">
                <a:solidFill>
                  <a:srgbClr val="333333"/>
                </a:solidFill>
                <a:latin typeface="Calibri"/>
              </a:defRPr>
            </a:pPr>
            <a:r>
              <a:t>6M merchant auto-enablement via software update</a:t>
            </a:r>
          </a:p>
        </p:txBody>
      </p:sp>
      <p:sp>
        <p:nvSpPr>
          <p:cNvPr id="26" name="Rectangle 25"/>
          <p:cNvSpPr/>
          <p:nvPr/>
        </p:nvSpPr>
        <p:spPr>
          <a:xfrm>
            <a:off x="6766560" y="3977639"/>
            <a:ext cx="109728" cy="1097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0" y="3886200"/>
            <a:ext cx="4389120" cy="457200"/>
          </a:xfrm>
          <a:prstGeom prst="rect">
            <a:avLst/>
          </a:prstGeom>
          <a:noFill/>
        </p:spPr>
        <p:txBody>
          <a:bodyPr wrap="square">
            <a:spAutoFit/>
          </a:bodyPr>
          <a:lstStyle/>
          <a:p>
            <a:pPr algn="l">
              <a:defRPr sz="1200" b="0">
                <a:solidFill>
                  <a:srgbClr val="333333"/>
                </a:solidFill>
                <a:latin typeface="Calibri"/>
              </a:defRPr>
            </a:pPr>
            <a:r>
              <a:t>Fiserv Agent SDK (TypeScript + Python)</a:t>
            </a:r>
          </a:p>
        </p:txBody>
      </p:sp>
      <p:sp>
        <p:nvSpPr>
          <p:cNvPr id="28" name="Rectangle 27"/>
          <p:cNvSpPr/>
          <p:nvPr/>
        </p:nvSpPr>
        <p:spPr>
          <a:xfrm>
            <a:off x="6766560" y="4480560"/>
            <a:ext cx="109728" cy="1097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0" y="4389120"/>
            <a:ext cx="4389120" cy="457200"/>
          </a:xfrm>
          <a:prstGeom prst="rect">
            <a:avLst/>
          </a:prstGeom>
          <a:noFill/>
        </p:spPr>
        <p:txBody>
          <a:bodyPr wrap="square">
            <a:spAutoFit/>
          </a:bodyPr>
          <a:lstStyle/>
          <a:p>
            <a:pPr algn="l">
              <a:defRPr sz="1200" b="0">
                <a:solidFill>
                  <a:srgbClr val="333333"/>
                </a:solidFill>
                <a:latin typeface="Calibri"/>
              </a:defRPr>
            </a:pPr>
            <a:r>
              <a:t>"Fiserv Commerce Profile" within x402 specs</a:t>
            </a:r>
          </a:p>
        </p:txBody>
      </p:sp>
      <p:sp>
        <p:nvSpPr>
          <p:cNvPr id="30" name="Rounded Rectangle 29"/>
          <p:cNvSpPr/>
          <p:nvPr/>
        </p:nvSpPr>
        <p:spPr>
          <a:xfrm>
            <a:off x="731520" y="6217920"/>
            <a:ext cx="10698480" cy="457200"/>
          </a:xfrm>
          <a:prstGeom prst="round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7280" y="6263640"/>
            <a:ext cx="10058400" cy="365760"/>
          </a:xfrm>
          <a:prstGeom prst="rect">
            <a:avLst/>
          </a:prstGeom>
          <a:noFill/>
        </p:spPr>
        <p:txBody>
          <a:bodyPr wrap="square">
            <a:spAutoFit/>
          </a:bodyPr>
          <a:lstStyle/>
          <a:p>
            <a:pPr algn="ctr">
              <a:defRPr sz="1300" b="0">
                <a:solidFill>
                  <a:srgbClr val="FFFFFF"/>
                </a:solidFill>
                <a:latin typeface="Calibri"/>
              </a:defRPr>
            </a:pPr>
            <a:r>
              <a:t>Same strategic pattern that made CommerceHub successful: don't own the network, own the orchestration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3B5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640080"/>
          </a:xfrm>
          <a:prstGeom prst="rect">
            <a:avLst/>
          </a:prstGeom>
          <a:noFill/>
        </p:spPr>
        <p:txBody>
          <a:bodyPr wrap="square">
            <a:spAutoFit/>
          </a:bodyPr>
          <a:lstStyle/>
          <a:p>
            <a:pPr algn="l">
              <a:defRPr sz="3600" b="1">
                <a:solidFill>
                  <a:srgbClr val="FFFFFF"/>
                </a:solidFill>
                <a:latin typeface="Calibri"/>
              </a:defRPr>
            </a:pPr>
            <a:r>
              <a:t>x402 Distribution Advantage</a:t>
            </a:r>
          </a:p>
        </p:txBody>
      </p:sp>
      <p:sp>
        <p:nvSpPr>
          <p:cNvPr id="4" name="TextBox 3"/>
          <p:cNvSpPr txBox="1"/>
          <p:nvPr/>
        </p:nvSpPr>
        <p:spPr>
          <a:xfrm>
            <a:off x="914400" y="1371600"/>
            <a:ext cx="10332720" cy="1371600"/>
          </a:xfrm>
          <a:prstGeom prst="rect">
            <a:avLst/>
          </a:prstGeom>
          <a:noFill/>
        </p:spPr>
        <p:txBody>
          <a:bodyPr wrap="square">
            <a:spAutoFit/>
          </a:bodyPr>
          <a:lstStyle/>
          <a:p>
            <a:pPr algn="ctr">
              <a:defRPr sz="4000" b="1">
                <a:solidFill>
                  <a:srgbClr val="FF6600"/>
                </a:solidFill>
                <a:latin typeface="Calibri"/>
              </a:defRPr>
            </a:pPr>
            <a:r>
              <a:t>One Software Update =</a:t>
            </a:r>
            <a:br/>
            <a:r>
              <a:t>6 Million Agent-Payable Merchants</a:t>
            </a:r>
          </a:p>
        </p:txBody>
      </p:sp>
      <p:sp>
        <p:nvSpPr>
          <p:cNvPr id="5" name="Rounded Rectangle 4"/>
          <p:cNvSpPr/>
          <p:nvPr/>
        </p:nvSpPr>
        <p:spPr>
          <a:xfrm>
            <a:off x="914400" y="3200400"/>
            <a:ext cx="4754880" cy="1828800"/>
          </a:xfrm>
          <a:prstGeom prst="roundRect">
            <a:avLst/>
          </a:prstGeom>
          <a:solidFill>
            <a:srgbClr val="004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3383280"/>
            <a:ext cx="4206240" cy="365760"/>
          </a:xfrm>
          <a:prstGeom prst="rect">
            <a:avLst/>
          </a:prstGeom>
          <a:noFill/>
        </p:spPr>
        <p:txBody>
          <a:bodyPr wrap="square">
            <a:spAutoFit/>
          </a:bodyPr>
          <a:lstStyle/>
          <a:p>
            <a:pPr algn="l">
              <a:defRPr sz="1800" b="1">
                <a:solidFill>
                  <a:srgbClr val="C62828"/>
                </a:solidFill>
                <a:latin typeface="Calibri"/>
              </a:defRPr>
            </a:pPr>
            <a:r>
              <a:t>Stripe's Approach</a:t>
            </a:r>
          </a:p>
        </p:txBody>
      </p:sp>
      <p:sp>
        <p:nvSpPr>
          <p:cNvPr id="7" name="TextBox 6"/>
          <p:cNvSpPr txBox="1"/>
          <p:nvPr/>
        </p:nvSpPr>
        <p:spPr>
          <a:xfrm>
            <a:off x="1188720" y="3840480"/>
            <a:ext cx="4206240" cy="914400"/>
          </a:xfrm>
          <a:prstGeom prst="rect">
            <a:avLst/>
          </a:prstGeom>
          <a:noFill/>
        </p:spPr>
        <p:txBody>
          <a:bodyPr wrap="square">
            <a:spAutoFit/>
          </a:bodyPr>
          <a:lstStyle/>
          <a:p>
            <a:pPr algn="l">
              <a:defRPr sz="1300" b="0">
                <a:solidFill>
                  <a:srgbClr val="FFFFFF"/>
                </a:solidFill>
                <a:latin typeface="Calibri"/>
              </a:defRPr>
            </a:pPr>
            <a:r>
              <a:t>Convince merchants one by one</a:t>
            </a:r>
            <a:br/>
            <a:r>
              <a:t>Each integration requires developer effort</a:t>
            </a:r>
            <a:br/>
            <a:r>
              <a:t>100+ services at MPP launch (March 2026)</a:t>
            </a:r>
          </a:p>
        </p:txBody>
      </p:sp>
      <p:sp>
        <p:nvSpPr>
          <p:cNvPr id="8" name="Rounded Rectangle 7"/>
          <p:cNvSpPr/>
          <p:nvPr/>
        </p:nvSpPr>
        <p:spPr>
          <a:xfrm>
            <a:off x="6492240" y="3200400"/>
            <a:ext cx="4754880" cy="1828800"/>
          </a:xfrm>
          <a:prstGeom prst="roundRect">
            <a:avLst/>
          </a:prstGeom>
          <a:solidFill>
            <a:srgbClr val="004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66560" y="3383280"/>
            <a:ext cx="4206240" cy="365760"/>
          </a:xfrm>
          <a:prstGeom prst="rect">
            <a:avLst/>
          </a:prstGeom>
          <a:noFill/>
        </p:spPr>
        <p:txBody>
          <a:bodyPr wrap="square">
            <a:spAutoFit/>
          </a:bodyPr>
          <a:lstStyle/>
          <a:p>
            <a:pPr algn="l">
              <a:defRPr sz="1800" b="1">
                <a:solidFill>
                  <a:srgbClr val="2E7D32"/>
                </a:solidFill>
                <a:latin typeface="Calibri"/>
              </a:defRPr>
            </a:pPr>
            <a:r>
              <a:t>Fiserv's Approach</a:t>
            </a:r>
          </a:p>
        </p:txBody>
      </p:sp>
      <p:sp>
        <p:nvSpPr>
          <p:cNvPr id="10" name="TextBox 9"/>
          <p:cNvSpPr txBox="1"/>
          <p:nvPr/>
        </p:nvSpPr>
        <p:spPr>
          <a:xfrm>
            <a:off x="6766560" y="3840480"/>
            <a:ext cx="4206240" cy="914400"/>
          </a:xfrm>
          <a:prstGeom prst="rect">
            <a:avLst/>
          </a:prstGeom>
          <a:noFill/>
        </p:spPr>
        <p:txBody>
          <a:bodyPr wrap="square">
            <a:spAutoFit/>
          </a:bodyPr>
          <a:lstStyle/>
          <a:p>
            <a:pPr algn="l">
              <a:defRPr sz="1300" b="0">
                <a:solidFill>
                  <a:srgbClr val="FFFFFF"/>
                </a:solidFill>
                <a:latin typeface="Calibri"/>
              </a:defRPr>
            </a:pPr>
            <a:r>
              <a:t>Push software update to Clover + CommerceHub</a:t>
            </a:r>
            <a:br/>
            <a:r>
              <a:t>Zero merchant effort required</a:t>
            </a:r>
            <a:br/>
            <a:r>
              <a:t>6,000,000 merchants overnight</a:t>
            </a:r>
          </a:p>
        </p:txBody>
      </p:sp>
      <p:sp>
        <p:nvSpPr>
          <p:cNvPr id="11" name="TextBox 10"/>
          <p:cNvSpPr txBox="1"/>
          <p:nvPr/>
        </p:nvSpPr>
        <p:spPr>
          <a:xfrm>
            <a:off x="5029200" y="3657600"/>
            <a:ext cx="1371600" cy="457200"/>
          </a:xfrm>
          <a:prstGeom prst="rect">
            <a:avLst/>
          </a:prstGeom>
          <a:noFill/>
        </p:spPr>
        <p:txBody>
          <a:bodyPr wrap="square">
            <a:spAutoFit/>
          </a:bodyPr>
          <a:lstStyle/>
          <a:p>
            <a:pPr algn="ctr">
              <a:defRPr sz="2400" b="1">
                <a:solidFill>
                  <a:srgbClr val="FF6600"/>
                </a:solidFill>
                <a:latin typeface="Calibri"/>
              </a:defRPr>
            </a:pPr>
            <a:r>
              <a:t>VS</a:t>
            </a:r>
          </a:p>
        </p:txBody>
      </p:sp>
      <p:sp>
        <p:nvSpPr>
          <p:cNvPr id="12" name="TextBox 11"/>
          <p:cNvSpPr txBox="1"/>
          <p:nvPr/>
        </p:nvSpPr>
        <p:spPr>
          <a:xfrm>
            <a:off x="914400" y="5486400"/>
            <a:ext cx="10332720" cy="731520"/>
          </a:xfrm>
          <a:prstGeom prst="rect">
            <a:avLst/>
          </a:prstGeom>
          <a:noFill/>
        </p:spPr>
        <p:txBody>
          <a:bodyPr wrap="square">
            <a:spAutoFit/>
          </a:bodyPr>
          <a:lstStyle/>
          <a:p>
            <a:pPr algn="ctr">
              <a:defRPr sz="1400" b="0">
                <a:solidFill>
                  <a:srgbClr val="FFFFFF"/>
                </a:solidFill>
                <a:latin typeface="Calibri"/>
              </a:defRPr>
            </a:pPr>
            <a:r>
              <a:t>Every AI shopping agent that speaks x402 can immediately pay at every Fiserv merchant.</a:t>
            </a:r>
            <a:br/>
            <a:r>
              <a:t>Fiserv becomes the largest x402 merchant network overnight.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640080"/>
          </a:xfrm>
          <a:prstGeom prst="rect">
            <a:avLst/>
          </a:prstGeom>
          <a:noFill/>
        </p:spPr>
        <p:txBody>
          <a:bodyPr wrap="square">
            <a:spAutoFit/>
          </a:bodyPr>
          <a:lstStyle/>
          <a:p>
            <a:pPr algn="l">
              <a:defRPr sz="3600" b="1">
                <a:solidFill>
                  <a:srgbClr val="003B5C"/>
                </a:solidFill>
                <a:latin typeface="Calibri"/>
              </a:defRPr>
            </a:pPr>
            <a:r>
              <a:t>Blue Ocean: Four Actions Framework</a:t>
            </a:r>
          </a:p>
        </p:txBody>
      </p:sp>
      <p:sp>
        <p:nvSpPr>
          <p:cNvPr id="4" name="TextBox 3"/>
          <p:cNvSpPr txBox="1"/>
          <p:nvPr/>
        </p:nvSpPr>
        <p:spPr>
          <a:xfrm>
            <a:off x="731520" y="914400"/>
            <a:ext cx="10058400" cy="365760"/>
          </a:xfrm>
          <a:prstGeom prst="rect">
            <a:avLst/>
          </a:prstGeom>
          <a:noFill/>
        </p:spPr>
        <p:txBody>
          <a:bodyPr wrap="square">
            <a:spAutoFit/>
          </a:bodyPr>
          <a:lstStyle/>
          <a:p>
            <a:pPr algn="l">
              <a:defRPr sz="1300" b="0">
                <a:solidFill>
                  <a:srgbClr val="9B9B9B"/>
                </a:solidFill>
                <a:latin typeface="Calibri"/>
              </a:defRPr>
            </a:pPr>
            <a:r>
              <a:t>The blue ocean is not "crypto payments for merchants" -- it's a bank-issued stablecoin payment network</a:t>
            </a:r>
          </a:p>
        </p:txBody>
      </p:sp>
      <p:sp>
        <p:nvSpPr>
          <p:cNvPr id="5" name="Rounded Rectangle 4"/>
          <p:cNvSpPr/>
          <p:nvPr/>
        </p:nvSpPr>
        <p:spPr>
          <a:xfrm>
            <a:off x="731520" y="1463040"/>
            <a:ext cx="5029200" cy="192024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63040"/>
            <a:ext cx="73152" cy="1920240"/>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0200"/>
            <a:ext cx="4572000" cy="365760"/>
          </a:xfrm>
          <a:prstGeom prst="rect">
            <a:avLst/>
          </a:prstGeom>
          <a:noFill/>
        </p:spPr>
        <p:txBody>
          <a:bodyPr wrap="square">
            <a:spAutoFit/>
          </a:bodyPr>
          <a:lstStyle/>
          <a:p>
            <a:pPr algn="l">
              <a:defRPr sz="1800" b="1">
                <a:solidFill>
                  <a:srgbClr val="C62828"/>
                </a:solidFill>
                <a:latin typeface="Calibri"/>
              </a:defRPr>
            </a:pPr>
            <a:r>
              <a:t>ELIMINATE</a:t>
            </a:r>
          </a:p>
        </p:txBody>
      </p:sp>
      <p:sp>
        <p:nvSpPr>
          <p:cNvPr id="8" name="TextBox 7"/>
          <p:cNvSpPr txBox="1"/>
          <p:nvPr/>
        </p:nvSpPr>
        <p:spPr>
          <a:xfrm>
            <a:off x="1005840" y="1965960"/>
            <a:ext cx="4572000" cy="1280160"/>
          </a:xfrm>
          <a:prstGeom prst="rect">
            <a:avLst/>
          </a:prstGeom>
          <a:noFill/>
        </p:spPr>
        <p:txBody>
          <a:bodyPr wrap="square">
            <a:spAutoFit/>
          </a:bodyPr>
          <a:lstStyle/>
          <a:p>
            <a:pPr algn="l">
              <a:defRPr sz="1200" b="0">
                <a:solidFill>
                  <a:srgbClr val="333333"/>
                </a:solidFill>
                <a:latin typeface="Calibri"/>
              </a:defRPr>
            </a:pPr>
            <a:r>
              <a:t>Crypto volatility risk for merchants</a:t>
            </a:r>
            <a:br/>
            <a:br/>
            <a:r>
              <a:t>Auto-convert everything to USD via INDX in real-time. Merchants never touch crypto.</a:t>
            </a:r>
          </a:p>
        </p:txBody>
      </p:sp>
      <p:sp>
        <p:nvSpPr>
          <p:cNvPr id="9" name="Rounded Rectangle 8"/>
          <p:cNvSpPr/>
          <p:nvPr/>
        </p:nvSpPr>
        <p:spPr>
          <a:xfrm>
            <a:off x="6400800" y="1463040"/>
            <a:ext cx="5029200" cy="192024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0" y="1463040"/>
            <a:ext cx="73152" cy="1920240"/>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600200"/>
            <a:ext cx="4572000" cy="365760"/>
          </a:xfrm>
          <a:prstGeom prst="rect">
            <a:avLst/>
          </a:prstGeom>
          <a:noFill/>
        </p:spPr>
        <p:txBody>
          <a:bodyPr wrap="square">
            <a:spAutoFit/>
          </a:bodyPr>
          <a:lstStyle/>
          <a:p>
            <a:pPr algn="l">
              <a:defRPr sz="1800" b="1">
                <a:solidFill>
                  <a:srgbClr val="E65C00"/>
                </a:solidFill>
                <a:latin typeface="Calibri"/>
              </a:defRPr>
            </a:pPr>
            <a:r>
              <a:t>REDUCE</a:t>
            </a:r>
          </a:p>
        </p:txBody>
      </p:sp>
      <p:sp>
        <p:nvSpPr>
          <p:cNvPr id="12" name="TextBox 11"/>
          <p:cNvSpPr txBox="1"/>
          <p:nvPr/>
        </p:nvSpPr>
        <p:spPr>
          <a:xfrm>
            <a:off x="6675120" y="1965960"/>
            <a:ext cx="4572000" cy="1280160"/>
          </a:xfrm>
          <a:prstGeom prst="rect">
            <a:avLst/>
          </a:prstGeom>
          <a:noFill/>
        </p:spPr>
        <p:txBody>
          <a:bodyPr wrap="square">
            <a:spAutoFit/>
          </a:bodyPr>
          <a:lstStyle/>
          <a:p>
            <a:pPr algn="l">
              <a:defRPr sz="1200" b="0">
                <a:solidFill>
                  <a:srgbClr val="333333"/>
                </a:solidFill>
                <a:latin typeface="Calibri"/>
              </a:defRPr>
            </a:pPr>
            <a:r>
              <a:t>Integration complexity</a:t>
            </a:r>
            <a:br/>
            <a:br/>
            <a:r>
              <a:t>One API toggle in CommerceHub. One button on Clover. Merchant does nothing.</a:t>
            </a:r>
          </a:p>
        </p:txBody>
      </p:sp>
      <p:sp>
        <p:nvSpPr>
          <p:cNvPr id="13" name="Rounded Rectangle 12"/>
          <p:cNvSpPr/>
          <p:nvPr/>
        </p:nvSpPr>
        <p:spPr>
          <a:xfrm>
            <a:off x="731520" y="3657600"/>
            <a:ext cx="5029200" cy="192024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657600"/>
            <a:ext cx="73152" cy="1920240"/>
          </a:xfrm>
          <a:prstGeom prst="rect">
            <a:avLst/>
          </a:prstGeom>
          <a:solidFill>
            <a:srgbClr val="00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794760"/>
            <a:ext cx="4572000" cy="365760"/>
          </a:xfrm>
          <a:prstGeom prst="rect">
            <a:avLst/>
          </a:prstGeom>
          <a:noFill/>
        </p:spPr>
        <p:txBody>
          <a:bodyPr wrap="square">
            <a:spAutoFit/>
          </a:bodyPr>
          <a:lstStyle/>
          <a:p>
            <a:pPr algn="l">
              <a:defRPr sz="1800" b="1">
                <a:solidFill>
                  <a:srgbClr val="008090"/>
                </a:solidFill>
                <a:latin typeface="Calibri"/>
              </a:defRPr>
            </a:pPr>
            <a:r>
              <a:t>RAISE</a:t>
            </a:r>
          </a:p>
        </p:txBody>
      </p:sp>
      <p:sp>
        <p:nvSpPr>
          <p:cNvPr id="16" name="TextBox 15"/>
          <p:cNvSpPr txBox="1"/>
          <p:nvPr/>
        </p:nvSpPr>
        <p:spPr>
          <a:xfrm>
            <a:off x="1005840" y="4160520"/>
            <a:ext cx="4572000" cy="1280160"/>
          </a:xfrm>
          <a:prstGeom prst="rect">
            <a:avLst/>
          </a:prstGeom>
          <a:noFill/>
        </p:spPr>
        <p:txBody>
          <a:bodyPr wrap="square">
            <a:spAutoFit/>
          </a:bodyPr>
          <a:lstStyle/>
          <a:p>
            <a:pPr algn="l">
              <a:defRPr sz="1200" b="0">
                <a:solidFill>
                  <a:srgbClr val="333333"/>
                </a:solidFill>
                <a:latin typeface="Calibri"/>
              </a:defRPr>
            </a:pPr>
            <a:r>
              <a:t>Regulatory confidence</a:t>
            </a:r>
            <a:br/>
            <a:br/>
            <a:r>
              <a:t>FDIC-insured settlement. Bank-embedded stablecoin. Regulated banking core. GENIUS Act compliant.</a:t>
            </a:r>
          </a:p>
        </p:txBody>
      </p:sp>
      <p:sp>
        <p:nvSpPr>
          <p:cNvPr id="17" name="Rounded Rectangle 16"/>
          <p:cNvSpPr/>
          <p:nvPr/>
        </p:nvSpPr>
        <p:spPr>
          <a:xfrm>
            <a:off x="6400800" y="3657600"/>
            <a:ext cx="5029200" cy="192024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3657600"/>
            <a:ext cx="73152" cy="19202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3794760"/>
            <a:ext cx="4572000" cy="365760"/>
          </a:xfrm>
          <a:prstGeom prst="rect">
            <a:avLst/>
          </a:prstGeom>
          <a:noFill/>
        </p:spPr>
        <p:txBody>
          <a:bodyPr wrap="square">
            <a:spAutoFit/>
          </a:bodyPr>
          <a:lstStyle/>
          <a:p>
            <a:pPr algn="l">
              <a:defRPr sz="1800" b="1">
                <a:solidFill>
                  <a:srgbClr val="2E7D32"/>
                </a:solidFill>
                <a:latin typeface="Calibri"/>
              </a:defRPr>
            </a:pPr>
            <a:r>
              <a:t>CREATE</a:t>
            </a:r>
          </a:p>
        </p:txBody>
      </p:sp>
      <p:sp>
        <p:nvSpPr>
          <p:cNvPr id="20" name="TextBox 19"/>
          <p:cNvSpPr txBox="1"/>
          <p:nvPr/>
        </p:nvSpPr>
        <p:spPr>
          <a:xfrm>
            <a:off x="6675120" y="4160520"/>
            <a:ext cx="4572000" cy="1280160"/>
          </a:xfrm>
          <a:prstGeom prst="rect">
            <a:avLst/>
          </a:prstGeom>
          <a:noFill/>
        </p:spPr>
        <p:txBody>
          <a:bodyPr wrap="square">
            <a:spAutoFit/>
          </a:bodyPr>
          <a:lstStyle/>
          <a:p>
            <a:pPr algn="l">
              <a:defRPr sz="1200" b="0">
                <a:solidFill>
                  <a:srgbClr val="333333"/>
                </a:solidFill>
                <a:latin typeface="Calibri"/>
              </a:defRPr>
            </a:pPr>
            <a:r>
              <a:t>Bank-merchant stablecoin loop</a:t>
            </a:r>
            <a:br/>
            <a:br/>
            <a:r>
              <a:t>Banks earn 60-80bps (more than interchange). Merchants pay 80-100bps (less than cards). Card networks eliminated from the equation.</a:t>
            </a:r>
          </a:p>
        </p:txBody>
      </p:sp>
      <p:sp>
        <p:nvSpPr>
          <p:cNvPr id="21" name="Rounded Rectangle 20"/>
          <p:cNvSpPr/>
          <p:nvPr/>
        </p:nvSpPr>
        <p:spPr>
          <a:xfrm>
            <a:off x="731520" y="5852160"/>
            <a:ext cx="10698480" cy="640080"/>
          </a:xfrm>
          <a:prstGeom prst="round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5925312"/>
            <a:ext cx="10058400" cy="457200"/>
          </a:xfrm>
          <a:prstGeom prst="rect">
            <a:avLst/>
          </a:prstGeom>
          <a:noFill/>
        </p:spPr>
        <p:txBody>
          <a:bodyPr wrap="square">
            <a:spAutoFit/>
          </a:bodyPr>
          <a:lstStyle/>
          <a:p>
            <a:pPr algn="ctr">
              <a:defRPr sz="1400" b="1">
                <a:solidFill>
                  <a:srgbClr val="FF6600"/>
                </a:solidFill>
                <a:latin typeface="Calibri"/>
              </a:defRPr>
            </a:pPr>
            <a:r>
              <a:t>Result: Bank earns MORE per transaction, merchant pays LESS -- because the card network's share is eliminated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74320"/>
            <a:ext cx="1645920" cy="320040"/>
          </a:xfrm>
          <a:prstGeom prst="round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92608"/>
            <a:ext cx="1645920" cy="274320"/>
          </a:xfrm>
          <a:prstGeom prst="rect">
            <a:avLst/>
          </a:prstGeom>
          <a:noFill/>
        </p:spPr>
        <p:txBody>
          <a:bodyPr wrap="square">
            <a:spAutoFit/>
          </a:bodyPr>
          <a:lstStyle/>
          <a:p>
            <a:pPr algn="ctr">
              <a:defRPr sz="1100" b="1">
                <a:solidFill>
                  <a:srgbClr val="FFFFFF"/>
                </a:solidFill>
                <a:latin typeface="Calibri"/>
              </a:defRPr>
            </a:pPr>
            <a:r>
              <a:t>PROTOTYPE 1</a:t>
            </a:r>
          </a:p>
        </p:txBody>
      </p:sp>
      <p:sp>
        <p:nvSpPr>
          <p:cNvPr id="5" name="TextBox 4"/>
          <p:cNvSpPr txBox="1"/>
          <p:nvPr/>
        </p:nvSpPr>
        <p:spPr>
          <a:xfrm>
            <a:off x="2560320" y="228600"/>
            <a:ext cx="8229600" cy="457200"/>
          </a:xfrm>
          <a:prstGeom prst="rect">
            <a:avLst/>
          </a:prstGeom>
          <a:noFill/>
        </p:spPr>
        <p:txBody>
          <a:bodyPr wrap="square">
            <a:spAutoFit/>
          </a:bodyPr>
          <a:lstStyle/>
          <a:p>
            <a:pPr algn="l">
              <a:defRPr sz="2800" b="1">
                <a:solidFill>
                  <a:srgbClr val="003B5C"/>
                </a:solidFill>
                <a:latin typeface="Calibri"/>
              </a:defRPr>
            </a:pPr>
            <a:r>
              <a:t>Merchant Yield Sweep</a:t>
            </a:r>
          </a:p>
        </p:txBody>
      </p:sp>
      <p:sp>
        <p:nvSpPr>
          <p:cNvPr id="6" name="Rounded Rectangle 5"/>
          <p:cNvSpPr/>
          <p:nvPr/>
        </p:nvSpPr>
        <p:spPr>
          <a:xfrm>
            <a:off x="548640" y="822960"/>
            <a:ext cx="5486400" cy="118872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822960"/>
            <a:ext cx="54864" cy="1188720"/>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868680"/>
            <a:ext cx="5029200" cy="1097280"/>
          </a:xfrm>
          <a:prstGeom prst="rect">
            <a:avLst/>
          </a:prstGeom>
          <a:noFill/>
        </p:spPr>
        <p:txBody>
          <a:bodyPr wrap="square">
            <a:spAutoFit/>
          </a:bodyPr>
          <a:lstStyle/>
          <a:p>
            <a:pPr algn="l">
              <a:spcAft>
                <a:spcPts val="400"/>
              </a:spcAft>
              <a:defRPr sz="1000" b="1">
                <a:solidFill>
                  <a:srgbClr val="C62828"/>
                </a:solidFill>
                <a:latin typeface="Calibri"/>
              </a:defRPr>
            </a:pPr>
            <a:r>
              <a:t>THE PROBLEM</a:t>
            </a:r>
          </a:p>
          <a:p>
            <a:pPr algn="l">
              <a:spcAft>
                <a:spcPts val="400"/>
              </a:spcAft>
              <a:defRPr sz="1000" b="0">
                <a:solidFill>
                  <a:srgbClr val="333333"/>
                </a:solidFill>
                <a:latin typeface="Calibri"/>
              </a:defRPr>
            </a:pPr>
            <a:r>
              <a:t>SMB merchants on Clover hold $15K-$50K in idle settlement balances earning zero interest. 99% of small businesses consume zero treasury management services. Across 6M merchant locations, billions sit dormant -- generating no yield for merchants and no revenue for Fiserv.</a:t>
            </a:r>
          </a:p>
        </p:txBody>
      </p:sp>
      <p:sp>
        <p:nvSpPr>
          <p:cNvPr id="9" name="Rounded Rectangle 8"/>
          <p:cNvSpPr/>
          <p:nvPr/>
        </p:nvSpPr>
        <p:spPr>
          <a:xfrm>
            <a:off x="548640" y="2148840"/>
            <a:ext cx="5486400" cy="118872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48840"/>
            <a:ext cx="54864" cy="11887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194560"/>
            <a:ext cx="5029200" cy="1097280"/>
          </a:xfrm>
          <a:prstGeom prst="rect">
            <a:avLst/>
          </a:prstGeom>
          <a:noFill/>
        </p:spPr>
        <p:txBody>
          <a:bodyPr wrap="square">
            <a:spAutoFit/>
          </a:bodyPr>
          <a:lstStyle/>
          <a:p>
            <a:pPr algn="l">
              <a:spcAft>
                <a:spcPts val="400"/>
              </a:spcAft>
              <a:defRPr sz="1000" b="1">
                <a:solidFill>
                  <a:srgbClr val="2E7D32"/>
                </a:solidFill>
                <a:latin typeface="Calibri"/>
              </a:defRPr>
            </a:pPr>
            <a:r>
              <a:t>THE SOLUTION</a:t>
            </a:r>
          </a:p>
          <a:p>
            <a:pPr algn="l">
              <a:spcAft>
                <a:spcPts val="400"/>
              </a:spcAft>
              <a:defRPr sz="1000" b="0">
                <a:solidFill>
                  <a:srgbClr val="333333"/>
                </a:solidFill>
                <a:latin typeface="Calibri"/>
              </a:defRPr>
            </a:pPr>
            <a:r>
              <a:t>AI-powered treasury agent auto-sweeps idle merchant balances into yield-bearing FIUSD positions on Finxact. ML model predicts cash needs using 180 days of CommerceHub transaction history. Configurable risk tolerance. Instant unsweep via INDX when cash is needed. One toggle in Clover to enable.</a:t>
            </a:r>
          </a:p>
        </p:txBody>
      </p:sp>
      <p:sp>
        <p:nvSpPr>
          <p:cNvPr id="12" name="TextBox 11"/>
          <p:cNvSpPr txBox="1"/>
          <p:nvPr/>
        </p:nvSpPr>
        <p:spPr>
          <a:xfrm>
            <a:off x="6400800" y="822960"/>
            <a:ext cx="5029200" cy="365760"/>
          </a:xfrm>
          <a:prstGeom prst="rect">
            <a:avLst/>
          </a:prstGeom>
          <a:noFill/>
        </p:spPr>
        <p:txBody>
          <a:bodyPr wrap="square">
            <a:spAutoFit/>
          </a:bodyPr>
          <a:lstStyle/>
          <a:p>
            <a:pPr algn="l">
              <a:defRPr sz="1000" b="1">
                <a:solidFill>
                  <a:srgbClr val="003B5C"/>
                </a:solidFill>
                <a:latin typeface="Calibri"/>
              </a:defRPr>
            </a:pPr>
            <a:r>
              <a:t>HOW IT WORKS</a:t>
            </a:r>
          </a:p>
        </p:txBody>
      </p:sp>
      <p:sp>
        <p:nvSpPr>
          <p:cNvPr id="13" name="Oval 12"/>
          <p:cNvSpPr/>
          <p:nvPr/>
        </p:nvSpPr>
        <p:spPr>
          <a:xfrm>
            <a:off x="6400800" y="1234440"/>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252728"/>
            <a:ext cx="274320" cy="228600"/>
          </a:xfrm>
          <a:prstGeom prst="rect">
            <a:avLst/>
          </a:prstGeom>
          <a:noFill/>
        </p:spPr>
        <p:txBody>
          <a:bodyPr wrap="square">
            <a:spAutoFit/>
          </a:bodyPr>
          <a:lstStyle/>
          <a:p>
            <a:pPr algn="ctr">
              <a:defRPr sz="1000" b="1">
                <a:solidFill>
                  <a:srgbClr val="FFFFFF"/>
                </a:solidFill>
                <a:latin typeface="Calibri"/>
              </a:defRPr>
            </a:pPr>
            <a:r>
              <a:t>1</a:t>
            </a:r>
          </a:p>
        </p:txBody>
      </p:sp>
      <p:sp>
        <p:nvSpPr>
          <p:cNvPr id="15" name="TextBox 14"/>
          <p:cNvSpPr txBox="1"/>
          <p:nvPr/>
        </p:nvSpPr>
        <p:spPr>
          <a:xfrm>
            <a:off x="6812280" y="1234440"/>
            <a:ext cx="4572000" cy="411480"/>
          </a:xfrm>
          <a:prstGeom prst="rect">
            <a:avLst/>
          </a:prstGeom>
          <a:noFill/>
        </p:spPr>
        <p:txBody>
          <a:bodyPr wrap="square">
            <a:spAutoFit/>
          </a:bodyPr>
          <a:lstStyle/>
          <a:p>
            <a:pPr algn="l">
              <a:defRPr sz="900" b="0">
                <a:solidFill>
                  <a:srgbClr val="333333"/>
                </a:solidFill>
                <a:latin typeface="Calibri"/>
              </a:defRPr>
            </a:pPr>
            <a:r>
              <a:t>Settlement data feeds into AI Treasury Agent from Clover/CommerceHub</a:t>
            </a:r>
          </a:p>
        </p:txBody>
      </p:sp>
      <p:sp>
        <p:nvSpPr>
          <p:cNvPr id="16" name="Oval 15"/>
          <p:cNvSpPr/>
          <p:nvPr/>
        </p:nvSpPr>
        <p:spPr>
          <a:xfrm>
            <a:off x="6400800" y="1709928"/>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728216"/>
            <a:ext cx="274320" cy="228600"/>
          </a:xfrm>
          <a:prstGeom prst="rect">
            <a:avLst/>
          </a:prstGeom>
          <a:noFill/>
        </p:spPr>
        <p:txBody>
          <a:bodyPr wrap="square">
            <a:spAutoFit/>
          </a:bodyPr>
          <a:lstStyle/>
          <a:p>
            <a:pPr algn="ctr">
              <a:defRPr sz="1000" b="1">
                <a:solidFill>
                  <a:srgbClr val="FFFFFF"/>
                </a:solidFill>
                <a:latin typeface="Calibri"/>
              </a:defRPr>
            </a:pPr>
            <a:r>
              <a:t>2</a:t>
            </a:r>
          </a:p>
        </p:txBody>
      </p:sp>
      <p:sp>
        <p:nvSpPr>
          <p:cNvPr id="18" name="TextBox 17"/>
          <p:cNvSpPr txBox="1"/>
          <p:nvPr/>
        </p:nvSpPr>
        <p:spPr>
          <a:xfrm>
            <a:off x="6812280" y="1709928"/>
            <a:ext cx="4572000" cy="411480"/>
          </a:xfrm>
          <a:prstGeom prst="rect">
            <a:avLst/>
          </a:prstGeom>
          <a:noFill/>
        </p:spPr>
        <p:txBody>
          <a:bodyPr wrap="square">
            <a:spAutoFit/>
          </a:bodyPr>
          <a:lstStyle/>
          <a:p>
            <a:pPr algn="l">
              <a:defRPr sz="900" b="0">
                <a:solidFill>
                  <a:srgbClr val="333333"/>
                </a:solidFill>
                <a:latin typeface="Calibri"/>
              </a:defRPr>
            </a:pPr>
            <a:r>
              <a:t>ML model predicts 3-day outflows with seasonal adjustment (87% confidence)</a:t>
            </a:r>
          </a:p>
        </p:txBody>
      </p:sp>
      <p:sp>
        <p:nvSpPr>
          <p:cNvPr id="19" name="Oval 18"/>
          <p:cNvSpPr/>
          <p:nvPr/>
        </p:nvSpPr>
        <p:spPr>
          <a:xfrm>
            <a:off x="6400800" y="2185416"/>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2203704"/>
            <a:ext cx="274320" cy="228600"/>
          </a:xfrm>
          <a:prstGeom prst="rect">
            <a:avLst/>
          </a:prstGeom>
          <a:noFill/>
        </p:spPr>
        <p:txBody>
          <a:bodyPr wrap="square">
            <a:spAutoFit/>
          </a:bodyPr>
          <a:lstStyle/>
          <a:p>
            <a:pPr algn="ctr">
              <a:defRPr sz="1000" b="1">
                <a:solidFill>
                  <a:srgbClr val="FFFFFF"/>
                </a:solidFill>
                <a:latin typeface="Calibri"/>
              </a:defRPr>
            </a:pPr>
            <a:r>
              <a:t>3</a:t>
            </a:r>
          </a:p>
        </p:txBody>
      </p:sp>
      <p:sp>
        <p:nvSpPr>
          <p:cNvPr id="21" name="TextBox 20"/>
          <p:cNvSpPr txBox="1"/>
          <p:nvPr/>
        </p:nvSpPr>
        <p:spPr>
          <a:xfrm>
            <a:off x="6812280" y="2185416"/>
            <a:ext cx="4572000" cy="411480"/>
          </a:xfrm>
          <a:prstGeom prst="rect">
            <a:avLst/>
          </a:prstGeom>
          <a:noFill/>
        </p:spPr>
        <p:txBody>
          <a:bodyPr wrap="square">
            <a:spAutoFit/>
          </a:bodyPr>
          <a:lstStyle/>
          <a:p>
            <a:pPr algn="l">
              <a:defRPr sz="900" b="0">
                <a:solidFill>
                  <a:srgbClr val="333333"/>
                </a:solidFill>
                <a:latin typeface="Calibri"/>
              </a:defRPr>
            </a:pPr>
            <a:r>
              <a:t>Decision Gate validates safeguards: hard floor, gradual ramp, depeg check</a:t>
            </a:r>
          </a:p>
        </p:txBody>
      </p:sp>
      <p:sp>
        <p:nvSpPr>
          <p:cNvPr id="22" name="Oval 21"/>
          <p:cNvSpPr/>
          <p:nvPr/>
        </p:nvSpPr>
        <p:spPr>
          <a:xfrm>
            <a:off x="6400800" y="2660904"/>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2679192"/>
            <a:ext cx="274320" cy="228600"/>
          </a:xfrm>
          <a:prstGeom prst="rect">
            <a:avLst/>
          </a:prstGeom>
          <a:noFill/>
        </p:spPr>
        <p:txBody>
          <a:bodyPr wrap="square">
            <a:spAutoFit/>
          </a:bodyPr>
          <a:lstStyle/>
          <a:p>
            <a:pPr algn="ctr">
              <a:defRPr sz="1000" b="1">
                <a:solidFill>
                  <a:srgbClr val="FFFFFF"/>
                </a:solidFill>
                <a:latin typeface="Calibri"/>
              </a:defRPr>
            </a:pPr>
            <a:r>
              <a:t>4</a:t>
            </a:r>
          </a:p>
        </p:txBody>
      </p:sp>
      <p:sp>
        <p:nvSpPr>
          <p:cNvPr id="24" name="TextBox 23"/>
          <p:cNvSpPr txBox="1"/>
          <p:nvPr/>
        </p:nvSpPr>
        <p:spPr>
          <a:xfrm>
            <a:off x="6812280" y="2660904"/>
            <a:ext cx="4572000" cy="411480"/>
          </a:xfrm>
          <a:prstGeom prst="rect">
            <a:avLst/>
          </a:prstGeom>
          <a:noFill/>
        </p:spPr>
        <p:txBody>
          <a:bodyPr wrap="square">
            <a:spAutoFit/>
          </a:bodyPr>
          <a:lstStyle/>
          <a:p>
            <a:pPr algn="l">
              <a:defRPr sz="900" b="0">
                <a:solidFill>
                  <a:srgbClr val="333333"/>
                </a:solidFill>
                <a:latin typeface="Calibri"/>
              </a:defRPr>
            </a:pPr>
            <a:r>
              <a:t>Approved excess sweeps to FIUSD yield position on Finxact (4.2% APY)</a:t>
            </a:r>
          </a:p>
        </p:txBody>
      </p:sp>
      <p:sp>
        <p:nvSpPr>
          <p:cNvPr id="25" name="Oval 24"/>
          <p:cNvSpPr/>
          <p:nvPr/>
        </p:nvSpPr>
        <p:spPr>
          <a:xfrm>
            <a:off x="6400800" y="3136392"/>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3154680"/>
            <a:ext cx="274320" cy="228600"/>
          </a:xfrm>
          <a:prstGeom prst="rect">
            <a:avLst/>
          </a:prstGeom>
          <a:noFill/>
        </p:spPr>
        <p:txBody>
          <a:bodyPr wrap="square">
            <a:spAutoFit/>
          </a:bodyPr>
          <a:lstStyle/>
          <a:p>
            <a:pPr algn="ctr">
              <a:defRPr sz="1000" b="1">
                <a:solidFill>
                  <a:srgbClr val="FFFFFF"/>
                </a:solidFill>
                <a:latin typeface="Calibri"/>
              </a:defRPr>
            </a:pPr>
            <a:r>
              <a:t>5</a:t>
            </a:r>
          </a:p>
        </p:txBody>
      </p:sp>
      <p:sp>
        <p:nvSpPr>
          <p:cNvPr id="27" name="TextBox 26"/>
          <p:cNvSpPr txBox="1"/>
          <p:nvPr/>
        </p:nvSpPr>
        <p:spPr>
          <a:xfrm>
            <a:off x="6812280" y="3136392"/>
            <a:ext cx="4572000" cy="411480"/>
          </a:xfrm>
          <a:prstGeom prst="rect">
            <a:avLst/>
          </a:prstGeom>
          <a:noFill/>
        </p:spPr>
        <p:txBody>
          <a:bodyPr wrap="square">
            <a:spAutoFit/>
          </a:bodyPr>
          <a:lstStyle/>
          <a:p>
            <a:pPr algn="l">
              <a:defRPr sz="900" b="0">
                <a:solidFill>
                  <a:srgbClr val="333333"/>
                </a:solidFill>
                <a:latin typeface="Calibri"/>
              </a:defRPr>
            </a:pPr>
            <a:r>
              <a:t>INDX provides instant USD liquidity when merchant needs cash back</a:t>
            </a:r>
          </a:p>
        </p:txBody>
      </p:sp>
      <p:sp>
        <p:nvSpPr>
          <p:cNvPr id="28" name="Rounded Rectangle 27"/>
          <p:cNvSpPr/>
          <p:nvPr/>
        </p:nvSpPr>
        <p:spPr>
          <a:xfrm>
            <a:off x="548640" y="3840480"/>
            <a:ext cx="10881360" cy="1463040"/>
          </a:xfrm>
          <a:prstGeom prst="round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3886200"/>
            <a:ext cx="2743200" cy="274320"/>
          </a:xfrm>
          <a:prstGeom prst="rect">
            <a:avLst/>
          </a:prstGeom>
          <a:noFill/>
        </p:spPr>
        <p:txBody>
          <a:bodyPr wrap="square">
            <a:spAutoFit/>
          </a:bodyPr>
          <a:lstStyle/>
          <a:p>
            <a:pPr algn="l">
              <a:defRPr sz="1000" b="1">
                <a:solidFill>
                  <a:srgbClr val="FF6600"/>
                </a:solidFill>
                <a:latin typeface="Calibri"/>
              </a:defRPr>
            </a:pPr>
            <a:r>
              <a:t>POTENTIAL IMPACT</a:t>
            </a:r>
          </a:p>
        </p:txBody>
      </p:sp>
      <p:sp>
        <p:nvSpPr>
          <p:cNvPr id="30" name="TextBox 29"/>
          <p:cNvSpPr txBox="1"/>
          <p:nvPr/>
        </p:nvSpPr>
        <p:spPr>
          <a:xfrm>
            <a:off x="731520" y="4160520"/>
            <a:ext cx="2468880" cy="457200"/>
          </a:xfrm>
          <a:prstGeom prst="rect">
            <a:avLst/>
          </a:prstGeom>
          <a:noFill/>
        </p:spPr>
        <p:txBody>
          <a:bodyPr wrap="square">
            <a:spAutoFit/>
          </a:bodyPr>
          <a:lstStyle/>
          <a:p>
            <a:pPr algn="ctr">
              <a:defRPr sz="2400" b="1">
                <a:solidFill>
                  <a:srgbClr val="FF6600"/>
                </a:solidFill>
                <a:latin typeface="Calibri"/>
              </a:defRPr>
            </a:pPr>
            <a:r>
              <a:t>$847/mo</a:t>
            </a:r>
          </a:p>
        </p:txBody>
      </p:sp>
      <p:sp>
        <p:nvSpPr>
          <p:cNvPr id="31" name="TextBox 30"/>
          <p:cNvSpPr txBox="1"/>
          <p:nvPr/>
        </p:nvSpPr>
        <p:spPr>
          <a:xfrm>
            <a:off x="731520" y="4617720"/>
            <a:ext cx="2468880" cy="411480"/>
          </a:xfrm>
          <a:prstGeom prst="rect">
            <a:avLst/>
          </a:prstGeom>
          <a:noFill/>
        </p:spPr>
        <p:txBody>
          <a:bodyPr wrap="square">
            <a:spAutoFit/>
          </a:bodyPr>
          <a:lstStyle/>
          <a:p>
            <a:pPr algn="ctr">
              <a:defRPr sz="900" b="0">
                <a:solidFill>
                  <a:srgbClr val="FFFFFF"/>
                </a:solidFill>
                <a:latin typeface="Calibri"/>
              </a:defRPr>
            </a:pPr>
            <a:r>
              <a:t>Per merchant</a:t>
            </a:r>
            <a:br/>
            <a:r>
              <a:t>earnings on idle cash</a:t>
            </a:r>
          </a:p>
        </p:txBody>
      </p:sp>
      <p:sp>
        <p:nvSpPr>
          <p:cNvPr id="32" name="TextBox 31"/>
          <p:cNvSpPr txBox="1"/>
          <p:nvPr/>
        </p:nvSpPr>
        <p:spPr>
          <a:xfrm>
            <a:off x="3520439" y="4160520"/>
            <a:ext cx="2468880" cy="457200"/>
          </a:xfrm>
          <a:prstGeom prst="rect">
            <a:avLst/>
          </a:prstGeom>
          <a:noFill/>
        </p:spPr>
        <p:txBody>
          <a:bodyPr wrap="square">
            <a:spAutoFit/>
          </a:bodyPr>
          <a:lstStyle/>
          <a:p>
            <a:pPr algn="ctr">
              <a:defRPr sz="2400" b="1">
                <a:solidFill>
                  <a:srgbClr val="FF6600"/>
                </a:solidFill>
                <a:latin typeface="Calibri"/>
              </a:defRPr>
            </a:pPr>
            <a:r>
              <a:t>$750M/yr</a:t>
            </a:r>
          </a:p>
        </p:txBody>
      </p:sp>
      <p:sp>
        <p:nvSpPr>
          <p:cNvPr id="33" name="TextBox 32"/>
          <p:cNvSpPr txBox="1"/>
          <p:nvPr/>
        </p:nvSpPr>
        <p:spPr>
          <a:xfrm>
            <a:off x="3520439" y="4617720"/>
            <a:ext cx="2468880" cy="411480"/>
          </a:xfrm>
          <a:prstGeom prst="rect">
            <a:avLst/>
          </a:prstGeom>
          <a:noFill/>
        </p:spPr>
        <p:txBody>
          <a:bodyPr wrap="square">
            <a:spAutoFit/>
          </a:bodyPr>
          <a:lstStyle/>
          <a:p>
            <a:pPr algn="ctr">
              <a:defRPr sz="900" b="0">
                <a:solidFill>
                  <a:srgbClr val="FFFFFF"/>
                </a:solidFill>
                <a:latin typeface="Calibri"/>
              </a:defRPr>
            </a:pPr>
            <a:r>
              <a:t>Revenue at full</a:t>
            </a:r>
            <a:br/>
            <a:r>
              <a:t>penetration (6M merchants)</a:t>
            </a:r>
          </a:p>
        </p:txBody>
      </p:sp>
      <p:sp>
        <p:nvSpPr>
          <p:cNvPr id="34" name="TextBox 33"/>
          <p:cNvSpPr txBox="1"/>
          <p:nvPr/>
        </p:nvSpPr>
        <p:spPr>
          <a:xfrm>
            <a:off x="6309359" y="4160520"/>
            <a:ext cx="2468880" cy="457200"/>
          </a:xfrm>
          <a:prstGeom prst="rect">
            <a:avLst/>
          </a:prstGeom>
          <a:noFill/>
        </p:spPr>
        <p:txBody>
          <a:bodyPr wrap="square">
            <a:spAutoFit/>
          </a:bodyPr>
          <a:lstStyle/>
          <a:p>
            <a:pPr algn="ctr">
              <a:defRPr sz="2400" b="1">
                <a:solidFill>
                  <a:srgbClr val="FF6600"/>
                </a:solidFill>
                <a:latin typeface="Calibri"/>
              </a:defRPr>
            </a:pPr>
            <a:r>
              <a:t>4.2% APY</a:t>
            </a:r>
          </a:p>
        </p:txBody>
      </p:sp>
      <p:sp>
        <p:nvSpPr>
          <p:cNvPr id="35" name="TextBox 34"/>
          <p:cNvSpPr txBox="1"/>
          <p:nvPr/>
        </p:nvSpPr>
        <p:spPr>
          <a:xfrm>
            <a:off x="6309359" y="4617720"/>
            <a:ext cx="2468880" cy="411480"/>
          </a:xfrm>
          <a:prstGeom prst="rect">
            <a:avLst/>
          </a:prstGeom>
          <a:noFill/>
        </p:spPr>
        <p:txBody>
          <a:bodyPr wrap="square">
            <a:spAutoFit/>
          </a:bodyPr>
          <a:lstStyle/>
          <a:p>
            <a:pPr algn="ctr">
              <a:defRPr sz="900" b="0">
                <a:solidFill>
                  <a:srgbClr val="FFFFFF"/>
                </a:solidFill>
                <a:latin typeface="Calibri"/>
              </a:defRPr>
            </a:pPr>
            <a:r>
              <a:t>Yield on FIUSD</a:t>
            </a:r>
            <a:br/>
            <a:r>
              <a:t>via Finxact</a:t>
            </a:r>
          </a:p>
        </p:txBody>
      </p:sp>
      <p:sp>
        <p:nvSpPr>
          <p:cNvPr id="36" name="TextBox 35"/>
          <p:cNvSpPr txBox="1"/>
          <p:nvPr/>
        </p:nvSpPr>
        <p:spPr>
          <a:xfrm>
            <a:off x="9098280" y="4160520"/>
            <a:ext cx="2468880" cy="457200"/>
          </a:xfrm>
          <a:prstGeom prst="rect">
            <a:avLst/>
          </a:prstGeom>
          <a:noFill/>
        </p:spPr>
        <p:txBody>
          <a:bodyPr wrap="square">
            <a:spAutoFit/>
          </a:bodyPr>
          <a:lstStyle/>
          <a:p>
            <a:pPr algn="ctr">
              <a:defRPr sz="2400" b="1">
                <a:solidFill>
                  <a:srgbClr val="FF6600"/>
                </a:solidFill>
                <a:latin typeface="Calibri"/>
              </a:defRPr>
            </a:pPr>
            <a:r>
              <a:t>Zero effort</a:t>
            </a:r>
          </a:p>
        </p:txBody>
      </p:sp>
      <p:sp>
        <p:nvSpPr>
          <p:cNvPr id="37" name="TextBox 36"/>
          <p:cNvSpPr txBox="1"/>
          <p:nvPr/>
        </p:nvSpPr>
        <p:spPr>
          <a:xfrm>
            <a:off x="9098280" y="4617720"/>
            <a:ext cx="2468880" cy="411480"/>
          </a:xfrm>
          <a:prstGeom prst="rect">
            <a:avLst/>
          </a:prstGeom>
          <a:noFill/>
        </p:spPr>
        <p:txBody>
          <a:bodyPr wrap="square">
            <a:spAutoFit/>
          </a:bodyPr>
          <a:lstStyle/>
          <a:p>
            <a:pPr algn="ctr">
              <a:defRPr sz="900" b="0">
                <a:solidFill>
                  <a:srgbClr val="FFFFFF"/>
                </a:solidFill>
                <a:latin typeface="Calibri"/>
              </a:defRPr>
            </a:pPr>
            <a:r>
              <a:t>One toggle in Clover</a:t>
            </a:r>
            <a:br/>
            <a:r>
              <a:t>fully automated</a:t>
            </a:r>
          </a:p>
        </p:txBody>
      </p:sp>
      <p:sp>
        <p:nvSpPr>
          <p:cNvPr id="38" name="TextBox 37"/>
          <p:cNvSpPr txBox="1"/>
          <p:nvPr/>
        </p:nvSpPr>
        <p:spPr>
          <a:xfrm>
            <a:off x="822960" y="5120640"/>
            <a:ext cx="10515600" cy="365760"/>
          </a:xfrm>
          <a:prstGeom prst="rect">
            <a:avLst/>
          </a:prstGeom>
          <a:noFill/>
        </p:spPr>
        <p:txBody>
          <a:bodyPr wrap="square">
            <a:spAutoFit/>
          </a:bodyPr>
          <a:lstStyle/>
          <a:p>
            <a:pPr algn="ctr">
              <a:defRPr sz="1100" b="0">
                <a:solidFill>
                  <a:srgbClr val="FFFFFF"/>
                </a:solidFill>
                <a:latin typeface="Calibri"/>
              </a:defRPr>
            </a:pPr>
            <a:r>
              <a:t>Fiserv becomes the ONLY payment processor that helps merchants earn money, not just spend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74320"/>
            <a:ext cx="1645920" cy="320040"/>
          </a:xfrm>
          <a:prstGeom prst="round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92608"/>
            <a:ext cx="1645920" cy="274320"/>
          </a:xfrm>
          <a:prstGeom prst="rect">
            <a:avLst/>
          </a:prstGeom>
          <a:noFill/>
        </p:spPr>
        <p:txBody>
          <a:bodyPr wrap="square">
            <a:spAutoFit/>
          </a:bodyPr>
          <a:lstStyle/>
          <a:p>
            <a:pPr algn="ctr">
              <a:defRPr sz="1100" b="1">
                <a:solidFill>
                  <a:srgbClr val="FFFFFF"/>
                </a:solidFill>
                <a:latin typeface="Calibri"/>
              </a:defRPr>
            </a:pPr>
            <a:r>
              <a:t>PROTOTYPE 2</a:t>
            </a:r>
          </a:p>
        </p:txBody>
      </p:sp>
      <p:sp>
        <p:nvSpPr>
          <p:cNvPr id="5" name="TextBox 4"/>
          <p:cNvSpPr txBox="1"/>
          <p:nvPr/>
        </p:nvSpPr>
        <p:spPr>
          <a:xfrm>
            <a:off x="2560320" y="228600"/>
            <a:ext cx="8229600" cy="457200"/>
          </a:xfrm>
          <a:prstGeom prst="rect">
            <a:avLst/>
          </a:prstGeom>
          <a:noFill/>
        </p:spPr>
        <p:txBody>
          <a:bodyPr wrap="square">
            <a:spAutoFit/>
          </a:bodyPr>
          <a:lstStyle/>
          <a:p>
            <a:pPr algn="l">
              <a:defRPr sz="2800" b="1">
                <a:solidFill>
                  <a:srgbClr val="003B5C"/>
                </a:solidFill>
                <a:latin typeface="Calibri"/>
              </a:defRPr>
            </a:pPr>
            <a:r>
              <a:t>Pay-by-Agent x402 Commerce</a:t>
            </a:r>
          </a:p>
        </p:txBody>
      </p:sp>
      <p:sp>
        <p:nvSpPr>
          <p:cNvPr id="6" name="Rounded Rectangle 5"/>
          <p:cNvSpPr/>
          <p:nvPr/>
        </p:nvSpPr>
        <p:spPr>
          <a:xfrm>
            <a:off x="548640" y="822960"/>
            <a:ext cx="5486400" cy="118872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822960"/>
            <a:ext cx="54864" cy="1188720"/>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868680"/>
            <a:ext cx="5029200" cy="1097280"/>
          </a:xfrm>
          <a:prstGeom prst="rect">
            <a:avLst/>
          </a:prstGeom>
          <a:noFill/>
        </p:spPr>
        <p:txBody>
          <a:bodyPr wrap="square">
            <a:spAutoFit/>
          </a:bodyPr>
          <a:lstStyle/>
          <a:p>
            <a:pPr algn="l">
              <a:spcAft>
                <a:spcPts val="400"/>
              </a:spcAft>
              <a:defRPr sz="1000" b="1">
                <a:solidFill>
                  <a:srgbClr val="C62828"/>
                </a:solidFill>
                <a:latin typeface="Calibri"/>
              </a:defRPr>
            </a:pPr>
            <a:r>
              <a:t>THE PROBLEM</a:t>
            </a:r>
          </a:p>
          <a:p>
            <a:pPr algn="l">
              <a:spcAft>
                <a:spcPts val="400"/>
              </a:spcAft>
              <a:defRPr sz="1000" b="0">
                <a:solidFill>
                  <a:srgbClr val="333333"/>
                </a:solidFill>
                <a:latin typeface="Calibri"/>
              </a:defRPr>
            </a:pPr>
            <a:r>
              <a:t>AI shopping agents (Claude, GPT) can browse and compare, but cannot buy. Card rails require human-in-the-loop authentication (3DS, CVV entry). This breaks the autonomous agentic flow entirely. Plus: 2-3% interchange fees and T+1 to T+3 settlement delays for merchants.</a:t>
            </a:r>
          </a:p>
        </p:txBody>
      </p:sp>
      <p:sp>
        <p:nvSpPr>
          <p:cNvPr id="9" name="Rounded Rectangle 8"/>
          <p:cNvSpPr/>
          <p:nvPr/>
        </p:nvSpPr>
        <p:spPr>
          <a:xfrm>
            <a:off x="548640" y="2148840"/>
            <a:ext cx="5486400" cy="118872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48840"/>
            <a:ext cx="54864" cy="11887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194560"/>
            <a:ext cx="5029200" cy="1097280"/>
          </a:xfrm>
          <a:prstGeom prst="rect">
            <a:avLst/>
          </a:prstGeom>
          <a:noFill/>
        </p:spPr>
        <p:txBody>
          <a:bodyPr wrap="square">
            <a:spAutoFit/>
          </a:bodyPr>
          <a:lstStyle/>
          <a:p>
            <a:pPr algn="l">
              <a:spcAft>
                <a:spcPts val="400"/>
              </a:spcAft>
              <a:defRPr sz="1000" b="1">
                <a:solidFill>
                  <a:srgbClr val="2E7D32"/>
                </a:solidFill>
                <a:latin typeface="Calibri"/>
              </a:defRPr>
            </a:pPr>
            <a:r>
              <a:t>THE SOLUTION</a:t>
            </a:r>
          </a:p>
          <a:p>
            <a:pPr algn="l">
              <a:spcAft>
                <a:spcPts val="400"/>
              </a:spcAft>
              <a:defRPr sz="1000" b="0">
                <a:solidFill>
                  <a:srgbClr val="333333"/>
                </a:solidFill>
                <a:latin typeface="Calibri"/>
              </a:defRPr>
            </a:pPr>
            <a:r>
              <a:t>CommerceHub exposes x402-compatible Agent Checkout endpoint. AI agents discover payment requirements, sign FIUSD payments (EIP-3009), and complete purchases in a single HTTP cycle -- under 3 seconds, fully autonomous. Bank-verified identity via Finxact KYC. Configurable spending guardrails.</a:t>
            </a:r>
          </a:p>
        </p:txBody>
      </p:sp>
      <p:sp>
        <p:nvSpPr>
          <p:cNvPr id="12" name="TextBox 11"/>
          <p:cNvSpPr txBox="1"/>
          <p:nvPr/>
        </p:nvSpPr>
        <p:spPr>
          <a:xfrm>
            <a:off x="6400800" y="822960"/>
            <a:ext cx="5029200" cy="365760"/>
          </a:xfrm>
          <a:prstGeom prst="rect">
            <a:avLst/>
          </a:prstGeom>
          <a:noFill/>
        </p:spPr>
        <p:txBody>
          <a:bodyPr wrap="square">
            <a:spAutoFit/>
          </a:bodyPr>
          <a:lstStyle/>
          <a:p>
            <a:pPr algn="l">
              <a:defRPr sz="1000" b="1">
                <a:solidFill>
                  <a:srgbClr val="003B5C"/>
                </a:solidFill>
                <a:latin typeface="Calibri"/>
              </a:defRPr>
            </a:pPr>
            <a:r>
              <a:t>HOW IT WORKS</a:t>
            </a:r>
          </a:p>
        </p:txBody>
      </p:sp>
      <p:sp>
        <p:nvSpPr>
          <p:cNvPr id="13" name="Oval 12"/>
          <p:cNvSpPr/>
          <p:nvPr/>
        </p:nvSpPr>
        <p:spPr>
          <a:xfrm>
            <a:off x="6400800" y="1234440"/>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252728"/>
            <a:ext cx="274320" cy="228600"/>
          </a:xfrm>
          <a:prstGeom prst="rect">
            <a:avLst/>
          </a:prstGeom>
          <a:noFill/>
        </p:spPr>
        <p:txBody>
          <a:bodyPr wrap="square">
            <a:spAutoFit/>
          </a:bodyPr>
          <a:lstStyle/>
          <a:p>
            <a:pPr algn="ctr">
              <a:defRPr sz="1000" b="1">
                <a:solidFill>
                  <a:srgbClr val="FFFFFF"/>
                </a:solidFill>
                <a:latin typeface="Calibri"/>
              </a:defRPr>
            </a:pPr>
            <a:r>
              <a:t>1</a:t>
            </a:r>
          </a:p>
        </p:txBody>
      </p:sp>
      <p:sp>
        <p:nvSpPr>
          <p:cNvPr id="15" name="TextBox 14"/>
          <p:cNvSpPr txBox="1"/>
          <p:nvPr/>
        </p:nvSpPr>
        <p:spPr>
          <a:xfrm>
            <a:off x="6812280" y="1234440"/>
            <a:ext cx="4572000" cy="411480"/>
          </a:xfrm>
          <a:prstGeom prst="rect">
            <a:avLst/>
          </a:prstGeom>
          <a:noFill/>
        </p:spPr>
        <p:txBody>
          <a:bodyPr wrap="square">
            <a:spAutoFit/>
          </a:bodyPr>
          <a:lstStyle/>
          <a:p>
            <a:pPr algn="l">
              <a:defRPr sz="900" b="0">
                <a:solidFill>
                  <a:srgbClr val="333333"/>
                </a:solidFill>
                <a:latin typeface="Calibri"/>
              </a:defRPr>
            </a:pPr>
            <a:r>
              <a:t>AI agent sends HTTP GET to CommerceHub merchant catalog</a:t>
            </a:r>
          </a:p>
        </p:txBody>
      </p:sp>
      <p:sp>
        <p:nvSpPr>
          <p:cNvPr id="16" name="Oval 15"/>
          <p:cNvSpPr/>
          <p:nvPr/>
        </p:nvSpPr>
        <p:spPr>
          <a:xfrm>
            <a:off x="6400800" y="1709928"/>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728216"/>
            <a:ext cx="274320" cy="228600"/>
          </a:xfrm>
          <a:prstGeom prst="rect">
            <a:avLst/>
          </a:prstGeom>
          <a:noFill/>
        </p:spPr>
        <p:txBody>
          <a:bodyPr wrap="square">
            <a:spAutoFit/>
          </a:bodyPr>
          <a:lstStyle/>
          <a:p>
            <a:pPr algn="ctr">
              <a:defRPr sz="1000" b="1">
                <a:solidFill>
                  <a:srgbClr val="FFFFFF"/>
                </a:solidFill>
                <a:latin typeface="Calibri"/>
              </a:defRPr>
            </a:pPr>
            <a:r>
              <a:t>2</a:t>
            </a:r>
          </a:p>
        </p:txBody>
      </p:sp>
      <p:sp>
        <p:nvSpPr>
          <p:cNvPr id="18" name="TextBox 17"/>
          <p:cNvSpPr txBox="1"/>
          <p:nvPr/>
        </p:nvSpPr>
        <p:spPr>
          <a:xfrm>
            <a:off x="6812280" y="1709928"/>
            <a:ext cx="4572000" cy="411480"/>
          </a:xfrm>
          <a:prstGeom prst="rect">
            <a:avLst/>
          </a:prstGeom>
          <a:noFill/>
        </p:spPr>
        <p:txBody>
          <a:bodyPr wrap="square">
            <a:spAutoFit/>
          </a:bodyPr>
          <a:lstStyle/>
          <a:p>
            <a:pPr algn="l">
              <a:defRPr sz="900" b="0">
                <a:solidFill>
                  <a:srgbClr val="333333"/>
                </a:solidFill>
                <a:latin typeface="Calibri"/>
              </a:defRPr>
            </a:pPr>
            <a:r>
              <a:t>Gateway returns HTTP 402 Payment Required + payment instructions</a:t>
            </a:r>
          </a:p>
        </p:txBody>
      </p:sp>
      <p:sp>
        <p:nvSpPr>
          <p:cNvPr id="19" name="Oval 18"/>
          <p:cNvSpPr/>
          <p:nvPr/>
        </p:nvSpPr>
        <p:spPr>
          <a:xfrm>
            <a:off x="6400800" y="2185416"/>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2203704"/>
            <a:ext cx="274320" cy="228600"/>
          </a:xfrm>
          <a:prstGeom prst="rect">
            <a:avLst/>
          </a:prstGeom>
          <a:noFill/>
        </p:spPr>
        <p:txBody>
          <a:bodyPr wrap="square">
            <a:spAutoFit/>
          </a:bodyPr>
          <a:lstStyle/>
          <a:p>
            <a:pPr algn="ctr">
              <a:defRPr sz="1000" b="1">
                <a:solidFill>
                  <a:srgbClr val="FFFFFF"/>
                </a:solidFill>
                <a:latin typeface="Calibri"/>
              </a:defRPr>
            </a:pPr>
            <a:r>
              <a:t>3</a:t>
            </a:r>
          </a:p>
        </p:txBody>
      </p:sp>
      <p:sp>
        <p:nvSpPr>
          <p:cNvPr id="21" name="TextBox 20"/>
          <p:cNvSpPr txBox="1"/>
          <p:nvPr/>
        </p:nvSpPr>
        <p:spPr>
          <a:xfrm>
            <a:off x="6812280" y="2185416"/>
            <a:ext cx="4572000" cy="411480"/>
          </a:xfrm>
          <a:prstGeom prst="rect">
            <a:avLst/>
          </a:prstGeom>
          <a:noFill/>
        </p:spPr>
        <p:txBody>
          <a:bodyPr wrap="square">
            <a:spAutoFit/>
          </a:bodyPr>
          <a:lstStyle/>
          <a:p>
            <a:pPr algn="l">
              <a:defRPr sz="900" b="0">
                <a:solidFill>
                  <a:srgbClr val="333333"/>
                </a:solidFill>
                <a:latin typeface="Calibri"/>
              </a:defRPr>
            </a:pPr>
            <a:r>
              <a:t>Agent signs FIUSD payment via EIP-3009 on Solana/Base</a:t>
            </a:r>
          </a:p>
        </p:txBody>
      </p:sp>
      <p:sp>
        <p:nvSpPr>
          <p:cNvPr id="22" name="Oval 21"/>
          <p:cNvSpPr/>
          <p:nvPr/>
        </p:nvSpPr>
        <p:spPr>
          <a:xfrm>
            <a:off x="6400800" y="2660904"/>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2679192"/>
            <a:ext cx="274320" cy="228600"/>
          </a:xfrm>
          <a:prstGeom prst="rect">
            <a:avLst/>
          </a:prstGeom>
          <a:noFill/>
        </p:spPr>
        <p:txBody>
          <a:bodyPr wrap="square">
            <a:spAutoFit/>
          </a:bodyPr>
          <a:lstStyle/>
          <a:p>
            <a:pPr algn="ctr">
              <a:defRPr sz="1000" b="1">
                <a:solidFill>
                  <a:srgbClr val="FFFFFF"/>
                </a:solidFill>
                <a:latin typeface="Calibri"/>
              </a:defRPr>
            </a:pPr>
            <a:r>
              <a:t>4</a:t>
            </a:r>
          </a:p>
        </p:txBody>
      </p:sp>
      <p:sp>
        <p:nvSpPr>
          <p:cNvPr id="24" name="TextBox 23"/>
          <p:cNvSpPr txBox="1"/>
          <p:nvPr/>
        </p:nvSpPr>
        <p:spPr>
          <a:xfrm>
            <a:off x="6812280" y="2660904"/>
            <a:ext cx="4572000" cy="411480"/>
          </a:xfrm>
          <a:prstGeom prst="rect">
            <a:avLst/>
          </a:prstGeom>
          <a:noFill/>
        </p:spPr>
        <p:txBody>
          <a:bodyPr wrap="square">
            <a:spAutoFit/>
          </a:bodyPr>
          <a:lstStyle/>
          <a:p>
            <a:pPr algn="l">
              <a:defRPr sz="900" b="0">
                <a:solidFill>
                  <a:srgbClr val="333333"/>
                </a:solidFill>
                <a:latin typeface="Calibri"/>
              </a:defRPr>
            </a:pPr>
            <a:r>
              <a:t>Verifier checks signature, Finxact KYC tier, spending limits</a:t>
            </a:r>
          </a:p>
        </p:txBody>
      </p:sp>
      <p:sp>
        <p:nvSpPr>
          <p:cNvPr id="25" name="Oval 24"/>
          <p:cNvSpPr/>
          <p:nvPr/>
        </p:nvSpPr>
        <p:spPr>
          <a:xfrm>
            <a:off x="6400800" y="3136392"/>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3154680"/>
            <a:ext cx="274320" cy="228600"/>
          </a:xfrm>
          <a:prstGeom prst="rect">
            <a:avLst/>
          </a:prstGeom>
          <a:noFill/>
        </p:spPr>
        <p:txBody>
          <a:bodyPr wrap="square">
            <a:spAutoFit/>
          </a:bodyPr>
          <a:lstStyle/>
          <a:p>
            <a:pPr algn="ctr">
              <a:defRPr sz="1000" b="1">
                <a:solidFill>
                  <a:srgbClr val="FFFFFF"/>
                </a:solidFill>
                <a:latin typeface="Calibri"/>
              </a:defRPr>
            </a:pPr>
            <a:r>
              <a:t>5</a:t>
            </a:r>
          </a:p>
        </p:txBody>
      </p:sp>
      <p:sp>
        <p:nvSpPr>
          <p:cNvPr id="27" name="TextBox 26"/>
          <p:cNvSpPr txBox="1"/>
          <p:nvPr/>
        </p:nvSpPr>
        <p:spPr>
          <a:xfrm>
            <a:off x="6812280" y="3136392"/>
            <a:ext cx="4572000" cy="411480"/>
          </a:xfrm>
          <a:prstGeom prst="rect">
            <a:avLst/>
          </a:prstGeom>
          <a:noFill/>
        </p:spPr>
        <p:txBody>
          <a:bodyPr wrap="square">
            <a:spAutoFit/>
          </a:bodyPr>
          <a:lstStyle/>
          <a:p>
            <a:pPr algn="l">
              <a:defRPr sz="900" b="0">
                <a:solidFill>
                  <a:srgbClr val="333333"/>
                </a:solidFill>
                <a:latin typeface="Calibri"/>
              </a:defRPr>
            </a:pPr>
            <a:r>
              <a:t>Settler executes on-chain; INDX settles merchant in USD instantly</a:t>
            </a:r>
          </a:p>
        </p:txBody>
      </p:sp>
      <p:sp>
        <p:nvSpPr>
          <p:cNvPr id="28" name="Oval 27"/>
          <p:cNvSpPr/>
          <p:nvPr/>
        </p:nvSpPr>
        <p:spPr>
          <a:xfrm>
            <a:off x="6400800" y="3611880"/>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0" y="3630168"/>
            <a:ext cx="274320" cy="228600"/>
          </a:xfrm>
          <a:prstGeom prst="rect">
            <a:avLst/>
          </a:prstGeom>
          <a:noFill/>
        </p:spPr>
        <p:txBody>
          <a:bodyPr wrap="square">
            <a:spAutoFit/>
          </a:bodyPr>
          <a:lstStyle/>
          <a:p>
            <a:pPr algn="ctr">
              <a:defRPr sz="1000" b="1">
                <a:solidFill>
                  <a:srgbClr val="FFFFFF"/>
                </a:solidFill>
                <a:latin typeface="Calibri"/>
              </a:defRPr>
            </a:pPr>
            <a:r>
              <a:t>6</a:t>
            </a:r>
          </a:p>
        </p:txBody>
      </p:sp>
      <p:sp>
        <p:nvSpPr>
          <p:cNvPr id="30" name="TextBox 29"/>
          <p:cNvSpPr txBox="1"/>
          <p:nvPr/>
        </p:nvSpPr>
        <p:spPr>
          <a:xfrm>
            <a:off x="6812280" y="3611880"/>
            <a:ext cx="4572000" cy="411480"/>
          </a:xfrm>
          <a:prstGeom prst="rect">
            <a:avLst/>
          </a:prstGeom>
          <a:noFill/>
        </p:spPr>
        <p:txBody>
          <a:bodyPr wrap="square">
            <a:spAutoFit/>
          </a:bodyPr>
          <a:lstStyle/>
          <a:p>
            <a:pPr algn="l">
              <a:defRPr sz="900" b="0">
                <a:solidFill>
                  <a:srgbClr val="333333"/>
                </a:solidFill>
                <a:latin typeface="Calibri"/>
              </a:defRPr>
            </a:pPr>
            <a:r>
              <a:t>Agent receives cryptographic receipt -- all in under 3 seconds</a:t>
            </a:r>
          </a:p>
        </p:txBody>
      </p:sp>
      <p:sp>
        <p:nvSpPr>
          <p:cNvPr id="31" name="Rounded Rectangle 30"/>
          <p:cNvSpPr/>
          <p:nvPr/>
        </p:nvSpPr>
        <p:spPr>
          <a:xfrm>
            <a:off x="548640" y="3840480"/>
            <a:ext cx="10881360" cy="1463040"/>
          </a:xfrm>
          <a:prstGeom prst="round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3886200"/>
            <a:ext cx="2743200" cy="274320"/>
          </a:xfrm>
          <a:prstGeom prst="rect">
            <a:avLst/>
          </a:prstGeom>
          <a:noFill/>
        </p:spPr>
        <p:txBody>
          <a:bodyPr wrap="square">
            <a:spAutoFit/>
          </a:bodyPr>
          <a:lstStyle/>
          <a:p>
            <a:pPr algn="l">
              <a:defRPr sz="1000" b="1">
                <a:solidFill>
                  <a:srgbClr val="FF6600"/>
                </a:solidFill>
                <a:latin typeface="Calibri"/>
              </a:defRPr>
            </a:pPr>
            <a:r>
              <a:t>POTENTIAL IMPACT</a:t>
            </a:r>
          </a:p>
        </p:txBody>
      </p:sp>
      <p:sp>
        <p:nvSpPr>
          <p:cNvPr id="33" name="TextBox 32"/>
          <p:cNvSpPr txBox="1"/>
          <p:nvPr/>
        </p:nvSpPr>
        <p:spPr>
          <a:xfrm>
            <a:off x="731520" y="4160520"/>
            <a:ext cx="2468880" cy="457200"/>
          </a:xfrm>
          <a:prstGeom prst="rect">
            <a:avLst/>
          </a:prstGeom>
          <a:noFill/>
        </p:spPr>
        <p:txBody>
          <a:bodyPr wrap="square">
            <a:spAutoFit/>
          </a:bodyPr>
          <a:lstStyle/>
          <a:p>
            <a:pPr algn="ctr">
              <a:defRPr sz="2400" b="1">
                <a:solidFill>
                  <a:srgbClr val="FF6600"/>
                </a:solidFill>
                <a:latin typeface="Calibri"/>
              </a:defRPr>
            </a:pPr>
            <a:r>
              <a:t>6M</a:t>
            </a:r>
          </a:p>
        </p:txBody>
      </p:sp>
      <p:sp>
        <p:nvSpPr>
          <p:cNvPr id="34" name="TextBox 33"/>
          <p:cNvSpPr txBox="1"/>
          <p:nvPr/>
        </p:nvSpPr>
        <p:spPr>
          <a:xfrm>
            <a:off x="731520" y="4617720"/>
            <a:ext cx="2468880" cy="411480"/>
          </a:xfrm>
          <a:prstGeom prst="rect">
            <a:avLst/>
          </a:prstGeom>
          <a:noFill/>
        </p:spPr>
        <p:txBody>
          <a:bodyPr wrap="square">
            <a:spAutoFit/>
          </a:bodyPr>
          <a:lstStyle/>
          <a:p>
            <a:pPr algn="ctr">
              <a:defRPr sz="900" b="0">
                <a:solidFill>
                  <a:srgbClr val="FFFFFF"/>
                </a:solidFill>
                <a:latin typeface="Calibri"/>
              </a:defRPr>
            </a:pPr>
            <a:r>
              <a:t>Merchants agent-payable</a:t>
            </a:r>
            <a:br/>
            <a:r>
              <a:t>with one software update</a:t>
            </a:r>
          </a:p>
        </p:txBody>
      </p:sp>
      <p:sp>
        <p:nvSpPr>
          <p:cNvPr id="35" name="TextBox 34"/>
          <p:cNvSpPr txBox="1"/>
          <p:nvPr/>
        </p:nvSpPr>
        <p:spPr>
          <a:xfrm>
            <a:off x="3520439" y="4160520"/>
            <a:ext cx="2468880" cy="457200"/>
          </a:xfrm>
          <a:prstGeom prst="rect">
            <a:avLst/>
          </a:prstGeom>
          <a:noFill/>
        </p:spPr>
        <p:txBody>
          <a:bodyPr wrap="square">
            <a:spAutoFit/>
          </a:bodyPr>
          <a:lstStyle/>
          <a:p>
            <a:pPr algn="ctr">
              <a:defRPr sz="2400" b="1">
                <a:solidFill>
                  <a:srgbClr val="FF6600"/>
                </a:solidFill>
                <a:latin typeface="Calibri"/>
              </a:defRPr>
            </a:pPr>
            <a:r>
              <a:t>&lt;3 sec</a:t>
            </a:r>
          </a:p>
        </p:txBody>
      </p:sp>
      <p:sp>
        <p:nvSpPr>
          <p:cNvPr id="36" name="TextBox 35"/>
          <p:cNvSpPr txBox="1"/>
          <p:nvPr/>
        </p:nvSpPr>
        <p:spPr>
          <a:xfrm>
            <a:off x="3520439" y="4617720"/>
            <a:ext cx="2468880" cy="411480"/>
          </a:xfrm>
          <a:prstGeom prst="rect">
            <a:avLst/>
          </a:prstGeom>
          <a:noFill/>
        </p:spPr>
        <p:txBody>
          <a:bodyPr wrap="square">
            <a:spAutoFit/>
          </a:bodyPr>
          <a:lstStyle/>
          <a:p>
            <a:pPr algn="ctr">
              <a:defRPr sz="900" b="0">
                <a:solidFill>
                  <a:srgbClr val="FFFFFF"/>
                </a:solidFill>
                <a:latin typeface="Calibri"/>
              </a:defRPr>
            </a:pPr>
            <a:r>
              <a:t>End-to-end purchase</a:t>
            </a:r>
            <a:br/>
            <a:r>
              <a:t>fully autonomous</a:t>
            </a:r>
          </a:p>
        </p:txBody>
      </p:sp>
      <p:sp>
        <p:nvSpPr>
          <p:cNvPr id="37" name="TextBox 36"/>
          <p:cNvSpPr txBox="1"/>
          <p:nvPr/>
        </p:nvSpPr>
        <p:spPr>
          <a:xfrm>
            <a:off x="6309359" y="4160520"/>
            <a:ext cx="2468880" cy="457200"/>
          </a:xfrm>
          <a:prstGeom prst="rect">
            <a:avLst/>
          </a:prstGeom>
          <a:noFill/>
        </p:spPr>
        <p:txBody>
          <a:bodyPr wrap="square">
            <a:spAutoFit/>
          </a:bodyPr>
          <a:lstStyle/>
          <a:p>
            <a:pPr algn="ctr">
              <a:defRPr sz="2400" b="1">
                <a:solidFill>
                  <a:srgbClr val="FF6600"/>
                </a:solidFill>
                <a:latin typeface="Calibri"/>
              </a:defRPr>
            </a:pPr>
            <a:r>
              <a:t>0.1%</a:t>
            </a:r>
          </a:p>
        </p:txBody>
      </p:sp>
      <p:sp>
        <p:nvSpPr>
          <p:cNvPr id="38" name="TextBox 37"/>
          <p:cNvSpPr txBox="1"/>
          <p:nvPr/>
        </p:nvSpPr>
        <p:spPr>
          <a:xfrm>
            <a:off x="6309359" y="4617720"/>
            <a:ext cx="2468880" cy="411480"/>
          </a:xfrm>
          <a:prstGeom prst="rect">
            <a:avLst/>
          </a:prstGeom>
          <a:noFill/>
        </p:spPr>
        <p:txBody>
          <a:bodyPr wrap="square">
            <a:spAutoFit/>
          </a:bodyPr>
          <a:lstStyle/>
          <a:p>
            <a:pPr algn="ctr">
              <a:defRPr sz="900" b="0">
                <a:solidFill>
                  <a:srgbClr val="FFFFFF"/>
                </a:solidFill>
                <a:latin typeface="Calibri"/>
              </a:defRPr>
            </a:pPr>
            <a:r>
              <a:t>Agent payment fee</a:t>
            </a:r>
            <a:br/>
            <a:r>
              <a:t>vs 2.9% card interchange</a:t>
            </a:r>
          </a:p>
        </p:txBody>
      </p:sp>
      <p:sp>
        <p:nvSpPr>
          <p:cNvPr id="39" name="TextBox 38"/>
          <p:cNvSpPr txBox="1"/>
          <p:nvPr/>
        </p:nvSpPr>
        <p:spPr>
          <a:xfrm>
            <a:off x="9098280" y="4160520"/>
            <a:ext cx="2468880" cy="457200"/>
          </a:xfrm>
          <a:prstGeom prst="rect">
            <a:avLst/>
          </a:prstGeom>
          <a:noFill/>
        </p:spPr>
        <p:txBody>
          <a:bodyPr wrap="square">
            <a:spAutoFit/>
          </a:bodyPr>
          <a:lstStyle/>
          <a:p>
            <a:pPr algn="ctr">
              <a:defRPr sz="2400" b="1">
                <a:solidFill>
                  <a:srgbClr val="FF6600"/>
                </a:solidFill>
                <a:latin typeface="Calibri"/>
              </a:defRPr>
            </a:pPr>
            <a:r>
              <a:t>$150M/yr</a:t>
            </a:r>
          </a:p>
        </p:txBody>
      </p:sp>
      <p:sp>
        <p:nvSpPr>
          <p:cNvPr id="40" name="TextBox 39"/>
          <p:cNvSpPr txBox="1"/>
          <p:nvPr/>
        </p:nvSpPr>
        <p:spPr>
          <a:xfrm>
            <a:off x="9098280" y="4617720"/>
            <a:ext cx="2468880" cy="411480"/>
          </a:xfrm>
          <a:prstGeom prst="rect">
            <a:avLst/>
          </a:prstGeom>
          <a:noFill/>
        </p:spPr>
        <p:txBody>
          <a:bodyPr wrap="square">
            <a:spAutoFit/>
          </a:bodyPr>
          <a:lstStyle/>
          <a:p>
            <a:pPr algn="ctr">
              <a:defRPr sz="900" b="0">
                <a:solidFill>
                  <a:srgbClr val="FFFFFF"/>
                </a:solidFill>
                <a:latin typeface="Calibri"/>
              </a:defRPr>
            </a:pPr>
            <a:r>
              <a:t>Revenue by 2030</a:t>
            </a:r>
            <a:br/>
            <a:r>
              <a:t>at scale</a:t>
            </a:r>
          </a:p>
        </p:txBody>
      </p:sp>
      <p:sp>
        <p:nvSpPr>
          <p:cNvPr id="41" name="TextBox 40"/>
          <p:cNvSpPr txBox="1"/>
          <p:nvPr/>
        </p:nvSpPr>
        <p:spPr>
          <a:xfrm>
            <a:off x="822960" y="5120640"/>
            <a:ext cx="10515600" cy="365760"/>
          </a:xfrm>
          <a:prstGeom prst="rect">
            <a:avLst/>
          </a:prstGeom>
          <a:noFill/>
        </p:spPr>
        <p:txBody>
          <a:bodyPr wrap="square">
            <a:spAutoFit/>
          </a:bodyPr>
          <a:lstStyle/>
          <a:p>
            <a:pPr algn="ctr">
              <a:defRPr sz="1100" b="0">
                <a:solidFill>
                  <a:srgbClr val="FFFFFF"/>
                </a:solidFill>
                <a:latin typeface="Calibri"/>
              </a:defRPr>
            </a:pPr>
            <a:r>
              <a:t>Stripe convinces merchants one at a time. Fiserv flips a switch for 6 million.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74320"/>
            <a:ext cx="1645920" cy="320040"/>
          </a:xfrm>
          <a:prstGeom prst="round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92608"/>
            <a:ext cx="1645920" cy="274320"/>
          </a:xfrm>
          <a:prstGeom prst="rect">
            <a:avLst/>
          </a:prstGeom>
          <a:noFill/>
        </p:spPr>
        <p:txBody>
          <a:bodyPr wrap="square">
            <a:spAutoFit/>
          </a:bodyPr>
          <a:lstStyle/>
          <a:p>
            <a:pPr algn="ctr">
              <a:defRPr sz="1100" b="1">
                <a:solidFill>
                  <a:srgbClr val="FFFFFF"/>
                </a:solidFill>
                <a:latin typeface="Calibri"/>
              </a:defRPr>
            </a:pPr>
            <a:r>
              <a:t>PROTOTYPE 3</a:t>
            </a:r>
          </a:p>
        </p:txBody>
      </p:sp>
      <p:sp>
        <p:nvSpPr>
          <p:cNvPr id="5" name="TextBox 4"/>
          <p:cNvSpPr txBox="1"/>
          <p:nvPr/>
        </p:nvSpPr>
        <p:spPr>
          <a:xfrm>
            <a:off x="2560320" y="228600"/>
            <a:ext cx="8229600" cy="457200"/>
          </a:xfrm>
          <a:prstGeom prst="rect">
            <a:avLst/>
          </a:prstGeom>
          <a:noFill/>
        </p:spPr>
        <p:txBody>
          <a:bodyPr wrap="square">
            <a:spAutoFit/>
          </a:bodyPr>
          <a:lstStyle/>
          <a:p>
            <a:pPr algn="l">
              <a:defRPr sz="2800" b="1">
                <a:solidFill>
                  <a:srgbClr val="003B5C"/>
                </a:solidFill>
                <a:latin typeface="Calibri"/>
              </a:defRPr>
            </a:pPr>
            <a:r>
              <a:t>Instant Supplier Pay</a:t>
            </a:r>
          </a:p>
        </p:txBody>
      </p:sp>
      <p:sp>
        <p:nvSpPr>
          <p:cNvPr id="6" name="Rounded Rectangle 5"/>
          <p:cNvSpPr/>
          <p:nvPr/>
        </p:nvSpPr>
        <p:spPr>
          <a:xfrm>
            <a:off x="548640" y="822960"/>
            <a:ext cx="5486400" cy="118872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822960"/>
            <a:ext cx="54864" cy="1188720"/>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868680"/>
            <a:ext cx="5029200" cy="1097280"/>
          </a:xfrm>
          <a:prstGeom prst="rect">
            <a:avLst/>
          </a:prstGeom>
          <a:noFill/>
        </p:spPr>
        <p:txBody>
          <a:bodyPr wrap="square">
            <a:spAutoFit/>
          </a:bodyPr>
          <a:lstStyle/>
          <a:p>
            <a:pPr algn="l">
              <a:spcAft>
                <a:spcPts val="400"/>
              </a:spcAft>
              <a:defRPr sz="1000" b="1">
                <a:solidFill>
                  <a:srgbClr val="C62828"/>
                </a:solidFill>
                <a:latin typeface="Calibri"/>
              </a:defRPr>
            </a:pPr>
            <a:r>
              <a:t>THE PROBLEM</a:t>
            </a:r>
          </a:p>
          <a:p>
            <a:pPr algn="l">
              <a:spcAft>
                <a:spcPts val="400"/>
              </a:spcAft>
              <a:defRPr sz="1000" b="0">
                <a:solidFill>
                  <a:srgbClr val="333333"/>
                </a:solidFill>
                <a:latin typeface="Calibri"/>
              </a:defRPr>
            </a:pPr>
            <a:r>
              <a:t>Restaurants on Clover place 15-30 supply orders/week. Each costs 2-3% in card interchange ($1,000-$1,500/month). Distributors wait 2-5 days for settlement. Early-pay discounts (2%/net-10) go uncaptured. A restaurant doing $50K/month in supplies loses $2,500/month in total waste.</a:t>
            </a:r>
          </a:p>
        </p:txBody>
      </p:sp>
      <p:sp>
        <p:nvSpPr>
          <p:cNvPr id="9" name="Rounded Rectangle 8"/>
          <p:cNvSpPr/>
          <p:nvPr/>
        </p:nvSpPr>
        <p:spPr>
          <a:xfrm>
            <a:off x="548640" y="2148840"/>
            <a:ext cx="5486400" cy="118872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48840"/>
            <a:ext cx="54864" cy="11887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194560"/>
            <a:ext cx="5029200" cy="1097280"/>
          </a:xfrm>
          <a:prstGeom prst="rect">
            <a:avLst/>
          </a:prstGeom>
          <a:noFill/>
        </p:spPr>
        <p:txBody>
          <a:bodyPr wrap="square">
            <a:spAutoFit/>
          </a:bodyPr>
          <a:lstStyle/>
          <a:p>
            <a:pPr algn="l">
              <a:spcAft>
                <a:spcPts val="400"/>
              </a:spcAft>
              <a:defRPr sz="1000" b="1">
                <a:solidFill>
                  <a:srgbClr val="2E7D32"/>
                </a:solidFill>
                <a:latin typeface="Calibri"/>
              </a:defRPr>
            </a:pPr>
            <a:r>
              <a:t>THE SOLUTION</a:t>
            </a:r>
          </a:p>
          <a:p>
            <a:pPr algn="l">
              <a:spcAft>
                <a:spcPts val="400"/>
              </a:spcAft>
              <a:defRPr sz="1000" b="0">
                <a:solidFill>
                  <a:srgbClr val="333333"/>
                </a:solidFill>
                <a:latin typeface="Calibri"/>
              </a:defRPr>
            </a:pPr>
            <a:r>
              <a:t>AI procurement agent monitors ingredient usage via Clover sales data, predicts reorder needs using ML, auto-generates POs grouped by supplier, pays instantly in FIUSD via CommerceHub. Supplier receives USD via INDX in 2.7 seconds. Early-pay discounts captured automatically.</a:t>
            </a:r>
          </a:p>
        </p:txBody>
      </p:sp>
      <p:sp>
        <p:nvSpPr>
          <p:cNvPr id="12" name="TextBox 11"/>
          <p:cNvSpPr txBox="1"/>
          <p:nvPr/>
        </p:nvSpPr>
        <p:spPr>
          <a:xfrm>
            <a:off x="6400800" y="822960"/>
            <a:ext cx="5029200" cy="365760"/>
          </a:xfrm>
          <a:prstGeom prst="rect">
            <a:avLst/>
          </a:prstGeom>
          <a:noFill/>
        </p:spPr>
        <p:txBody>
          <a:bodyPr wrap="square">
            <a:spAutoFit/>
          </a:bodyPr>
          <a:lstStyle/>
          <a:p>
            <a:pPr algn="l">
              <a:defRPr sz="1000" b="1">
                <a:solidFill>
                  <a:srgbClr val="003B5C"/>
                </a:solidFill>
                <a:latin typeface="Calibri"/>
              </a:defRPr>
            </a:pPr>
            <a:r>
              <a:t>HOW IT WORKS</a:t>
            </a:r>
          </a:p>
        </p:txBody>
      </p:sp>
      <p:sp>
        <p:nvSpPr>
          <p:cNvPr id="13" name="Oval 12"/>
          <p:cNvSpPr/>
          <p:nvPr/>
        </p:nvSpPr>
        <p:spPr>
          <a:xfrm>
            <a:off x="6400800" y="1234440"/>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252728"/>
            <a:ext cx="274320" cy="228600"/>
          </a:xfrm>
          <a:prstGeom prst="rect">
            <a:avLst/>
          </a:prstGeom>
          <a:noFill/>
        </p:spPr>
        <p:txBody>
          <a:bodyPr wrap="square">
            <a:spAutoFit/>
          </a:bodyPr>
          <a:lstStyle/>
          <a:p>
            <a:pPr algn="ctr">
              <a:defRPr sz="1000" b="1">
                <a:solidFill>
                  <a:srgbClr val="FFFFFF"/>
                </a:solidFill>
                <a:latin typeface="Calibri"/>
              </a:defRPr>
            </a:pPr>
            <a:r>
              <a:t>1</a:t>
            </a:r>
          </a:p>
        </p:txBody>
      </p:sp>
      <p:sp>
        <p:nvSpPr>
          <p:cNvPr id="15" name="TextBox 14"/>
          <p:cNvSpPr txBox="1"/>
          <p:nvPr/>
        </p:nvSpPr>
        <p:spPr>
          <a:xfrm>
            <a:off x="6812280" y="1234440"/>
            <a:ext cx="4572000" cy="411480"/>
          </a:xfrm>
          <a:prstGeom prst="rect">
            <a:avLst/>
          </a:prstGeom>
          <a:noFill/>
        </p:spPr>
        <p:txBody>
          <a:bodyPr wrap="square">
            <a:spAutoFit/>
          </a:bodyPr>
          <a:lstStyle/>
          <a:p>
            <a:pPr algn="l">
              <a:defRPr sz="900" b="0">
                <a:solidFill>
                  <a:srgbClr val="333333"/>
                </a:solidFill>
                <a:latin typeface="Calibri"/>
              </a:defRPr>
            </a:pPr>
            <a:r>
              <a:t>Clover POS tracks every sale; BOM maps menu items to ingredients</a:t>
            </a:r>
          </a:p>
        </p:txBody>
      </p:sp>
      <p:sp>
        <p:nvSpPr>
          <p:cNvPr id="16" name="Oval 15"/>
          <p:cNvSpPr/>
          <p:nvPr/>
        </p:nvSpPr>
        <p:spPr>
          <a:xfrm>
            <a:off x="6400800" y="1709928"/>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728216"/>
            <a:ext cx="274320" cy="228600"/>
          </a:xfrm>
          <a:prstGeom prst="rect">
            <a:avLst/>
          </a:prstGeom>
          <a:noFill/>
        </p:spPr>
        <p:txBody>
          <a:bodyPr wrap="square">
            <a:spAutoFit/>
          </a:bodyPr>
          <a:lstStyle/>
          <a:p>
            <a:pPr algn="ctr">
              <a:defRPr sz="1000" b="1">
                <a:solidFill>
                  <a:srgbClr val="FFFFFF"/>
                </a:solidFill>
                <a:latin typeface="Calibri"/>
              </a:defRPr>
            </a:pPr>
            <a:r>
              <a:t>2</a:t>
            </a:r>
          </a:p>
        </p:txBody>
      </p:sp>
      <p:sp>
        <p:nvSpPr>
          <p:cNvPr id="18" name="TextBox 17"/>
          <p:cNvSpPr txBox="1"/>
          <p:nvPr/>
        </p:nvSpPr>
        <p:spPr>
          <a:xfrm>
            <a:off x="6812280" y="1709928"/>
            <a:ext cx="4572000" cy="411480"/>
          </a:xfrm>
          <a:prstGeom prst="rect">
            <a:avLst/>
          </a:prstGeom>
          <a:noFill/>
        </p:spPr>
        <p:txBody>
          <a:bodyPr wrap="square">
            <a:spAutoFit/>
          </a:bodyPr>
          <a:lstStyle/>
          <a:p>
            <a:pPr algn="l">
              <a:defRPr sz="900" b="0">
                <a:solidFill>
                  <a:srgbClr val="333333"/>
                </a:solidFill>
                <a:latin typeface="Calibri"/>
              </a:defRPr>
            </a:pPr>
            <a:r>
              <a:t>ML model predicts ingredient depletion (e.g., chicken in 2 days)</a:t>
            </a:r>
          </a:p>
        </p:txBody>
      </p:sp>
      <p:sp>
        <p:nvSpPr>
          <p:cNvPr id="19" name="Oval 18"/>
          <p:cNvSpPr/>
          <p:nvPr/>
        </p:nvSpPr>
        <p:spPr>
          <a:xfrm>
            <a:off x="6400800" y="2185416"/>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2203704"/>
            <a:ext cx="274320" cy="228600"/>
          </a:xfrm>
          <a:prstGeom prst="rect">
            <a:avLst/>
          </a:prstGeom>
          <a:noFill/>
        </p:spPr>
        <p:txBody>
          <a:bodyPr wrap="square">
            <a:spAutoFit/>
          </a:bodyPr>
          <a:lstStyle/>
          <a:p>
            <a:pPr algn="ctr">
              <a:defRPr sz="1000" b="1">
                <a:solidFill>
                  <a:srgbClr val="FFFFFF"/>
                </a:solidFill>
                <a:latin typeface="Calibri"/>
              </a:defRPr>
            </a:pPr>
            <a:r>
              <a:t>3</a:t>
            </a:r>
          </a:p>
        </p:txBody>
      </p:sp>
      <p:sp>
        <p:nvSpPr>
          <p:cNvPr id="21" name="TextBox 20"/>
          <p:cNvSpPr txBox="1"/>
          <p:nvPr/>
        </p:nvSpPr>
        <p:spPr>
          <a:xfrm>
            <a:off x="6812280" y="2185416"/>
            <a:ext cx="4572000" cy="411480"/>
          </a:xfrm>
          <a:prstGeom prst="rect">
            <a:avLst/>
          </a:prstGeom>
          <a:noFill/>
        </p:spPr>
        <p:txBody>
          <a:bodyPr wrap="square">
            <a:spAutoFit/>
          </a:bodyPr>
          <a:lstStyle/>
          <a:p>
            <a:pPr algn="l">
              <a:defRPr sz="900" b="0">
                <a:solidFill>
                  <a:srgbClr val="333333"/>
                </a:solidFill>
                <a:latin typeface="Calibri"/>
              </a:defRPr>
            </a:pPr>
            <a:r>
              <a:t>AI agent auto-generates POs grouped by supplier with MOQ enforcement</a:t>
            </a:r>
          </a:p>
        </p:txBody>
      </p:sp>
      <p:sp>
        <p:nvSpPr>
          <p:cNvPr id="22" name="Oval 21"/>
          <p:cNvSpPr/>
          <p:nvPr/>
        </p:nvSpPr>
        <p:spPr>
          <a:xfrm>
            <a:off x="6400800" y="2660904"/>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2679192"/>
            <a:ext cx="274320" cy="228600"/>
          </a:xfrm>
          <a:prstGeom prst="rect">
            <a:avLst/>
          </a:prstGeom>
          <a:noFill/>
        </p:spPr>
        <p:txBody>
          <a:bodyPr wrap="square">
            <a:spAutoFit/>
          </a:bodyPr>
          <a:lstStyle/>
          <a:p>
            <a:pPr algn="ctr">
              <a:defRPr sz="1000" b="1">
                <a:solidFill>
                  <a:srgbClr val="FFFFFF"/>
                </a:solidFill>
                <a:latin typeface="Calibri"/>
              </a:defRPr>
            </a:pPr>
            <a:r>
              <a:t>4</a:t>
            </a:r>
          </a:p>
        </p:txBody>
      </p:sp>
      <p:sp>
        <p:nvSpPr>
          <p:cNvPr id="24" name="TextBox 23"/>
          <p:cNvSpPr txBox="1"/>
          <p:nvPr/>
        </p:nvSpPr>
        <p:spPr>
          <a:xfrm>
            <a:off x="6812280" y="2660904"/>
            <a:ext cx="4572000" cy="411480"/>
          </a:xfrm>
          <a:prstGeom prst="rect">
            <a:avLst/>
          </a:prstGeom>
          <a:noFill/>
        </p:spPr>
        <p:txBody>
          <a:bodyPr wrap="square">
            <a:spAutoFit/>
          </a:bodyPr>
          <a:lstStyle/>
          <a:p>
            <a:pPr algn="l">
              <a:defRPr sz="900" b="0">
                <a:solidFill>
                  <a:srgbClr val="333333"/>
                </a:solidFill>
                <a:latin typeface="Calibri"/>
              </a:defRPr>
            </a:pPr>
            <a:r>
              <a:t>Early-pay discount applied (2% if paid within 24h vs net-30)</a:t>
            </a:r>
          </a:p>
        </p:txBody>
      </p:sp>
      <p:sp>
        <p:nvSpPr>
          <p:cNvPr id="25" name="Oval 24"/>
          <p:cNvSpPr/>
          <p:nvPr/>
        </p:nvSpPr>
        <p:spPr>
          <a:xfrm>
            <a:off x="6400800" y="3136392"/>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3154680"/>
            <a:ext cx="274320" cy="228600"/>
          </a:xfrm>
          <a:prstGeom prst="rect">
            <a:avLst/>
          </a:prstGeom>
          <a:noFill/>
        </p:spPr>
        <p:txBody>
          <a:bodyPr wrap="square">
            <a:spAutoFit/>
          </a:bodyPr>
          <a:lstStyle/>
          <a:p>
            <a:pPr algn="ctr">
              <a:defRPr sz="1000" b="1">
                <a:solidFill>
                  <a:srgbClr val="FFFFFF"/>
                </a:solidFill>
                <a:latin typeface="Calibri"/>
              </a:defRPr>
            </a:pPr>
            <a:r>
              <a:t>5</a:t>
            </a:r>
          </a:p>
        </p:txBody>
      </p:sp>
      <p:sp>
        <p:nvSpPr>
          <p:cNvPr id="27" name="TextBox 26"/>
          <p:cNvSpPr txBox="1"/>
          <p:nvPr/>
        </p:nvSpPr>
        <p:spPr>
          <a:xfrm>
            <a:off x="6812280" y="3136392"/>
            <a:ext cx="4572000" cy="411480"/>
          </a:xfrm>
          <a:prstGeom prst="rect">
            <a:avLst/>
          </a:prstGeom>
          <a:noFill/>
        </p:spPr>
        <p:txBody>
          <a:bodyPr wrap="square">
            <a:spAutoFit/>
          </a:bodyPr>
          <a:lstStyle/>
          <a:p>
            <a:pPr algn="l">
              <a:defRPr sz="900" b="0">
                <a:solidFill>
                  <a:srgbClr val="333333"/>
                </a:solidFill>
                <a:latin typeface="Calibri"/>
              </a:defRPr>
            </a:pPr>
            <a:r>
              <a:t>FIUSD payment via Finxact; supplier gets USD via INDX in 2.7 seconds</a:t>
            </a:r>
          </a:p>
        </p:txBody>
      </p:sp>
      <p:sp>
        <p:nvSpPr>
          <p:cNvPr id="28" name="Rounded Rectangle 27"/>
          <p:cNvSpPr/>
          <p:nvPr/>
        </p:nvSpPr>
        <p:spPr>
          <a:xfrm>
            <a:off x="548640" y="3840480"/>
            <a:ext cx="10881360" cy="1463040"/>
          </a:xfrm>
          <a:prstGeom prst="round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3886200"/>
            <a:ext cx="2743200" cy="274320"/>
          </a:xfrm>
          <a:prstGeom prst="rect">
            <a:avLst/>
          </a:prstGeom>
          <a:noFill/>
        </p:spPr>
        <p:txBody>
          <a:bodyPr wrap="square">
            <a:spAutoFit/>
          </a:bodyPr>
          <a:lstStyle/>
          <a:p>
            <a:pPr algn="l">
              <a:defRPr sz="1000" b="1">
                <a:solidFill>
                  <a:srgbClr val="FF6600"/>
                </a:solidFill>
                <a:latin typeface="Calibri"/>
              </a:defRPr>
            </a:pPr>
            <a:r>
              <a:t>POTENTIAL IMPACT</a:t>
            </a:r>
          </a:p>
        </p:txBody>
      </p:sp>
      <p:sp>
        <p:nvSpPr>
          <p:cNvPr id="30" name="TextBox 29"/>
          <p:cNvSpPr txBox="1"/>
          <p:nvPr/>
        </p:nvSpPr>
        <p:spPr>
          <a:xfrm>
            <a:off x="731520" y="4160520"/>
            <a:ext cx="2468880" cy="457200"/>
          </a:xfrm>
          <a:prstGeom prst="rect">
            <a:avLst/>
          </a:prstGeom>
          <a:noFill/>
        </p:spPr>
        <p:txBody>
          <a:bodyPr wrap="square">
            <a:spAutoFit/>
          </a:bodyPr>
          <a:lstStyle/>
          <a:p>
            <a:pPr algn="ctr">
              <a:defRPr sz="2400" b="1">
                <a:solidFill>
                  <a:srgbClr val="FF6600"/>
                </a:solidFill>
                <a:latin typeface="Calibri"/>
              </a:defRPr>
            </a:pPr>
            <a:r>
              <a:t>$1,200/mo</a:t>
            </a:r>
          </a:p>
        </p:txBody>
      </p:sp>
      <p:sp>
        <p:nvSpPr>
          <p:cNvPr id="31" name="TextBox 30"/>
          <p:cNvSpPr txBox="1"/>
          <p:nvPr/>
        </p:nvSpPr>
        <p:spPr>
          <a:xfrm>
            <a:off x="731520" y="4617720"/>
            <a:ext cx="2468880" cy="411480"/>
          </a:xfrm>
          <a:prstGeom prst="rect">
            <a:avLst/>
          </a:prstGeom>
          <a:noFill/>
        </p:spPr>
        <p:txBody>
          <a:bodyPr wrap="square">
            <a:spAutoFit/>
          </a:bodyPr>
          <a:lstStyle/>
          <a:p>
            <a:pPr algn="ctr">
              <a:defRPr sz="900" b="0">
                <a:solidFill>
                  <a:srgbClr val="FFFFFF"/>
                </a:solidFill>
                <a:latin typeface="Calibri"/>
              </a:defRPr>
            </a:pPr>
            <a:r>
              <a:t>Per merchant savings</a:t>
            </a:r>
            <a:br/>
            <a:r>
              <a:t>(fees + discounts)</a:t>
            </a:r>
          </a:p>
        </p:txBody>
      </p:sp>
      <p:sp>
        <p:nvSpPr>
          <p:cNvPr id="32" name="TextBox 31"/>
          <p:cNvSpPr txBox="1"/>
          <p:nvPr/>
        </p:nvSpPr>
        <p:spPr>
          <a:xfrm>
            <a:off x="3520439" y="4160520"/>
            <a:ext cx="2468880" cy="457200"/>
          </a:xfrm>
          <a:prstGeom prst="rect">
            <a:avLst/>
          </a:prstGeom>
          <a:noFill/>
        </p:spPr>
        <p:txBody>
          <a:bodyPr wrap="square">
            <a:spAutoFit/>
          </a:bodyPr>
          <a:lstStyle/>
          <a:p>
            <a:pPr algn="ctr">
              <a:defRPr sz="2400" b="1">
                <a:solidFill>
                  <a:srgbClr val="FF6600"/>
                </a:solidFill>
                <a:latin typeface="Calibri"/>
              </a:defRPr>
            </a:pPr>
            <a:r>
              <a:t>2.7 sec</a:t>
            </a:r>
          </a:p>
        </p:txBody>
      </p:sp>
      <p:sp>
        <p:nvSpPr>
          <p:cNvPr id="33" name="TextBox 32"/>
          <p:cNvSpPr txBox="1"/>
          <p:nvPr/>
        </p:nvSpPr>
        <p:spPr>
          <a:xfrm>
            <a:off x="3520439" y="4617720"/>
            <a:ext cx="2468880" cy="411480"/>
          </a:xfrm>
          <a:prstGeom prst="rect">
            <a:avLst/>
          </a:prstGeom>
          <a:noFill/>
        </p:spPr>
        <p:txBody>
          <a:bodyPr wrap="square">
            <a:spAutoFit/>
          </a:bodyPr>
          <a:lstStyle/>
          <a:p>
            <a:pPr algn="ctr">
              <a:defRPr sz="900" b="0">
                <a:solidFill>
                  <a:srgbClr val="FFFFFF"/>
                </a:solidFill>
                <a:latin typeface="Calibri"/>
              </a:defRPr>
            </a:pPr>
            <a:r>
              <a:t>Supplier settlement</a:t>
            </a:r>
            <a:br/>
            <a:r>
              <a:t>(vs 2-5 days)</a:t>
            </a:r>
          </a:p>
        </p:txBody>
      </p:sp>
      <p:sp>
        <p:nvSpPr>
          <p:cNvPr id="34" name="TextBox 33"/>
          <p:cNvSpPr txBox="1"/>
          <p:nvPr/>
        </p:nvSpPr>
        <p:spPr>
          <a:xfrm>
            <a:off x="6309359" y="4160520"/>
            <a:ext cx="2468880" cy="457200"/>
          </a:xfrm>
          <a:prstGeom prst="rect">
            <a:avLst/>
          </a:prstGeom>
          <a:noFill/>
        </p:spPr>
        <p:txBody>
          <a:bodyPr wrap="square">
            <a:spAutoFit/>
          </a:bodyPr>
          <a:lstStyle/>
          <a:p>
            <a:pPr algn="ctr">
              <a:defRPr sz="2400" b="1">
                <a:solidFill>
                  <a:srgbClr val="FF6600"/>
                </a:solidFill>
                <a:latin typeface="Calibri"/>
              </a:defRPr>
            </a:pPr>
            <a:r>
              <a:t>0%</a:t>
            </a:r>
          </a:p>
        </p:txBody>
      </p:sp>
      <p:sp>
        <p:nvSpPr>
          <p:cNvPr id="35" name="TextBox 34"/>
          <p:cNvSpPr txBox="1"/>
          <p:nvPr/>
        </p:nvSpPr>
        <p:spPr>
          <a:xfrm>
            <a:off x="6309359" y="4617720"/>
            <a:ext cx="2468880" cy="411480"/>
          </a:xfrm>
          <a:prstGeom prst="rect">
            <a:avLst/>
          </a:prstGeom>
          <a:noFill/>
        </p:spPr>
        <p:txBody>
          <a:bodyPr wrap="square">
            <a:spAutoFit/>
          </a:bodyPr>
          <a:lstStyle/>
          <a:p>
            <a:pPr algn="ctr">
              <a:defRPr sz="900" b="0">
                <a:solidFill>
                  <a:srgbClr val="FFFFFF"/>
                </a:solidFill>
                <a:latin typeface="Calibri"/>
              </a:defRPr>
            </a:pPr>
            <a:r>
              <a:t>Card interchange</a:t>
            </a:r>
            <a:br/>
            <a:r>
              <a:t>on supply orders</a:t>
            </a:r>
          </a:p>
        </p:txBody>
      </p:sp>
      <p:sp>
        <p:nvSpPr>
          <p:cNvPr id="36" name="TextBox 35"/>
          <p:cNvSpPr txBox="1"/>
          <p:nvPr/>
        </p:nvSpPr>
        <p:spPr>
          <a:xfrm>
            <a:off x="9098280" y="4160520"/>
            <a:ext cx="2468880" cy="457200"/>
          </a:xfrm>
          <a:prstGeom prst="rect">
            <a:avLst/>
          </a:prstGeom>
          <a:noFill/>
        </p:spPr>
        <p:txBody>
          <a:bodyPr wrap="square">
            <a:spAutoFit/>
          </a:bodyPr>
          <a:lstStyle/>
          <a:p>
            <a:pPr algn="ctr">
              <a:defRPr sz="2400" b="1">
                <a:solidFill>
                  <a:srgbClr val="FF6600"/>
                </a:solidFill>
                <a:latin typeface="Calibri"/>
              </a:defRPr>
            </a:pPr>
            <a:r>
              <a:t>$690M/yr</a:t>
            </a:r>
          </a:p>
        </p:txBody>
      </p:sp>
      <p:sp>
        <p:nvSpPr>
          <p:cNvPr id="37" name="TextBox 36"/>
          <p:cNvSpPr txBox="1"/>
          <p:nvPr/>
        </p:nvSpPr>
        <p:spPr>
          <a:xfrm>
            <a:off x="9098280" y="4617720"/>
            <a:ext cx="2468880" cy="411480"/>
          </a:xfrm>
          <a:prstGeom prst="rect">
            <a:avLst/>
          </a:prstGeom>
          <a:noFill/>
        </p:spPr>
        <p:txBody>
          <a:bodyPr wrap="square">
            <a:spAutoFit/>
          </a:bodyPr>
          <a:lstStyle/>
          <a:p>
            <a:pPr algn="ctr">
              <a:defRPr sz="900" b="0">
                <a:solidFill>
                  <a:srgbClr val="FFFFFF"/>
                </a:solidFill>
                <a:latin typeface="Calibri"/>
              </a:defRPr>
            </a:pPr>
            <a:r>
              <a:t>Revenue potential</a:t>
            </a:r>
            <a:br/>
            <a:r>
              <a:t>at full penetration</a:t>
            </a:r>
          </a:p>
        </p:txBody>
      </p:sp>
      <p:sp>
        <p:nvSpPr>
          <p:cNvPr id="38" name="TextBox 37"/>
          <p:cNvSpPr txBox="1"/>
          <p:nvPr/>
        </p:nvSpPr>
        <p:spPr>
          <a:xfrm>
            <a:off x="822960" y="5120640"/>
            <a:ext cx="10515600" cy="365760"/>
          </a:xfrm>
          <a:prstGeom prst="rect">
            <a:avLst/>
          </a:prstGeom>
          <a:noFill/>
        </p:spPr>
        <p:txBody>
          <a:bodyPr wrap="square">
            <a:spAutoFit/>
          </a:bodyPr>
          <a:lstStyle/>
          <a:p>
            <a:pPr algn="ctr">
              <a:defRPr sz="1100" b="0">
                <a:solidFill>
                  <a:srgbClr val="FFFFFF"/>
                </a:solidFill>
                <a:latin typeface="Calibri"/>
              </a:defRPr>
            </a:pPr>
            <a:r>
              <a:t>Both merchant and supplier on Fiserv rails. Card fees eliminated. Discounts captured automatically.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74320"/>
            <a:ext cx="1645920" cy="320040"/>
          </a:xfrm>
          <a:prstGeom prst="round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92608"/>
            <a:ext cx="1645920" cy="274320"/>
          </a:xfrm>
          <a:prstGeom prst="rect">
            <a:avLst/>
          </a:prstGeom>
          <a:noFill/>
        </p:spPr>
        <p:txBody>
          <a:bodyPr wrap="square">
            <a:spAutoFit/>
          </a:bodyPr>
          <a:lstStyle/>
          <a:p>
            <a:pPr algn="ctr">
              <a:defRPr sz="1100" b="1">
                <a:solidFill>
                  <a:srgbClr val="FFFFFF"/>
                </a:solidFill>
                <a:latin typeface="Calibri"/>
              </a:defRPr>
            </a:pPr>
            <a:r>
              <a:t>PROTOTYPE 4</a:t>
            </a:r>
          </a:p>
        </p:txBody>
      </p:sp>
      <p:sp>
        <p:nvSpPr>
          <p:cNvPr id="5" name="TextBox 4"/>
          <p:cNvSpPr txBox="1"/>
          <p:nvPr/>
        </p:nvSpPr>
        <p:spPr>
          <a:xfrm>
            <a:off x="2560320" y="228600"/>
            <a:ext cx="8229600" cy="457200"/>
          </a:xfrm>
          <a:prstGeom prst="rect">
            <a:avLst/>
          </a:prstGeom>
          <a:noFill/>
        </p:spPr>
        <p:txBody>
          <a:bodyPr wrap="square">
            <a:spAutoFit/>
          </a:bodyPr>
          <a:lstStyle/>
          <a:p>
            <a:pPr algn="l">
              <a:defRPr sz="2800" b="1">
                <a:solidFill>
                  <a:srgbClr val="003B5C"/>
                </a:solidFill>
                <a:latin typeface="Calibri"/>
              </a:defRPr>
            </a:pPr>
            <a:r>
              <a:t>Cross-Border Instant Settlement</a:t>
            </a:r>
          </a:p>
        </p:txBody>
      </p:sp>
      <p:sp>
        <p:nvSpPr>
          <p:cNvPr id="6" name="Rounded Rectangle 5"/>
          <p:cNvSpPr/>
          <p:nvPr/>
        </p:nvSpPr>
        <p:spPr>
          <a:xfrm>
            <a:off x="548640" y="822960"/>
            <a:ext cx="5486400" cy="118872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822960"/>
            <a:ext cx="54864" cy="1188720"/>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868680"/>
            <a:ext cx="5029200" cy="1097280"/>
          </a:xfrm>
          <a:prstGeom prst="rect">
            <a:avLst/>
          </a:prstGeom>
          <a:noFill/>
        </p:spPr>
        <p:txBody>
          <a:bodyPr wrap="square">
            <a:spAutoFit/>
          </a:bodyPr>
          <a:lstStyle/>
          <a:p>
            <a:pPr algn="l">
              <a:spcAft>
                <a:spcPts val="400"/>
              </a:spcAft>
              <a:defRPr sz="1000" b="1">
                <a:solidFill>
                  <a:srgbClr val="C62828"/>
                </a:solidFill>
                <a:latin typeface="Calibri"/>
              </a:defRPr>
            </a:pPr>
            <a:r>
              <a:t>THE PROBLEM</a:t>
            </a:r>
          </a:p>
          <a:p>
            <a:pPr algn="l">
              <a:spcAft>
                <a:spcPts val="400"/>
              </a:spcAft>
              <a:defRPr sz="1000" b="0">
                <a:solidFill>
                  <a:srgbClr val="333333"/>
                </a:solidFill>
                <a:latin typeface="Calibri"/>
              </a:defRPr>
            </a:pPr>
            <a:r>
              <a:t>Cross-border card processing costs 3-5% in fees plus 2-4% FX markup. Settlement takes T+3 days through 4 intermediaries. A $1,000 MXN-to-USD transaction costs the merchant $47-$60 in fees. $6.3 trillion in cross-border e-commerce annually.</a:t>
            </a:r>
          </a:p>
        </p:txBody>
      </p:sp>
      <p:sp>
        <p:nvSpPr>
          <p:cNvPr id="9" name="Rounded Rectangle 8"/>
          <p:cNvSpPr/>
          <p:nvPr/>
        </p:nvSpPr>
        <p:spPr>
          <a:xfrm>
            <a:off x="548640" y="2148840"/>
            <a:ext cx="5486400" cy="118872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148840"/>
            <a:ext cx="54864" cy="11887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194560"/>
            <a:ext cx="5029200" cy="1097280"/>
          </a:xfrm>
          <a:prstGeom prst="rect">
            <a:avLst/>
          </a:prstGeom>
          <a:noFill/>
        </p:spPr>
        <p:txBody>
          <a:bodyPr wrap="square">
            <a:spAutoFit/>
          </a:bodyPr>
          <a:lstStyle/>
          <a:p>
            <a:pPr algn="l">
              <a:spcAft>
                <a:spcPts val="400"/>
              </a:spcAft>
              <a:defRPr sz="1000" b="1">
                <a:solidFill>
                  <a:srgbClr val="2E7D32"/>
                </a:solidFill>
                <a:latin typeface="Calibri"/>
              </a:defRPr>
            </a:pPr>
            <a:r>
              <a:t>THE SOLUTION</a:t>
            </a:r>
          </a:p>
          <a:p>
            <a:pPr algn="l">
              <a:spcAft>
                <a:spcPts val="400"/>
              </a:spcAft>
              <a:defRPr sz="1000" b="0">
                <a:solidFill>
                  <a:srgbClr val="333333"/>
                </a:solidFill>
                <a:latin typeface="Calibri"/>
              </a:defRPr>
            </a:pPr>
            <a:r>
              <a:t>CommerceHub auto-detects cross-border transactions (currency mismatch), converts local currency to FIUSD at real-time FX rates with 30-second rate lock, and settles merchant in USD via INDX in 3 seconds. Stablecoin is transport only -- merchant always receives dollars.</a:t>
            </a:r>
          </a:p>
        </p:txBody>
      </p:sp>
      <p:sp>
        <p:nvSpPr>
          <p:cNvPr id="12" name="TextBox 11"/>
          <p:cNvSpPr txBox="1"/>
          <p:nvPr/>
        </p:nvSpPr>
        <p:spPr>
          <a:xfrm>
            <a:off x="6400800" y="822960"/>
            <a:ext cx="5029200" cy="365760"/>
          </a:xfrm>
          <a:prstGeom prst="rect">
            <a:avLst/>
          </a:prstGeom>
          <a:noFill/>
        </p:spPr>
        <p:txBody>
          <a:bodyPr wrap="square">
            <a:spAutoFit/>
          </a:bodyPr>
          <a:lstStyle/>
          <a:p>
            <a:pPr algn="l">
              <a:defRPr sz="1000" b="1">
                <a:solidFill>
                  <a:srgbClr val="003B5C"/>
                </a:solidFill>
                <a:latin typeface="Calibri"/>
              </a:defRPr>
            </a:pPr>
            <a:r>
              <a:t>HOW IT WORKS</a:t>
            </a:r>
          </a:p>
        </p:txBody>
      </p:sp>
      <p:sp>
        <p:nvSpPr>
          <p:cNvPr id="13" name="Oval 12"/>
          <p:cNvSpPr/>
          <p:nvPr/>
        </p:nvSpPr>
        <p:spPr>
          <a:xfrm>
            <a:off x="6400800" y="1234440"/>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252728"/>
            <a:ext cx="274320" cy="228600"/>
          </a:xfrm>
          <a:prstGeom prst="rect">
            <a:avLst/>
          </a:prstGeom>
          <a:noFill/>
        </p:spPr>
        <p:txBody>
          <a:bodyPr wrap="square">
            <a:spAutoFit/>
          </a:bodyPr>
          <a:lstStyle/>
          <a:p>
            <a:pPr algn="ctr">
              <a:defRPr sz="1000" b="1">
                <a:solidFill>
                  <a:srgbClr val="FFFFFF"/>
                </a:solidFill>
                <a:latin typeface="Calibri"/>
              </a:defRPr>
            </a:pPr>
            <a:r>
              <a:t>1</a:t>
            </a:r>
          </a:p>
        </p:txBody>
      </p:sp>
      <p:sp>
        <p:nvSpPr>
          <p:cNvPr id="15" name="TextBox 14"/>
          <p:cNvSpPr txBox="1"/>
          <p:nvPr/>
        </p:nvSpPr>
        <p:spPr>
          <a:xfrm>
            <a:off x="6812280" y="1234440"/>
            <a:ext cx="4572000" cy="411480"/>
          </a:xfrm>
          <a:prstGeom prst="rect">
            <a:avLst/>
          </a:prstGeom>
          <a:noFill/>
        </p:spPr>
        <p:txBody>
          <a:bodyPr wrap="square">
            <a:spAutoFit/>
          </a:bodyPr>
          <a:lstStyle/>
          <a:p>
            <a:pPr algn="l">
              <a:defRPr sz="900" b="0">
                <a:solidFill>
                  <a:srgbClr val="333333"/>
                </a:solidFill>
                <a:latin typeface="Calibri"/>
              </a:defRPr>
            </a:pPr>
            <a:r>
              <a:t>International buyer pays in local currency (MXN, EUR, GBP)</a:t>
            </a:r>
          </a:p>
        </p:txBody>
      </p:sp>
      <p:sp>
        <p:nvSpPr>
          <p:cNvPr id="16" name="Oval 15"/>
          <p:cNvSpPr/>
          <p:nvPr/>
        </p:nvSpPr>
        <p:spPr>
          <a:xfrm>
            <a:off x="6400800" y="1709928"/>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728216"/>
            <a:ext cx="274320" cy="228600"/>
          </a:xfrm>
          <a:prstGeom prst="rect">
            <a:avLst/>
          </a:prstGeom>
          <a:noFill/>
        </p:spPr>
        <p:txBody>
          <a:bodyPr wrap="square">
            <a:spAutoFit/>
          </a:bodyPr>
          <a:lstStyle/>
          <a:p>
            <a:pPr algn="ctr">
              <a:defRPr sz="1000" b="1">
                <a:solidFill>
                  <a:srgbClr val="FFFFFF"/>
                </a:solidFill>
                <a:latin typeface="Calibri"/>
              </a:defRPr>
            </a:pPr>
            <a:r>
              <a:t>2</a:t>
            </a:r>
          </a:p>
        </p:txBody>
      </p:sp>
      <p:sp>
        <p:nvSpPr>
          <p:cNvPr id="18" name="TextBox 17"/>
          <p:cNvSpPr txBox="1"/>
          <p:nvPr/>
        </p:nvSpPr>
        <p:spPr>
          <a:xfrm>
            <a:off x="6812280" y="1709928"/>
            <a:ext cx="4572000" cy="411480"/>
          </a:xfrm>
          <a:prstGeom prst="rect">
            <a:avLst/>
          </a:prstGeom>
          <a:noFill/>
        </p:spPr>
        <p:txBody>
          <a:bodyPr wrap="square">
            <a:spAutoFit/>
          </a:bodyPr>
          <a:lstStyle/>
          <a:p>
            <a:pPr algn="l">
              <a:defRPr sz="900" b="0">
                <a:solidFill>
                  <a:srgbClr val="333333"/>
                </a:solidFill>
                <a:latin typeface="Calibri"/>
              </a:defRPr>
            </a:pPr>
            <a:r>
              <a:t>CommerceHub detects currency mismatch, identifies corridor</a:t>
            </a:r>
          </a:p>
        </p:txBody>
      </p:sp>
      <p:sp>
        <p:nvSpPr>
          <p:cNvPr id="19" name="Oval 18"/>
          <p:cNvSpPr/>
          <p:nvPr/>
        </p:nvSpPr>
        <p:spPr>
          <a:xfrm>
            <a:off x="6400800" y="2185416"/>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2203704"/>
            <a:ext cx="274320" cy="228600"/>
          </a:xfrm>
          <a:prstGeom prst="rect">
            <a:avLst/>
          </a:prstGeom>
          <a:noFill/>
        </p:spPr>
        <p:txBody>
          <a:bodyPr wrap="square">
            <a:spAutoFit/>
          </a:bodyPr>
          <a:lstStyle/>
          <a:p>
            <a:pPr algn="ctr">
              <a:defRPr sz="1000" b="1">
                <a:solidFill>
                  <a:srgbClr val="FFFFFF"/>
                </a:solidFill>
                <a:latin typeface="Calibri"/>
              </a:defRPr>
            </a:pPr>
            <a:r>
              <a:t>3</a:t>
            </a:r>
          </a:p>
        </p:txBody>
      </p:sp>
      <p:sp>
        <p:nvSpPr>
          <p:cNvPr id="21" name="TextBox 20"/>
          <p:cNvSpPr txBox="1"/>
          <p:nvPr/>
        </p:nvSpPr>
        <p:spPr>
          <a:xfrm>
            <a:off x="6812280" y="2185416"/>
            <a:ext cx="4572000" cy="411480"/>
          </a:xfrm>
          <a:prstGeom prst="rect">
            <a:avLst/>
          </a:prstGeom>
          <a:noFill/>
        </p:spPr>
        <p:txBody>
          <a:bodyPr wrap="square">
            <a:spAutoFit/>
          </a:bodyPr>
          <a:lstStyle/>
          <a:p>
            <a:pPr algn="l">
              <a:defRPr sz="900" b="0">
                <a:solidFill>
                  <a:srgbClr val="333333"/>
                </a:solidFill>
                <a:latin typeface="Calibri"/>
              </a:defRPr>
            </a:pPr>
            <a:r>
              <a:t>FX engine locks rate for 30 seconds, converts to FIUSD on Solana</a:t>
            </a:r>
          </a:p>
        </p:txBody>
      </p:sp>
      <p:sp>
        <p:nvSpPr>
          <p:cNvPr id="22" name="Oval 21"/>
          <p:cNvSpPr/>
          <p:nvPr/>
        </p:nvSpPr>
        <p:spPr>
          <a:xfrm>
            <a:off x="6400800" y="2660904"/>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2679192"/>
            <a:ext cx="274320" cy="228600"/>
          </a:xfrm>
          <a:prstGeom prst="rect">
            <a:avLst/>
          </a:prstGeom>
          <a:noFill/>
        </p:spPr>
        <p:txBody>
          <a:bodyPr wrap="square">
            <a:spAutoFit/>
          </a:bodyPr>
          <a:lstStyle/>
          <a:p>
            <a:pPr algn="ctr">
              <a:defRPr sz="1000" b="1">
                <a:solidFill>
                  <a:srgbClr val="FFFFFF"/>
                </a:solidFill>
                <a:latin typeface="Calibri"/>
              </a:defRPr>
            </a:pPr>
            <a:r>
              <a:t>4</a:t>
            </a:r>
          </a:p>
        </p:txBody>
      </p:sp>
      <p:sp>
        <p:nvSpPr>
          <p:cNvPr id="24" name="TextBox 23"/>
          <p:cNvSpPr txBox="1"/>
          <p:nvPr/>
        </p:nvSpPr>
        <p:spPr>
          <a:xfrm>
            <a:off x="6812280" y="2660904"/>
            <a:ext cx="4572000" cy="411480"/>
          </a:xfrm>
          <a:prstGeom prst="rect">
            <a:avLst/>
          </a:prstGeom>
          <a:noFill/>
        </p:spPr>
        <p:txBody>
          <a:bodyPr wrap="square">
            <a:spAutoFit/>
          </a:bodyPr>
          <a:lstStyle/>
          <a:p>
            <a:pPr algn="l">
              <a:defRPr sz="900" b="0">
                <a:solidFill>
                  <a:srgbClr val="333333"/>
                </a:solidFill>
                <a:latin typeface="Calibri"/>
              </a:defRPr>
            </a:pPr>
            <a:r>
              <a:t>OFAC/sanctions screening passes (GENIUS Act compliant)</a:t>
            </a:r>
          </a:p>
        </p:txBody>
      </p:sp>
      <p:sp>
        <p:nvSpPr>
          <p:cNvPr id="25" name="Oval 24"/>
          <p:cNvSpPr/>
          <p:nvPr/>
        </p:nvSpPr>
        <p:spPr>
          <a:xfrm>
            <a:off x="6400800" y="3136392"/>
            <a:ext cx="274320" cy="27432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3154680"/>
            <a:ext cx="274320" cy="228600"/>
          </a:xfrm>
          <a:prstGeom prst="rect">
            <a:avLst/>
          </a:prstGeom>
          <a:noFill/>
        </p:spPr>
        <p:txBody>
          <a:bodyPr wrap="square">
            <a:spAutoFit/>
          </a:bodyPr>
          <a:lstStyle/>
          <a:p>
            <a:pPr algn="ctr">
              <a:defRPr sz="1000" b="1">
                <a:solidFill>
                  <a:srgbClr val="FFFFFF"/>
                </a:solidFill>
                <a:latin typeface="Calibri"/>
              </a:defRPr>
            </a:pPr>
            <a:r>
              <a:t>5</a:t>
            </a:r>
          </a:p>
        </p:txBody>
      </p:sp>
      <p:sp>
        <p:nvSpPr>
          <p:cNvPr id="27" name="TextBox 26"/>
          <p:cNvSpPr txBox="1"/>
          <p:nvPr/>
        </p:nvSpPr>
        <p:spPr>
          <a:xfrm>
            <a:off x="6812280" y="3136392"/>
            <a:ext cx="4572000" cy="411480"/>
          </a:xfrm>
          <a:prstGeom prst="rect">
            <a:avLst/>
          </a:prstGeom>
          <a:noFill/>
        </p:spPr>
        <p:txBody>
          <a:bodyPr wrap="square">
            <a:spAutoFit/>
          </a:bodyPr>
          <a:lstStyle/>
          <a:p>
            <a:pPr algn="l">
              <a:defRPr sz="900" b="0">
                <a:solidFill>
                  <a:srgbClr val="333333"/>
                </a:solidFill>
                <a:latin typeface="Calibri"/>
              </a:defRPr>
            </a:pPr>
            <a:r>
              <a:t>INDX converts FIUSD to USD, settles to merchant bank in 3 seconds</a:t>
            </a:r>
          </a:p>
        </p:txBody>
      </p:sp>
      <p:sp>
        <p:nvSpPr>
          <p:cNvPr id="28" name="Rounded Rectangle 27"/>
          <p:cNvSpPr/>
          <p:nvPr/>
        </p:nvSpPr>
        <p:spPr>
          <a:xfrm>
            <a:off x="548640" y="3840480"/>
            <a:ext cx="10881360" cy="1463040"/>
          </a:xfrm>
          <a:prstGeom prst="round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3886200"/>
            <a:ext cx="2743200" cy="274320"/>
          </a:xfrm>
          <a:prstGeom prst="rect">
            <a:avLst/>
          </a:prstGeom>
          <a:noFill/>
        </p:spPr>
        <p:txBody>
          <a:bodyPr wrap="square">
            <a:spAutoFit/>
          </a:bodyPr>
          <a:lstStyle/>
          <a:p>
            <a:pPr algn="l">
              <a:defRPr sz="1000" b="1">
                <a:solidFill>
                  <a:srgbClr val="FF6600"/>
                </a:solidFill>
                <a:latin typeface="Calibri"/>
              </a:defRPr>
            </a:pPr>
            <a:r>
              <a:t>POTENTIAL IMPACT</a:t>
            </a:r>
          </a:p>
        </p:txBody>
      </p:sp>
      <p:sp>
        <p:nvSpPr>
          <p:cNvPr id="30" name="TextBox 29"/>
          <p:cNvSpPr txBox="1"/>
          <p:nvPr/>
        </p:nvSpPr>
        <p:spPr>
          <a:xfrm>
            <a:off x="731520" y="4160520"/>
            <a:ext cx="2468880" cy="457200"/>
          </a:xfrm>
          <a:prstGeom prst="rect">
            <a:avLst/>
          </a:prstGeom>
          <a:noFill/>
        </p:spPr>
        <p:txBody>
          <a:bodyPr wrap="square">
            <a:spAutoFit/>
          </a:bodyPr>
          <a:lstStyle/>
          <a:p>
            <a:pPr algn="ctr">
              <a:defRPr sz="2400" b="1">
                <a:solidFill>
                  <a:srgbClr val="FF6600"/>
                </a:solidFill>
                <a:latin typeface="Calibri"/>
              </a:defRPr>
            </a:pPr>
            <a:r>
              <a:t>$55 saved</a:t>
            </a:r>
          </a:p>
        </p:txBody>
      </p:sp>
      <p:sp>
        <p:nvSpPr>
          <p:cNvPr id="31" name="TextBox 30"/>
          <p:cNvSpPr txBox="1"/>
          <p:nvPr/>
        </p:nvSpPr>
        <p:spPr>
          <a:xfrm>
            <a:off x="731520" y="4617720"/>
            <a:ext cx="2468880" cy="411480"/>
          </a:xfrm>
          <a:prstGeom prst="rect">
            <a:avLst/>
          </a:prstGeom>
          <a:noFill/>
        </p:spPr>
        <p:txBody>
          <a:bodyPr wrap="square">
            <a:spAutoFit/>
          </a:bodyPr>
          <a:lstStyle/>
          <a:p>
            <a:pPr algn="ctr">
              <a:defRPr sz="900" b="0">
                <a:solidFill>
                  <a:srgbClr val="FFFFFF"/>
                </a:solidFill>
                <a:latin typeface="Calibri"/>
              </a:defRPr>
            </a:pPr>
            <a:r>
              <a:t>Per $1,000 cross-border</a:t>
            </a:r>
            <a:br/>
            <a:r>
              <a:t>transaction</a:t>
            </a:r>
          </a:p>
        </p:txBody>
      </p:sp>
      <p:sp>
        <p:nvSpPr>
          <p:cNvPr id="32" name="TextBox 31"/>
          <p:cNvSpPr txBox="1"/>
          <p:nvPr/>
        </p:nvSpPr>
        <p:spPr>
          <a:xfrm>
            <a:off x="3520439" y="4160520"/>
            <a:ext cx="2468880" cy="457200"/>
          </a:xfrm>
          <a:prstGeom prst="rect">
            <a:avLst/>
          </a:prstGeom>
          <a:noFill/>
        </p:spPr>
        <p:txBody>
          <a:bodyPr wrap="square">
            <a:spAutoFit/>
          </a:bodyPr>
          <a:lstStyle/>
          <a:p>
            <a:pPr algn="ctr">
              <a:defRPr sz="2400" b="1">
                <a:solidFill>
                  <a:srgbClr val="FF6600"/>
                </a:solidFill>
                <a:latin typeface="Calibri"/>
              </a:defRPr>
            </a:pPr>
            <a:r>
              <a:t>91.7%</a:t>
            </a:r>
          </a:p>
        </p:txBody>
      </p:sp>
      <p:sp>
        <p:nvSpPr>
          <p:cNvPr id="33" name="TextBox 32"/>
          <p:cNvSpPr txBox="1"/>
          <p:nvPr/>
        </p:nvSpPr>
        <p:spPr>
          <a:xfrm>
            <a:off x="3520439" y="4617720"/>
            <a:ext cx="2468880" cy="411480"/>
          </a:xfrm>
          <a:prstGeom prst="rect">
            <a:avLst/>
          </a:prstGeom>
          <a:noFill/>
        </p:spPr>
        <p:txBody>
          <a:bodyPr wrap="square">
            <a:spAutoFit/>
          </a:bodyPr>
          <a:lstStyle/>
          <a:p>
            <a:pPr algn="ctr">
              <a:defRPr sz="900" b="0">
                <a:solidFill>
                  <a:srgbClr val="FFFFFF"/>
                </a:solidFill>
                <a:latin typeface="Calibri"/>
              </a:defRPr>
            </a:pPr>
            <a:r>
              <a:t>Cost reduction vs</a:t>
            </a:r>
            <a:br/>
            <a:r>
              <a:t>traditional card rails</a:t>
            </a:r>
          </a:p>
        </p:txBody>
      </p:sp>
      <p:sp>
        <p:nvSpPr>
          <p:cNvPr id="34" name="TextBox 33"/>
          <p:cNvSpPr txBox="1"/>
          <p:nvPr/>
        </p:nvSpPr>
        <p:spPr>
          <a:xfrm>
            <a:off x="6309359" y="4160520"/>
            <a:ext cx="2468880" cy="457200"/>
          </a:xfrm>
          <a:prstGeom prst="rect">
            <a:avLst/>
          </a:prstGeom>
          <a:noFill/>
        </p:spPr>
        <p:txBody>
          <a:bodyPr wrap="square">
            <a:spAutoFit/>
          </a:bodyPr>
          <a:lstStyle/>
          <a:p>
            <a:pPr algn="ctr">
              <a:defRPr sz="2400" b="1">
                <a:solidFill>
                  <a:srgbClr val="FF6600"/>
                </a:solidFill>
                <a:latin typeface="Calibri"/>
              </a:defRPr>
            </a:pPr>
            <a:r>
              <a:t>3 sec</a:t>
            </a:r>
          </a:p>
        </p:txBody>
      </p:sp>
      <p:sp>
        <p:nvSpPr>
          <p:cNvPr id="35" name="TextBox 34"/>
          <p:cNvSpPr txBox="1"/>
          <p:nvPr/>
        </p:nvSpPr>
        <p:spPr>
          <a:xfrm>
            <a:off x="6309359" y="4617720"/>
            <a:ext cx="2468880" cy="411480"/>
          </a:xfrm>
          <a:prstGeom prst="rect">
            <a:avLst/>
          </a:prstGeom>
          <a:noFill/>
        </p:spPr>
        <p:txBody>
          <a:bodyPr wrap="square">
            <a:spAutoFit/>
          </a:bodyPr>
          <a:lstStyle/>
          <a:p>
            <a:pPr algn="ctr">
              <a:defRPr sz="900" b="0">
                <a:solidFill>
                  <a:srgbClr val="FFFFFF"/>
                </a:solidFill>
                <a:latin typeface="Calibri"/>
              </a:defRPr>
            </a:pPr>
            <a:r>
              <a:t>Settlement time</a:t>
            </a:r>
            <a:br/>
            <a:r>
              <a:t>(vs 3 business days)</a:t>
            </a:r>
          </a:p>
        </p:txBody>
      </p:sp>
      <p:sp>
        <p:nvSpPr>
          <p:cNvPr id="36" name="TextBox 35"/>
          <p:cNvSpPr txBox="1"/>
          <p:nvPr/>
        </p:nvSpPr>
        <p:spPr>
          <a:xfrm>
            <a:off x="9098280" y="4160520"/>
            <a:ext cx="2468880" cy="457200"/>
          </a:xfrm>
          <a:prstGeom prst="rect">
            <a:avLst/>
          </a:prstGeom>
          <a:noFill/>
        </p:spPr>
        <p:txBody>
          <a:bodyPr wrap="square">
            <a:spAutoFit/>
          </a:bodyPr>
          <a:lstStyle/>
          <a:p>
            <a:pPr algn="ctr">
              <a:defRPr sz="2400" b="1">
                <a:solidFill>
                  <a:srgbClr val="FF6600"/>
                </a:solidFill>
                <a:latin typeface="Calibri"/>
              </a:defRPr>
            </a:pPr>
            <a:r>
              <a:t>$350M/yr</a:t>
            </a:r>
          </a:p>
        </p:txBody>
      </p:sp>
      <p:sp>
        <p:nvSpPr>
          <p:cNvPr id="37" name="TextBox 36"/>
          <p:cNvSpPr txBox="1"/>
          <p:nvPr/>
        </p:nvSpPr>
        <p:spPr>
          <a:xfrm>
            <a:off x="9098280" y="4617720"/>
            <a:ext cx="2468880" cy="411480"/>
          </a:xfrm>
          <a:prstGeom prst="rect">
            <a:avLst/>
          </a:prstGeom>
          <a:noFill/>
        </p:spPr>
        <p:txBody>
          <a:bodyPr wrap="square">
            <a:spAutoFit/>
          </a:bodyPr>
          <a:lstStyle/>
          <a:p>
            <a:pPr algn="ctr">
              <a:defRPr sz="900" b="0">
                <a:solidFill>
                  <a:srgbClr val="FFFFFF"/>
                </a:solidFill>
                <a:latin typeface="Calibri"/>
              </a:defRPr>
            </a:pPr>
            <a:r>
              <a:t>Revenue at 70bps on</a:t>
            </a:r>
            <a:br/>
            <a:r>
              <a:t>$50B cross-border volume</a:t>
            </a:r>
          </a:p>
        </p:txBody>
      </p:sp>
      <p:sp>
        <p:nvSpPr>
          <p:cNvPr id="38" name="TextBox 37"/>
          <p:cNvSpPr txBox="1"/>
          <p:nvPr/>
        </p:nvSpPr>
        <p:spPr>
          <a:xfrm>
            <a:off x="822960" y="5120640"/>
            <a:ext cx="10515600" cy="365760"/>
          </a:xfrm>
          <a:prstGeom prst="rect">
            <a:avLst/>
          </a:prstGeom>
          <a:noFill/>
        </p:spPr>
        <p:txBody>
          <a:bodyPr wrap="square">
            <a:spAutoFit/>
          </a:bodyPr>
          <a:lstStyle/>
          <a:p>
            <a:pPr algn="ctr">
              <a:defRPr sz="1100" b="0">
                <a:solidFill>
                  <a:srgbClr val="FFFFFF"/>
                </a:solidFill>
                <a:latin typeface="Calibri"/>
              </a:defRPr>
            </a:pPr>
            <a:r>
              <a:t>$6.3T cross-border e-commerce market. 90% cost reduction. Settlement in seconds, not days.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640080"/>
          </a:xfrm>
          <a:prstGeom prst="rect">
            <a:avLst/>
          </a:prstGeom>
          <a:noFill/>
        </p:spPr>
        <p:txBody>
          <a:bodyPr wrap="square">
            <a:spAutoFit/>
          </a:bodyPr>
          <a:lstStyle/>
          <a:p>
            <a:pPr algn="l">
              <a:defRPr sz="3600" b="1">
                <a:solidFill>
                  <a:srgbClr val="003B5C"/>
                </a:solidFill>
                <a:latin typeface="Calibri"/>
              </a:defRPr>
            </a:pPr>
            <a:r>
              <a:t>Risk Assessment &amp; Mitigation</a:t>
            </a:r>
          </a:p>
        </p:txBody>
      </p:sp>
      <p:graphicFrame>
        <p:nvGraphicFramePr>
          <p:cNvPr id="4" name="Table 3"/>
          <p:cNvGraphicFramePr>
            <a:graphicFrameLocks noGrp="1"/>
          </p:cNvGraphicFramePr>
          <p:nvPr/>
        </p:nvGraphicFramePr>
        <p:xfrm>
          <a:off x="457200" y="1188720"/>
          <a:ext cx="11247120" cy="4114800"/>
        </p:xfrm>
        <a:graphic>
          <a:graphicData uri="http://schemas.openxmlformats.org/drawingml/2006/table">
            <a:tbl>
              <a:tblPr firstRow="1" bandRow="1">
                <a:tableStyleId>{5C22544A-7EE6-4342-B048-85BDC9FD1C3A}</a:tableStyleId>
              </a:tblPr>
              <a:tblGrid>
                <a:gridCol w="2560320"/>
                <a:gridCol w="1371600"/>
                <a:gridCol w="1371600"/>
                <a:gridCol w="5943600"/>
              </a:tblGrid>
              <a:tr h="514350">
                <a:tc>
                  <a:txBody>
                    <a:bodyPr/>
                    <a:lstStyle/>
                    <a:p>
                      <a:pPr>
                        <a:defRPr sz="1000" b="1">
                          <a:solidFill>
                            <a:srgbClr val="FFFFFF"/>
                          </a:solidFill>
                          <a:latin typeface="Calibri"/>
                        </a:defRPr>
                      </a:pPr>
                      <a:r>
                        <a:t>Risk</a:t>
                      </a:r>
                    </a:p>
                  </a:txBody>
                  <a:tcPr anchor="ctr">
                    <a:solidFill>
                      <a:srgbClr val="003B5C"/>
                    </a:solidFill>
                  </a:tcPr>
                </a:tc>
                <a:tc>
                  <a:txBody>
                    <a:bodyPr/>
                    <a:lstStyle/>
                    <a:p>
                      <a:pPr>
                        <a:defRPr sz="1000" b="1">
                          <a:solidFill>
                            <a:srgbClr val="FFFFFF"/>
                          </a:solidFill>
                          <a:latin typeface="Calibri"/>
                        </a:defRPr>
                      </a:pPr>
                      <a:r>
                        <a:t>Severity</a:t>
                      </a:r>
                    </a:p>
                  </a:txBody>
                  <a:tcPr anchor="ctr">
                    <a:solidFill>
                      <a:srgbClr val="003B5C"/>
                    </a:solidFill>
                  </a:tcPr>
                </a:tc>
                <a:tc>
                  <a:txBody>
                    <a:bodyPr/>
                    <a:lstStyle/>
                    <a:p>
                      <a:pPr>
                        <a:defRPr sz="1000" b="1">
                          <a:solidFill>
                            <a:srgbClr val="FFFFFF"/>
                          </a:solidFill>
                          <a:latin typeface="Calibri"/>
                        </a:defRPr>
                      </a:pPr>
                      <a:r>
                        <a:t>Probability</a:t>
                      </a:r>
                    </a:p>
                  </a:txBody>
                  <a:tcPr anchor="ctr">
                    <a:solidFill>
                      <a:srgbClr val="003B5C"/>
                    </a:solidFill>
                  </a:tcPr>
                </a:tc>
                <a:tc>
                  <a:txBody>
                    <a:bodyPr/>
                    <a:lstStyle/>
                    <a:p>
                      <a:pPr>
                        <a:defRPr sz="1000" b="1">
                          <a:solidFill>
                            <a:srgbClr val="FFFFFF"/>
                          </a:solidFill>
                          <a:latin typeface="Calibri"/>
                        </a:defRPr>
                      </a:pPr>
                      <a:r>
                        <a:t>Mitigation</a:t>
                      </a:r>
                    </a:p>
                  </a:txBody>
                  <a:tcPr anchor="ctr">
                    <a:solidFill>
                      <a:srgbClr val="003B5C"/>
                    </a:solidFill>
                  </a:tcPr>
                </a:tc>
              </a:tr>
              <a:tr h="514350">
                <a:tc>
                  <a:txBody>
                    <a:bodyPr/>
                    <a:lstStyle/>
                    <a:p>
                      <a:pPr>
                        <a:defRPr sz="1000">
                          <a:solidFill>
                            <a:srgbClr val="333333"/>
                          </a:solidFill>
                          <a:latin typeface="Calibri"/>
                        </a:defRPr>
                      </a:pPr>
                      <a:r>
                        <a:t>Regulatory reversal</a:t>
                      </a:r>
                    </a:p>
                  </a:txBody>
                  <a:tcPr anchor="ctr">
                    <a:solidFill>
                      <a:srgbClr val="FFFFFF"/>
                    </a:solidFill>
                  </a:tcPr>
                </a:tc>
                <a:tc>
                  <a:txBody>
                    <a:bodyPr/>
                    <a:lstStyle/>
                    <a:p>
                      <a:pPr>
                        <a:defRPr sz="1000">
                          <a:solidFill>
                            <a:srgbClr val="333333"/>
                          </a:solidFill>
                          <a:latin typeface="Calibri"/>
                        </a:defRPr>
                      </a:pPr>
                      <a:r>
                        <a:t>Catastrophic</a:t>
                      </a:r>
                    </a:p>
                  </a:txBody>
                  <a:tcPr anchor="ctr">
                    <a:solidFill>
                      <a:srgbClr val="FFFFFF"/>
                    </a:solidFill>
                  </a:tcPr>
                </a:tc>
                <a:tc>
                  <a:txBody>
                    <a:bodyPr/>
                    <a:lstStyle/>
                    <a:p>
                      <a:pPr>
                        <a:defRPr sz="1000">
                          <a:solidFill>
                            <a:srgbClr val="333333"/>
                          </a:solidFill>
                          <a:latin typeface="Calibri"/>
                        </a:defRPr>
                      </a:pPr>
                      <a:r>
                        <a:t>Low-Med</a:t>
                      </a:r>
                    </a:p>
                  </a:txBody>
                  <a:tcPr anchor="ctr">
                    <a:solidFill>
                      <a:srgbClr val="FFFFFF"/>
                    </a:solidFill>
                  </a:tcPr>
                </a:tc>
                <a:tc>
                  <a:txBody>
                    <a:bodyPr/>
                    <a:lstStyle/>
                    <a:p>
                      <a:pPr>
                        <a:defRPr sz="1000">
                          <a:solidFill>
                            <a:srgbClr val="333333"/>
                          </a:solidFill>
                          <a:latin typeface="Calibri"/>
                        </a:defRPr>
                      </a:pPr>
                      <a:r>
                        <a:t>FIUSD as deposit wrapper -- regulatory portable</a:t>
                      </a:r>
                    </a:p>
                  </a:txBody>
                  <a:tcPr anchor="ctr">
                    <a:solidFill>
                      <a:srgbClr val="FFFFFF"/>
                    </a:solidFill>
                  </a:tcPr>
                </a:tc>
              </a:tr>
              <a:tr h="514350">
                <a:tc>
                  <a:txBody>
                    <a:bodyPr/>
                    <a:lstStyle/>
                    <a:p>
                      <a:pPr>
                        <a:defRPr sz="1000">
                          <a:solidFill>
                            <a:srgbClr val="333333"/>
                          </a:solidFill>
                          <a:latin typeface="Calibri"/>
                        </a:defRPr>
                      </a:pPr>
                      <a:r>
                        <a:t>Stripe protocol lock-in</a:t>
                      </a:r>
                    </a:p>
                  </a:txBody>
                  <a:tcPr anchor="ctr">
                    <a:solidFill>
                      <a:srgbClr val="F2F2F2"/>
                    </a:solidFill>
                  </a:tcPr>
                </a:tc>
                <a:tc>
                  <a:txBody>
                    <a:bodyPr/>
                    <a:lstStyle/>
                    <a:p>
                      <a:pPr>
                        <a:defRPr sz="1000">
                          <a:solidFill>
                            <a:srgbClr val="333333"/>
                          </a:solidFill>
                          <a:latin typeface="Calibri"/>
                        </a:defRPr>
                      </a:pPr>
                      <a:r>
                        <a:t>High</a:t>
                      </a:r>
                    </a:p>
                  </a:txBody>
                  <a:tcPr anchor="ctr">
                    <a:solidFill>
                      <a:srgbClr val="F2F2F2"/>
                    </a:solidFill>
                  </a:tcPr>
                </a:tc>
                <a:tc>
                  <a:txBody>
                    <a:bodyPr/>
                    <a:lstStyle/>
                    <a:p>
                      <a:pPr>
                        <a:defRPr sz="1000">
                          <a:solidFill>
                            <a:srgbClr val="333333"/>
                          </a:solidFill>
                          <a:latin typeface="Calibri"/>
                        </a:defRPr>
                      </a:pPr>
                      <a:r>
                        <a:t>Medium</a:t>
                      </a:r>
                    </a:p>
                  </a:txBody>
                  <a:tcPr anchor="ctr">
                    <a:solidFill>
                      <a:srgbClr val="F2F2F2"/>
                    </a:solidFill>
                  </a:tcPr>
                </a:tc>
                <a:tc>
                  <a:txBody>
                    <a:bodyPr/>
                    <a:lstStyle/>
                    <a:p>
                      <a:pPr>
                        <a:defRPr sz="1000">
                          <a:solidFill>
                            <a:srgbClr val="333333"/>
                          </a:solidFill>
                          <a:latin typeface="Calibri"/>
                        </a:defRPr>
                      </a:pPr>
                      <a:r>
                        <a:t>6M auto-enable + dual protocol (x402 + MPP)</a:t>
                      </a:r>
                    </a:p>
                  </a:txBody>
                  <a:tcPr anchor="ctr">
                    <a:solidFill>
                      <a:srgbClr val="F2F2F2"/>
                    </a:solidFill>
                  </a:tcPr>
                </a:tc>
              </a:tr>
              <a:tr h="514350">
                <a:tc>
                  <a:txBody>
                    <a:bodyPr/>
                    <a:lstStyle/>
                    <a:p>
                      <a:pPr>
                        <a:defRPr sz="1000">
                          <a:solidFill>
                            <a:srgbClr val="333333"/>
                          </a:solidFill>
                          <a:latin typeface="Calibri"/>
                        </a:defRPr>
                      </a:pPr>
                      <a:r>
                        <a:t>Bank client resistance</a:t>
                      </a:r>
                    </a:p>
                  </a:txBody>
                  <a:tcPr anchor="ctr">
                    <a:solidFill>
                      <a:srgbClr val="FFFFFF"/>
                    </a:solidFill>
                  </a:tcPr>
                </a:tc>
                <a:tc>
                  <a:txBody>
                    <a:bodyPr/>
                    <a:lstStyle/>
                    <a:p>
                      <a:pPr>
                        <a:defRPr sz="1000">
                          <a:solidFill>
                            <a:srgbClr val="333333"/>
                          </a:solidFill>
                          <a:latin typeface="Calibri"/>
                        </a:defRPr>
                      </a:pPr>
                      <a:r>
                        <a:t>High</a:t>
                      </a:r>
                    </a:p>
                  </a:txBody>
                  <a:tcPr anchor="ctr">
                    <a:solidFill>
                      <a:srgbClr val="FFFFFF"/>
                    </a:solidFill>
                  </a:tcPr>
                </a:tc>
                <a:tc>
                  <a:txBody>
                    <a:bodyPr/>
                    <a:lstStyle/>
                    <a:p>
                      <a:pPr>
                        <a:defRPr sz="1000">
                          <a:solidFill>
                            <a:srgbClr val="333333"/>
                          </a:solidFill>
                          <a:latin typeface="Calibri"/>
                        </a:defRPr>
                      </a:pPr>
                      <a:r>
                        <a:t>High</a:t>
                      </a:r>
                    </a:p>
                  </a:txBody>
                  <a:tcPr anchor="ctr">
                    <a:solidFill>
                      <a:srgbClr val="FFFFFF"/>
                    </a:solidFill>
                  </a:tcPr>
                </a:tc>
                <a:tc>
                  <a:txBody>
                    <a:bodyPr/>
                    <a:lstStyle/>
                    <a:p>
                      <a:pPr>
                        <a:defRPr sz="1000">
                          <a:solidFill>
                            <a:srgbClr val="333333"/>
                          </a:solidFill>
                          <a:latin typeface="Calibri"/>
                        </a:defRPr>
                      </a:pPr>
                      <a:r>
                        <a:t>FIUSD = deposit + 60-80bps (&gt; interchange)</a:t>
                      </a:r>
                    </a:p>
                  </a:txBody>
                  <a:tcPr anchor="ctr">
                    <a:solidFill>
                      <a:srgbClr val="FFFFFF"/>
                    </a:solidFill>
                  </a:tcPr>
                </a:tc>
              </a:tr>
              <a:tr h="514350">
                <a:tc>
                  <a:txBody>
                    <a:bodyPr/>
                    <a:lstStyle/>
                    <a:p>
                      <a:pPr>
                        <a:defRPr sz="1000">
                          <a:solidFill>
                            <a:srgbClr val="333333"/>
                          </a:solidFill>
                          <a:latin typeface="Calibri"/>
                        </a:defRPr>
                      </a:pPr>
                      <a:r>
                        <a:t>Consumer adoption stall</a:t>
                      </a:r>
                    </a:p>
                  </a:txBody>
                  <a:tcPr anchor="ctr">
                    <a:solidFill>
                      <a:srgbClr val="F2F2F2"/>
                    </a:solidFill>
                  </a:tcPr>
                </a:tc>
                <a:tc>
                  <a:txBody>
                    <a:bodyPr/>
                    <a:lstStyle/>
                    <a:p>
                      <a:pPr>
                        <a:defRPr sz="1000">
                          <a:solidFill>
                            <a:srgbClr val="333333"/>
                          </a:solidFill>
                          <a:latin typeface="Calibri"/>
                        </a:defRPr>
                      </a:pPr>
                      <a:r>
                        <a:t>Medium</a:t>
                      </a:r>
                    </a:p>
                  </a:txBody>
                  <a:tcPr anchor="ctr">
                    <a:solidFill>
                      <a:srgbClr val="F2F2F2"/>
                    </a:solidFill>
                  </a:tcPr>
                </a:tc>
                <a:tc>
                  <a:txBody>
                    <a:bodyPr/>
                    <a:lstStyle/>
                    <a:p>
                      <a:pPr>
                        <a:defRPr sz="1000">
                          <a:solidFill>
                            <a:srgbClr val="333333"/>
                          </a:solidFill>
                          <a:latin typeface="Calibri"/>
                        </a:defRPr>
                      </a:pPr>
                      <a:r>
                        <a:t>High</a:t>
                      </a:r>
                    </a:p>
                  </a:txBody>
                  <a:tcPr anchor="ctr">
                    <a:solidFill>
                      <a:srgbClr val="F2F2F2"/>
                    </a:solidFill>
                  </a:tcPr>
                </a:tc>
                <a:tc>
                  <a:txBody>
                    <a:bodyPr/>
                    <a:lstStyle/>
                    <a:p>
                      <a:pPr>
                        <a:defRPr sz="1000">
                          <a:solidFill>
                            <a:srgbClr val="333333"/>
                          </a:solidFill>
                          <a:latin typeface="Calibri"/>
                        </a:defRPr>
                      </a:pPr>
                      <a:r>
                        <a:t>Lead with B2B/agent use cases first</a:t>
                      </a:r>
                    </a:p>
                  </a:txBody>
                  <a:tcPr anchor="ctr">
                    <a:solidFill>
                      <a:srgbClr val="F2F2F2"/>
                    </a:solidFill>
                  </a:tcPr>
                </a:tc>
              </a:tr>
              <a:tr h="514350">
                <a:tc>
                  <a:txBody>
                    <a:bodyPr/>
                    <a:lstStyle/>
                    <a:p>
                      <a:pPr>
                        <a:defRPr sz="1000">
                          <a:solidFill>
                            <a:srgbClr val="333333"/>
                          </a:solidFill>
                          <a:latin typeface="Calibri"/>
                        </a:defRPr>
                      </a:pPr>
                      <a:r>
                        <a:t>Stablecoin depeg event</a:t>
                      </a:r>
                    </a:p>
                  </a:txBody>
                  <a:tcPr anchor="ctr">
                    <a:solidFill>
                      <a:srgbClr val="FFFFFF"/>
                    </a:solidFill>
                  </a:tcPr>
                </a:tc>
                <a:tc>
                  <a:txBody>
                    <a:bodyPr/>
                    <a:lstStyle/>
                    <a:p>
                      <a:pPr>
                        <a:defRPr sz="1000">
                          <a:solidFill>
                            <a:srgbClr val="333333"/>
                          </a:solidFill>
                          <a:latin typeface="Calibri"/>
                        </a:defRPr>
                      </a:pPr>
                      <a:r>
                        <a:t>Catastrophic</a:t>
                      </a:r>
                    </a:p>
                  </a:txBody>
                  <a:tcPr anchor="ctr">
                    <a:solidFill>
                      <a:srgbClr val="FFFFFF"/>
                    </a:solidFill>
                  </a:tcPr>
                </a:tc>
                <a:tc>
                  <a:txBody>
                    <a:bodyPr/>
                    <a:lstStyle/>
                    <a:p>
                      <a:pPr>
                        <a:defRPr sz="1000">
                          <a:solidFill>
                            <a:srgbClr val="333333"/>
                          </a:solidFill>
                          <a:latin typeface="Calibri"/>
                        </a:defRPr>
                      </a:pPr>
                      <a:r>
                        <a:t>Low</a:t>
                      </a:r>
                    </a:p>
                  </a:txBody>
                  <a:tcPr anchor="ctr">
                    <a:solidFill>
                      <a:srgbClr val="FFFFFF"/>
                    </a:solidFill>
                  </a:tcPr>
                </a:tc>
                <a:tc>
                  <a:txBody>
                    <a:bodyPr/>
                    <a:lstStyle/>
                    <a:p>
                      <a:pPr>
                        <a:defRPr sz="1000">
                          <a:solidFill>
                            <a:srgbClr val="333333"/>
                          </a:solidFill>
                          <a:latin typeface="Calibri"/>
                        </a:defRPr>
                      </a:pPr>
                      <a:r>
                        <a:t>Circuit breaker at 0.5% + instant conversion</a:t>
                      </a:r>
                    </a:p>
                  </a:txBody>
                  <a:tcPr anchor="ctr">
                    <a:solidFill>
                      <a:srgbClr val="FFFFFF"/>
                    </a:solidFill>
                  </a:tcPr>
                </a:tc>
              </a:tr>
              <a:tr h="514350">
                <a:tc>
                  <a:txBody>
                    <a:bodyPr/>
                    <a:lstStyle/>
                    <a:p>
                      <a:pPr>
                        <a:defRPr sz="1000">
                          <a:solidFill>
                            <a:srgbClr val="333333"/>
                          </a:solidFill>
                          <a:latin typeface="Calibri"/>
                        </a:defRPr>
                      </a:pPr>
                      <a:r>
                        <a:t>Internal BU misalignment</a:t>
                      </a:r>
                    </a:p>
                  </a:txBody>
                  <a:tcPr anchor="ctr">
                    <a:solidFill>
                      <a:srgbClr val="F2F2F2"/>
                    </a:solidFill>
                  </a:tcPr>
                </a:tc>
                <a:tc>
                  <a:txBody>
                    <a:bodyPr/>
                    <a:lstStyle/>
                    <a:p>
                      <a:pPr>
                        <a:defRPr sz="1000">
                          <a:solidFill>
                            <a:srgbClr val="333333"/>
                          </a:solidFill>
                          <a:latin typeface="Calibri"/>
                        </a:defRPr>
                      </a:pPr>
                      <a:r>
                        <a:t>High</a:t>
                      </a:r>
                    </a:p>
                  </a:txBody>
                  <a:tcPr anchor="ctr">
                    <a:solidFill>
                      <a:srgbClr val="F2F2F2"/>
                    </a:solidFill>
                  </a:tcPr>
                </a:tc>
                <a:tc>
                  <a:txBody>
                    <a:bodyPr/>
                    <a:lstStyle/>
                    <a:p>
                      <a:pPr>
                        <a:defRPr sz="1000">
                          <a:solidFill>
                            <a:srgbClr val="333333"/>
                          </a:solidFill>
                          <a:latin typeface="Calibri"/>
                        </a:defRPr>
                      </a:pPr>
                      <a:r>
                        <a:t>High</a:t>
                      </a:r>
                    </a:p>
                  </a:txBody>
                  <a:tcPr anchor="ctr">
                    <a:solidFill>
                      <a:srgbClr val="F2F2F2"/>
                    </a:solidFill>
                  </a:tcPr>
                </a:tc>
                <a:tc>
                  <a:txBody>
                    <a:bodyPr/>
                    <a:lstStyle/>
                    <a:p>
                      <a:pPr>
                        <a:defRPr sz="1000">
                          <a:solidFill>
                            <a:srgbClr val="333333"/>
                          </a:solidFill>
                          <a:latin typeface="Calibri"/>
                        </a:defRPr>
                      </a:pPr>
                      <a:r>
                        <a:t>C-suite sponsor + cross-BU task force</a:t>
                      </a:r>
                    </a:p>
                  </a:txBody>
                  <a:tcPr anchor="ctr">
                    <a:solidFill>
                      <a:srgbClr val="F2F2F2"/>
                    </a:solidFill>
                  </a:tcPr>
                </a:tc>
              </a:tr>
              <a:tr h="514350">
                <a:tc>
                  <a:txBody>
                    <a:bodyPr/>
                    <a:lstStyle/>
                    <a:p>
                      <a:pPr>
                        <a:defRPr sz="1000">
                          <a:solidFill>
                            <a:srgbClr val="333333"/>
                          </a:solidFill>
                          <a:latin typeface="Calibri"/>
                        </a:defRPr>
                      </a:pPr>
                      <a:r>
                        <a:t>Coinbase competitive conflict</a:t>
                      </a:r>
                    </a:p>
                  </a:txBody>
                  <a:tcPr anchor="ctr">
                    <a:solidFill>
                      <a:srgbClr val="FFFFFF"/>
                    </a:solidFill>
                  </a:tcPr>
                </a:tc>
                <a:tc>
                  <a:txBody>
                    <a:bodyPr/>
                    <a:lstStyle/>
                    <a:p>
                      <a:pPr>
                        <a:defRPr sz="1000">
                          <a:solidFill>
                            <a:srgbClr val="333333"/>
                          </a:solidFill>
                          <a:latin typeface="Calibri"/>
                        </a:defRPr>
                      </a:pPr>
                      <a:r>
                        <a:t>Medium</a:t>
                      </a:r>
                    </a:p>
                  </a:txBody>
                  <a:tcPr anchor="ctr">
                    <a:solidFill>
                      <a:srgbClr val="FFFFFF"/>
                    </a:solidFill>
                  </a:tcPr>
                </a:tc>
                <a:tc>
                  <a:txBody>
                    <a:bodyPr/>
                    <a:lstStyle/>
                    <a:p>
                      <a:pPr>
                        <a:defRPr sz="1000">
                          <a:solidFill>
                            <a:srgbClr val="333333"/>
                          </a:solidFill>
                          <a:latin typeface="Calibri"/>
                        </a:defRPr>
                      </a:pPr>
                      <a:r>
                        <a:t>Medium</a:t>
                      </a:r>
                    </a:p>
                  </a:txBody>
                  <a:tcPr anchor="ctr">
                    <a:solidFill>
                      <a:srgbClr val="FFFFFF"/>
                    </a:solidFill>
                  </a:tcPr>
                </a:tc>
                <a:tc>
                  <a:txBody>
                    <a:bodyPr/>
                    <a:lstStyle/>
                    <a:p>
                      <a:pPr>
                        <a:defRPr sz="1000">
                          <a:solidFill>
                            <a:srgbClr val="333333"/>
                          </a:solidFill>
                          <a:latin typeface="Calibri"/>
                        </a:defRPr>
                      </a:pPr>
                      <a:r>
                        <a:t>Abstraction layer + &lt;40% volume cap</a:t>
                      </a:r>
                    </a:p>
                  </a:txBody>
                  <a:tcPr anchor="ctr">
                    <a:solidFill>
                      <a:srgbClr val="FFFFFF"/>
                    </a:solidFill>
                  </a:tcPr>
                </a:tc>
              </a:tr>
            </a:tbl>
          </a:graphicData>
        </a:graphic>
      </p:graphicFrame>
      <p:sp>
        <p:nvSpPr>
          <p:cNvPr id="5" name="Rounded Rectangle 4"/>
          <p:cNvSpPr/>
          <p:nvPr/>
        </p:nvSpPr>
        <p:spPr>
          <a:xfrm>
            <a:off x="731520" y="5486400"/>
            <a:ext cx="10698480" cy="91440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5577840"/>
            <a:ext cx="10058400" cy="731520"/>
          </a:xfrm>
          <a:prstGeom prst="rect">
            <a:avLst/>
          </a:prstGeom>
          <a:noFill/>
        </p:spPr>
        <p:txBody>
          <a:bodyPr wrap="square">
            <a:spAutoFit/>
          </a:bodyPr>
          <a:lstStyle/>
          <a:p>
            <a:pPr algn="ctr">
              <a:defRPr sz="1200" b="0">
                <a:solidFill>
                  <a:srgbClr val="333333"/>
                </a:solidFill>
                <a:latin typeface="Calibri"/>
              </a:defRPr>
            </a:pPr>
            <a:r>
              <a:t>Every risk has a designed mitigation. The greatest risk is inaction -- competitors are moving NOW. Stripe acquired Bridge for $1.1B. Worldpay partnered with BVNK. Adyen joined every major protocol foundation.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058400" cy="640080"/>
          </a:xfrm>
          <a:prstGeom prst="rect">
            <a:avLst/>
          </a:prstGeom>
          <a:noFill/>
        </p:spPr>
        <p:txBody>
          <a:bodyPr wrap="square">
            <a:spAutoFit/>
          </a:bodyPr>
          <a:lstStyle/>
          <a:p>
            <a:pPr algn="l">
              <a:defRPr sz="3600" b="1">
                <a:solidFill>
                  <a:srgbClr val="003B5C"/>
                </a:solidFill>
                <a:latin typeface="Calibri"/>
              </a:defRPr>
            </a:pPr>
            <a:r>
              <a:t>Implementation Roadmap</a:t>
            </a:r>
          </a:p>
        </p:txBody>
      </p:sp>
      <p:sp>
        <p:nvSpPr>
          <p:cNvPr id="4" name="TextBox 3"/>
          <p:cNvSpPr txBox="1"/>
          <p:nvPr/>
        </p:nvSpPr>
        <p:spPr>
          <a:xfrm>
            <a:off x="731520" y="914400"/>
            <a:ext cx="10058400" cy="365760"/>
          </a:xfrm>
          <a:prstGeom prst="rect">
            <a:avLst/>
          </a:prstGeom>
          <a:noFill/>
        </p:spPr>
        <p:txBody>
          <a:bodyPr wrap="square">
            <a:spAutoFit/>
          </a:bodyPr>
          <a:lstStyle/>
          <a:p>
            <a:pPr algn="l">
              <a:defRPr sz="1300" b="0">
                <a:solidFill>
                  <a:srgbClr val="9B9B9B"/>
                </a:solidFill>
                <a:latin typeface="Calibri"/>
              </a:defRPr>
            </a:pPr>
            <a:r>
              <a:t>7-week parallel build  |  4 engineering teams  |  10-13 dedicated engineers  |  All prototypes demo-ready by May</a:t>
            </a:r>
          </a:p>
        </p:txBody>
      </p:sp>
      <p:graphicFrame>
        <p:nvGraphicFramePr>
          <p:cNvPr id="5" name="Table 4"/>
          <p:cNvGraphicFramePr>
            <a:graphicFrameLocks noGrp="1"/>
          </p:cNvGraphicFramePr>
          <p:nvPr/>
        </p:nvGraphicFramePr>
        <p:xfrm>
          <a:off x="274320" y="1463040"/>
          <a:ext cx="11521440" cy="3474720"/>
        </p:xfrm>
        <a:graphic>
          <a:graphicData uri="http://schemas.openxmlformats.org/drawingml/2006/table">
            <a:tbl>
              <a:tblPr firstRow="1" bandRow="1">
                <a:tableStyleId>{5C22544A-7EE6-4342-B048-85BDC9FD1C3A}</a:tableStyleId>
              </a:tblPr>
              <a:tblGrid>
                <a:gridCol w="914400"/>
                <a:gridCol w="2651760"/>
                <a:gridCol w="2651760"/>
                <a:gridCol w="2651760"/>
                <a:gridCol w="2651760"/>
              </a:tblGrid>
              <a:tr h="496388">
                <a:tc>
                  <a:txBody>
                    <a:bodyPr/>
                    <a:lstStyle/>
                    <a:p>
                      <a:pPr>
                        <a:defRPr sz="1000" b="1">
                          <a:solidFill>
                            <a:srgbClr val="FFFFFF"/>
                          </a:solidFill>
                          <a:latin typeface="Calibri"/>
                        </a:defRPr>
                      </a:pPr>
                      <a:r>
                        <a:t>Week</a:t>
                      </a:r>
                    </a:p>
                  </a:txBody>
                  <a:tcPr anchor="ctr">
                    <a:solidFill>
                      <a:srgbClr val="003B5C"/>
                    </a:solidFill>
                  </a:tcPr>
                </a:tc>
                <a:tc>
                  <a:txBody>
                    <a:bodyPr/>
                    <a:lstStyle/>
                    <a:p>
                      <a:pPr>
                        <a:defRPr sz="1000" b="1">
                          <a:solidFill>
                            <a:srgbClr val="FFFFFF"/>
                          </a:solidFill>
                          <a:latin typeface="Calibri"/>
                        </a:defRPr>
                      </a:pPr>
                      <a:r>
                        <a:t>Yield Sweep</a:t>
                      </a:r>
                    </a:p>
                    <a:p>
                      <a:pPr>
                        <a:defRPr sz="1000" b="1">
                          <a:solidFill>
                            <a:srgbClr val="FFFFFF"/>
                          </a:solidFill>
                          <a:latin typeface="Calibri"/>
                        </a:defRPr>
                      </a:pPr>
                      <a:r>
                        <a:t>(2-3 engineers)</a:t>
                      </a:r>
                    </a:p>
                  </a:txBody>
                  <a:tcPr anchor="ctr">
                    <a:solidFill>
                      <a:srgbClr val="003B5C"/>
                    </a:solidFill>
                  </a:tcPr>
                </a:tc>
                <a:tc>
                  <a:txBody>
                    <a:bodyPr/>
                    <a:lstStyle/>
                    <a:p>
                      <a:pPr>
                        <a:defRPr sz="1000" b="1">
                          <a:solidFill>
                            <a:srgbClr val="FFFFFF"/>
                          </a:solidFill>
                          <a:latin typeface="Calibri"/>
                        </a:defRPr>
                      </a:pPr>
                      <a:r>
                        <a:t>Pay-by-Agent</a:t>
                      </a:r>
                    </a:p>
                    <a:p>
                      <a:pPr>
                        <a:defRPr sz="1000" b="1">
                          <a:solidFill>
                            <a:srgbClr val="FFFFFF"/>
                          </a:solidFill>
                          <a:latin typeface="Calibri"/>
                        </a:defRPr>
                      </a:pPr>
                      <a:r>
                        <a:t>(3-4 engineers)</a:t>
                      </a:r>
                    </a:p>
                  </a:txBody>
                  <a:tcPr anchor="ctr">
                    <a:solidFill>
                      <a:srgbClr val="003B5C"/>
                    </a:solidFill>
                  </a:tcPr>
                </a:tc>
                <a:tc>
                  <a:txBody>
                    <a:bodyPr/>
                    <a:lstStyle/>
                    <a:p>
                      <a:pPr>
                        <a:defRPr sz="1000" b="1">
                          <a:solidFill>
                            <a:srgbClr val="FFFFFF"/>
                          </a:solidFill>
                          <a:latin typeface="Calibri"/>
                        </a:defRPr>
                      </a:pPr>
                      <a:r>
                        <a:t>Supplier Pay</a:t>
                      </a:r>
                    </a:p>
                    <a:p>
                      <a:pPr>
                        <a:defRPr sz="1000" b="1">
                          <a:solidFill>
                            <a:srgbClr val="FFFFFF"/>
                          </a:solidFill>
                          <a:latin typeface="Calibri"/>
                        </a:defRPr>
                      </a:pPr>
                      <a:r>
                        <a:t>(2-3 engineers)</a:t>
                      </a:r>
                    </a:p>
                  </a:txBody>
                  <a:tcPr anchor="ctr">
                    <a:solidFill>
                      <a:srgbClr val="003B5C"/>
                    </a:solidFill>
                  </a:tcPr>
                </a:tc>
                <a:tc>
                  <a:txBody>
                    <a:bodyPr/>
                    <a:lstStyle/>
                    <a:p>
                      <a:pPr>
                        <a:defRPr sz="1000" b="1">
                          <a:solidFill>
                            <a:srgbClr val="FFFFFF"/>
                          </a:solidFill>
                          <a:latin typeface="Calibri"/>
                        </a:defRPr>
                      </a:pPr>
                      <a:r>
                        <a:t>Cross-Border</a:t>
                      </a:r>
                    </a:p>
                    <a:p>
                      <a:pPr>
                        <a:defRPr sz="1000" b="1">
                          <a:solidFill>
                            <a:srgbClr val="FFFFFF"/>
                          </a:solidFill>
                          <a:latin typeface="Calibri"/>
                        </a:defRPr>
                      </a:pPr>
                      <a:r>
                        <a:t>(2-3 engineers)</a:t>
                      </a:r>
                    </a:p>
                  </a:txBody>
                  <a:tcPr anchor="ctr">
                    <a:solidFill>
                      <a:srgbClr val="003B5C"/>
                    </a:solidFill>
                  </a:tcPr>
                </a:tc>
              </a:tr>
              <a:tr h="496388">
                <a:tc>
                  <a:txBody>
                    <a:bodyPr/>
                    <a:lstStyle/>
                    <a:p>
                      <a:pPr>
                        <a:defRPr sz="1000">
                          <a:solidFill>
                            <a:srgbClr val="333333"/>
                          </a:solidFill>
                          <a:latin typeface="Calibri"/>
                        </a:defRPr>
                      </a:pPr>
                      <a:r>
                        <a:t>1</a:t>
                      </a:r>
                    </a:p>
                  </a:txBody>
                  <a:tcPr anchor="ctr">
                    <a:solidFill>
                      <a:srgbClr val="FFFFFF"/>
                    </a:solidFill>
                  </a:tcPr>
                </a:tc>
                <a:tc>
                  <a:txBody>
                    <a:bodyPr/>
                    <a:lstStyle/>
                    <a:p>
                      <a:pPr>
                        <a:defRPr sz="1000">
                          <a:solidFill>
                            <a:srgbClr val="333333"/>
                          </a:solidFill>
                          <a:latin typeface="Calibri"/>
                        </a:defRPr>
                      </a:pPr>
                      <a:r>
                        <a:t>Cash flow model</a:t>
                      </a:r>
                    </a:p>
                  </a:txBody>
                  <a:tcPr anchor="ctr">
                    <a:solidFill>
                      <a:srgbClr val="FFFFFF"/>
                    </a:solidFill>
                  </a:tcPr>
                </a:tc>
                <a:tc>
                  <a:txBody>
                    <a:bodyPr/>
                    <a:lstStyle/>
                    <a:p>
                      <a:pPr>
                        <a:defRPr sz="1000">
                          <a:solidFill>
                            <a:srgbClr val="333333"/>
                          </a:solidFill>
                          <a:latin typeface="Calibri"/>
                        </a:defRPr>
                      </a:pPr>
                      <a:r>
                        <a:t>x402 endpoint</a:t>
                      </a:r>
                    </a:p>
                  </a:txBody>
                  <a:tcPr anchor="ctr">
                    <a:solidFill>
                      <a:srgbClr val="FFFFFF"/>
                    </a:solidFill>
                  </a:tcPr>
                </a:tc>
                <a:tc>
                  <a:txBody>
                    <a:bodyPr/>
                    <a:lstStyle/>
                    <a:p>
                      <a:pPr>
                        <a:defRPr sz="1000">
                          <a:solidFill>
                            <a:srgbClr val="333333"/>
                          </a:solidFill>
                          <a:latin typeface="Calibri"/>
                        </a:defRPr>
                      </a:pPr>
                      <a:r>
                        <a:t>Inventory ingestion</a:t>
                      </a:r>
                    </a:p>
                  </a:txBody>
                  <a:tcPr anchor="ctr">
                    <a:solidFill>
                      <a:srgbClr val="FFFFFF"/>
                    </a:solidFill>
                  </a:tcPr>
                </a:tc>
                <a:tc>
                  <a:txBody>
                    <a:bodyPr/>
                    <a:lstStyle/>
                    <a:p>
                      <a:pPr>
                        <a:defRPr sz="1000">
                          <a:solidFill>
                            <a:srgbClr val="333333"/>
                          </a:solidFill>
                          <a:latin typeface="Calibri"/>
                        </a:defRPr>
                      </a:pPr>
                      <a:r>
                        <a:t>Detection engine</a:t>
                      </a:r>
                    </a:p>
                  </a:txBody>
                  <a:tcPr anchor="ctr">
                    <a:solidFill>
                      <a:srgbClr val="FFFFFF"/>
                    </a:solidFill>
                  </a:tcPr>
                </a:tc>
              </a:tr>
              <a:tr h="496388">
                <a:tc>
                  <a:txBody>
                    <a:bodyPr/>
                    <a:lstStyle/>
                    <a:p>
                      <a:pPr>
                        <a:defRPr sz="1000">
                          <a:solidFill>
                            <a:srgbClr val="333333"/>
                          </a:solidFill>
                          <a:latin typeface="Calibri"/>
                        </a:defRPr>
                      </a:pPr>
                      <a:r>
                        <a:t>2</a:t>
                      </a:r>
                    </a:p>
                  </a:txBody>
                  <a:tcPr anchor="ctr">
                    <a:solidFill>
                      <a:srgbClr val="F2F2F2"/>
                    </a:solidFill>
                  </a:tcPr>
                </a:tc>
                <a:tc>
                  <a:txBody>
                    <a:bodyPr/>
                    <a:lstStyle/>
                    <a:p>
                      <a:pPr>
                        <a:defRPr sz="1000">
                          <a:solidFill>
                            <a:srgbClr val="333333"/>
                          </a:solidFill>
                          <a:latin typeface="Calibri"/>
                        </a:defRPr>
                      </a:pPr>
                      <a:r>
                        <a:t>Finxact sweep API</a:t>
                      </a:r>
                    </a:p>
                  </a:txBody>
                  <a:tcPr anchor="ctr">
                    <a:solidFill>
                      <a:srgbClr val="F2F2F2"/>
                    </a:solidFill>
                  </a:tcPr>
                </a:tc>
                <a:tc>
                  <a:txBody>
                    <a:bodyPr/>
                    <a:lstStyle/>
                    <a:p>
                      <a:pPr>
                        <a:defRPr sz="1000">
                          <a:solidFill>
                            <a:srgbClr val="333333"/>
                          </a:solidFill>
                          <a:latin typeface="Calibri"/>
                        </a:defRPr>
                      </a:pPr>
                      <a:r>
                        <a:t>Payment verification</a:t>
                      </a:r>
                    </a:p>
                  </a:txBody>
                  <a:tcPr anchor="ctr">
                    <a:solidFill>
                      <a:srgbClr val="F2F2F2"/>
                    </a:solidFill>
                  </a:tcPr>
                </a:tc>
                <a:tc>
                  <a:txBody>
                    <a:bodyPr/>
                    <a:lstStyle/>
                    <a:p>
                      <a:pPr>
                        <a:defRPr sz="1000">
                          <a:solidFill>
                            <a:srgbClr val="333333"/>
                          </a:solidFill>
                          <a:latin typeface="Calibri"/>
                        </a:defRPr>
                      </a:pPr>
                      <a:r>
                        <a:t>AI procurement agent</a:t>
                      </a:r>
                    </a:p>
                  </a:txBody>
                  <a:tcPr anchor="ctr">
                    <a:solidFill>
                      <a:srgbClr val="F2F2F2"/>
                    </a:solidFill>
                  </a:tcPr>
                </a:tc>
                <a:tc>
                  <a:txBody>
                    <a:bodyPr/>
                    <a:lstStyle/>
                    <a:p>
                      <a:pPr>
                        <a:defRPr sz="1000">
                          <a:solidFill>
                            <a:srgbClr val="333333"/>
                          </a:solidFill>
                          <a:latin typeface="Calibri"/>
                        </a:defRPr>
                      </a:pPr>
                      <a:r>
                        <a:t>FX conversion</a:t>
                      </a:r>
                    </a:p>
                  </a:txBody>
                  <a:tcPr anchor="ctr">
                    <a:solidFill>
                      <a:srgbClr val="F2F2F2"/>
                    </a:solidFill>
                  </a:tcPr>
                </a:tc>
              </a:tr>
              <a:tr h="496388">
                <a:tc>
                  <a:txBody>
                    <a:bodyPr/>
                    <a:lstStyle/>
                    <a:p>
                      <a:pPr>
                        <a:defRPr sz="1000">
                          <a:solidFill>
                            <a:srgbClr val="333333"/>
                          </a:solidFill>
                          <a:latin typeface="Calibri"/>
                        </a:defRPr>
                      </a:pPr>
                      <a:r>
                        <a:t>3</a:t>
                      </a:r>
                    </a:p>
                  </a:txBody>
                  <a:tcPr anchor="ctr">
                    <a:solidFill>
                      <a:srgbClr val="FFFFFF"/>
                    </a:solidFill>
                  </a:tcPr>
                </a:tc>
                <a:tc>
                  <a:txBody>
                    <a:bodyPr/>
                    <a:lstStyle/>
                    <a:p>
                      <a:pPr>
                        <a:defRPr sz="1000">
                          <a:solidFill>
                            <a:srgbClr val="333333"/>
                          </a:solidFill>
                          <a:latin typeface="Calibri"/>
                        </a:defRPr>
                      </a:pPr>
                      <a:r>
                        <a:t>INDX liquidity</a:t>
                      </a:r>
                    </a:p>
                  </a:txBody>
                  <a:tcPr anchor="ctr">
                    <a:solidFill>
                      <a:srgbClr val="FFFFFF"/>
                    </a:solidFill>
                  </a:tcPr>
                </a:tc>
                <a:tc>
                  <a:txBody>
                    <a:bodyPr/>
                    <a:lstStyle/>
                    <a:p>
                      <a:pPr>
                        <a:defRPr sz="1000">
                          <a:solidFill>
                            <a:srgbClr val="333333"/>
                          </a:solidFill>
                          <a:latin typeface="Calibri"/>
                        </a:defRPr>
                      </a:pPr>
                      <a:r>
                        <a:t>Agent SDK (TS+Py)</a:t>
                      </a:r>
                    </a:p>
                  </a:txBody>
                  <a:tcPr anchor="ctr">
                    <a:solidFill>
                      <a:srgbClr val="FFFFFF"/>
                    </a:solidFill>
                  </a:tcPr>
                </a:tc>
                <a:tc>
                  <a:txBody>
                    <a:bodyPr/>
                    <a:lstStyle/>
                    <a:p>
                      <a:pPr>
                        <a:defRPr sz="1000">
                          <a:solidFill>
                            <a:srgbClr val="333333"/>
                          </a:solidFill>
                          <a:latin typeface="Calibri"/>
                        </a:defRPr>
                      </a:pPr>
                      <a:r>
                        <a:t>FIUSD B2B payment</a:t>
                      </a:r>
                    </a:p>
                  </a:txBody>
                  <a:tcPr anchor="ctr">
                    <a:solidFill>
                      <a:srgbClr val="FFFFFF"/>
                    </a:solidFill>
                  </a:tcPr>
                </a:tc>
                <a:tc>
                  <a:txBody>
                    <a:bodyPr/>
                    <a:lstStyle/>
                    <a:p>
                      <a:pPr>
                        <a:defRPr sz="1000">
                          <a:solidFill>
                            <a:srgbClr val="333333"/>
                          </a:solidFill>
                          <a:latin typeface="Calibri"/>
                        </a:defRPr>
                      </a:pPr>
                      <a:r>
                        <a:t>INDX integration</a:t>
                      </a:r>
                    </a:p>
                  </a:txBody>
                  <a:tcPr anchor="ctr">
                    <a:solidFill>
                      <a:srgbClr val="FFFFFF"/>
                    </a:solidFill>
                  </a:tcPr>
                </a:tc>
              </a:tr>
              <a:tr h="496388">
                <a:tc>
                  <a:txBody>
                    <a:bodyPr/>
                    <a:lstStyle/>
                    <a:p>
                      <a:pPr>
                        <a:defRPr sz="1000">
                          <a:solidFill>
                            <a:srgbClr val="333333"/>
                          </a:solidFill>
                          <a:latin typeface="Calibri"/>
                        </a:defRPr>
                      </a:pPr>
                      <a:r>
                        <a:t>4</a:t>
                      </a:r>
                    </a:p>
                  </a:txBody>
                  <a:tcPr anchor="ctr">
                    <a:solidFill>
                      <a:srgbClr val="F2F2F2"/>
                    </a:solidFill>
                  </a:tcPr>
                </a:tc>
                <a:tc>
                  <a:txBody>
                    <a:bodyPr/>
                    <a:lstStyle/>
                    <a:p>
                      <a:pPr>
                        <a:defRPr sz="1000">
                          <a:solidFill>
                            <a:srgbClr val="333333"/>
                          </a:solidFill>
                          <a:latin typeface="Calibri"/>
                        </a:defRPr>
                      </a:pPr>
                      <a:r>
                        <a:t>Dashboard widget</a:t>
                      </a:r>
                    </a:p>
                  </a:txBody>
                  <a:tcPr anchor="ctr">
                    <a:solidFill>
                      <a:srgbClr val="F2F2F2"/>
                    </a:solidFill>
                  </a:tcPr>
                </a:tc>
                <a:tc>
                  <a:txBody>
                    <a:bodyPr/>
                    <a:lstStyle/>
                    <a:p>
                      <a:pPr>
                        <a:defRPr sz="1000">
                          <a:solidFill>
                            <a:srgbClr val="333333"/>
                          </a:solidFill>
                          <a:latin typeface="Calibri"/>
                        </a:defRPr>
                      </a:pPr>
                      <a:r>
                        <a:t>INDX settlement</a:t>
                      </a:r>
                    </a:p>
                  </a:txBody>
                  <a:tcPr anchor="ctr">
                    <a:solidFill>
                      <a:srgbClr val="F2F2F2"/>
                    </a:solidFill>
                  </a:tcPr>
                </a:tc>
                <a:tc>
                  <a:txBody>
                    <a:bodyPr/>
                    <a:lstStyle/>
                    <a:p>
                      <a:pPr>
                        <a:defRPr sz="1000">
                          <a:solidFill>
                            <a:srgbClr val="333333"/>
                          </a:solidFill>
                          <a:latin typeface="Calibri"/>
                        </a:defRPr>
                      </a:pPr>
                      <a:r>
                        <a:t>Dashboard + tracker</a:t>
                      </a:r>
                    </a:p>
                  </a:txBody>
                  <a:tcPr anchor="ctr">
                    <a:solidFill>
                      <a:srgbClr val="F2F2F2"/>
                    </a:solidFill>
                  </a:tcPr>
                </a:tc>
                <a:tc>
                  <a:txBody>
                    <a:bodyPr/>
                    <a:lstStyle/>
                    <a:p>
                      <a:pPr>
                        <a:defRPr sz="1000">
                          <a:solidFill>
                            <a:srgbClr val="333333"/>
                          </a:solidFill>
                          <a:latin typeface="Calibri"/>
                        </a:defRPr>
                      </a:pPr>
                      <a:r>
                        <a:t>Comparison view</a:t>
                      </a:r>
                    </a:p>
                  </a:txBody>
                  <a:tcPr anchor="ctr">
                    <a:solidFill>
                      <a:srgbClr val="F2F2F2"/>
                    </a:solidFill>
                  </a:tcPr>
                </a:tc>
              </a:tr>
              <a:tr h="496388">
                <a:tc>
                  <a:txBody>
                    <a:bodyPr/>
                    <a:lstStyle/>
                    <a:p>
                      <a:pPr>
                        <a:defRPr sz="1000">
                          <a:solidFill>
                            <a:srgbClr val="333333"/>
                          </a:solidFill>
                          <a:latin typeface="Calibri"/>
                        </a:defRPr>
                      </a:pPr>
                      <a:r>
                        <a:t>5</a:t>
                      </a:r>
                    </a:p>
                  </a:txBody>
                  <a:tcPr anchor="ctr">
                    <a:solidFill>
                      <a:srgbClr val="FFFFFF"/>
                    </a:solidFill>
                  </a:tcPr>
                </a:tc>
                <a:tc>
                  <a:txBody>
                    <a:bodyPr/>
                    <a:lstStyle/>
                    <a:p>
                      <a:pPr>
                        <a:defRPr sz="1000">
                          <a:solidFill>
                            <a:srgbClr val="333333"/>
                          </a:solidFill>
                          <a:latin typeface="Calibri"/>
                        </a:defRPr>
                      </a:pPr>
                      <a:r>
                        <a:t>Demo polish</a:t>
                      </a:r>
                    </a:p>
                  </a:txBody>
                  <a:tcPr anchor="ctr">
                    <a:solidFill>
                      <a:srgbClr val="FFFFFF"/>
                    </a:solidFill>
                  </a:tcPr>
                </a:tc>
                <a:tc>
                  <a:txBody>
                    <a:bodyPr/>
                    <a:lstStyle/>
                    <a:p>
                      <a:pPr>
                        <a:defRPr sz="1000">
                          <a:solidFill>
                            <a:srgbClr val="333333"/>
                          </a:solidFill>
                          <a:latin typeface="Calibri"/>
                        </a:defRPr>
                      </a:pPr>
                      <a:r>
                        <a:t>Demo agent + dash</a:t>
                      </a:r>
                    </a:p>
                  </a:txBody>
                  <a:tcPr anchor="ctr">
                    <a:solidFill>
                      <a:srgbClr val="FFFFFF"/>
                    </a:solidFill>
                  </a:tcPr>
                </a:tc>
                <a:tc>
                  <a:txBody>
                    <a:bodyPr/>
                    <a:lstStyle/>
                    <a:p>
                      <a:pPr>
                        <a:defRPr sz="1000">
                          <a:solidFill>
                            <a:srgbClr val="333333"/>
                          </a:solidFill>
                          <a:latin typeface="Calibri"/>
                        </a:defRPr>
                      </a:pPr>
                      <a:r>
                        <a:t>Demo polish</a:t>
                      </a:r>
                    </a:p>
                  </a:txBody>
                  <a:tcPr anchor="ctr">
                    <a:solidFill>
                      <a:srgbClr val="FFFFFF"/>
                    </a:solidFill>
                  </a:tcPr>
                </a:tc>
                <a:tc>
                  <a:txBody>
                    <a:bodyPr/>
                    <a:lstStyle/>
                    <a:p>
                      <a:pPr>
                        <a:defRPr sz="1000">
                          <a:solidFill>
                            <a:srgbClr val="333333"/>
                          </a:solidFill>
                          <a:latin typeface="Calibri"/>
                        </a:defRPr>
                      </a:pPr>
                      <a:r>
                        <a:t>Demo polish</a:t>
                      </a:r>
                    </a:p>
                  </a:txBody>
                  <a:tcPr anchor="ctr">
                    <a:solidFill>
                      <a:srgbClr val="FFFFFF"/>
                    </a:solidFill>
                  </a:tcPr>
                </a:tc>
              </a:tr>
              <a:tr h="496392">
                <a:tc>
                  <a:txBody>
                    <a:bodyPr/>
                    <a:lstStyle/>
                    <a:p>
                      <a:pPr>
                        <a:defRPr sz="1000">
                          <a:solidFill>
                            <a:srgbClr val="333333"/>
                          </a:solidFill>
                          <a:latin typeface="Calibri"/>
                        </a:defRPr>
                      </a:pPr>
                      <a:r>
                        <a:t>6-7</a:t>
                      </a:r>
                    </a:p>
                  </a:txBody>
                  <a:tcPr anchor="ctr">
                    <a:solidFill>
                      <a:srgbClr val="F2F2F2"/>
                    </a:solidFill>
                  </a:tcPr>
                </a:tc>
                <a:tc>
                  <a:txBody>
                    <a:bodyPr/>
                    <a:lstStyle/>
                    <a:p>
                      <a:pPr>
                        <a:defRPr sz="1000">
                          <a:solidFill>
                            <a:srgbClr val="333333"/>
                          </a:solidFill>
                          <a:latin typeface="Calibri"/>
                        </a:defRPr>
                      </a:pPr>
                      <a:r>
                        <a:t>Buffer + rehearsal</a:t>
                      </a:r>
                    </a:p>
                  </a:txBody>
                  <a:tcPr anchor="ctr">
                    <a:solidFill>
                      <a:srgbClr val="F2F2F2"/>
                    </a:solidFill>
                  </a:tcPr>
                </a:tc>
                <a:tc>
                  <a:txBody>
                    <a:bodyPr/>
                    <a:lstStyle/>
                    <a:p>
                      <a:pPr>
                        <a:defRPr sz="1000">
                          <a:solidFill>
                            <a:srgbClr val="333333"/>
                          </a:solidFill>
                          <a:latin typeface="Calibri"/>
                        </a:defRPr>
                      </a:pPr>
                      <a:r>
                        <a:t>Buffer + rehearsal</a:t>
                      </a:r>
                    </a:p>
                  </a:txBody>
                  <a:tcPr anchor="ctr">
                    <a:solidFill>
                      <a:srgbClr val="F2F2F2"/>
                    </a:solidFill>
                  </a:tcPr>
                </a:tc>
                <a:tc>
                  <a:txBody>
                    <a:bodyPr/>
                    <a:lstStyle/>
                    <a:p>
                      <a:pPr>
                        <a:defRPr sz="1000">
                          <a:solidFill>
                            <a:srgbClr val="333333"/>
                          </a:solidFill>
                          <a:latin typeface="Calibri"/>
                        </a:defRPr>
                      </a:pPr>
                      <a:r>
                        <a:t>Buffer + rehearsal</a:t>
                      </a:r>
                    </a:p>
                  </a:txBody>
                  <a:tcPr anchor="ctr">
                    <a:solidFill>
                      <a:srgbClr val="F2F2F2"/>
                    </a:solidFill>
                  </a:tcPr>
                </a:tc>
                <a:tc>
                  <a:txBody>
                    <a:bodyPr/>
                    <a:lstStyle/>
                    <a:p>
                      <a:pPr>
                        <a:defRPr sz="1000">
                          <a:solidFill>
                            <a:srgbClr val="333333"/>
                          </a:solidFill>
                          <a:latin typeface="Calibri"/>
                        </a:defRPr>
                      </a:pPr>
                      <a:r>
                        <a:t>Buffer + rehearsal</a:t>
                      </a:r>
                    </a:p>
                  </a:txBody>
                  <a:tcPr anchor="ctr">
                    <a:solidFill>
                      <a:srgbClr val="F2F2F2"/>
                    </a:solidFill>
                  </a:tcPr>
                </a:tc>
              </a:tr>
            </a:tbl>
          </a:graphicData>
        </a:graphic>
      </p:graphicFrame>
      <p:sp>
        <p:nvSpPr>
          <p:cNvPr id="6" name="TextBox 5"/>
          <p:cNvSpPr txBox="1"/>
          <p:nvPr/>
        </p:nvSpPr>
        <p:spPr>
          <a:xfrm>
            <a:off x="731520" y="5120640"/>
            <a:ext cx="5029200" cy="365760"/>
          </a:xfrm>
          <a:prstGeom prst="rect">
            <a:avLst/>
          </a:prstGeom>
          <a:noFill/>
        </p:spPr>
        <p:txBody>
          <a:bodyPr wrap="square">
            <a:spAutoFit/>
          </a:bodyPr>
          <a:lstStyle/>
          <a:p>
            <a:pPr algn="l">
              <a:defRPr sz="1600" b="1">
                <a:solidFill>
                  <a:srgbClr val="003B5C"/>
                </a:solidFill>
                <a:latin typeface="Calibri"/>
              </a:defRPr>
            </a:pPr>
            <a:r>
              <a:t>MVP Scope Cuts for Timeline</a:t>
            </a:r>
          </a:p>
        </p:txBody>
      </p:sp>
      <p:sp>
        <p:nvSpPr>
          <p:cNvPr id="7" name="TextBox 6"/>
          <p:cNvSpPr txBox="1"/>
          <p:nvPr/>
        </p:nvSpPr>
        <p:spPr>
          <a:xfrm>
            <a:off x="914400" y="5577840"/>
            <a:ext cx="4846320" cy="274320"/>
          </a:xfrm>
          <a:prstGeom prst="rect">
            <a:avLst/>
          </a:prstGeom>
          <a:noFill/>
        </p:spPr>
        <p:txBody>
          <a:bodyPr wrap="square">
            <a:spAutoFit/>
          </a:bodyPr>
          <a:lstStyle/>
          <a:p>
            <a:pPr algn="l">
              <a:defRPr sz="1100" b="0">
                <a:solidFill>
                  <a:srgbClr val="333333"/>
                </a:solidFill>
                <a:latin typeface="Calibri"/>
              </a:defRPr>
            </a:pPr>
            <a:r>
              <a:t>Yield Sweep: Simple rule-based (not ML) prediction</a:t>
            </a:r>
          </a:p>
        </p:txBody>
      </p:sp>
      <p:sp>
        <p:nvSpPr>
          <p:cNvPr id="8" name="TextBox 7"/>
          <p:cNvSpPr txBox="1"/>
          <p:nvPr/>
        </p:nvSpPr>
        <p:spPr>
          <a:xfrm>
            <a:off x="914400" y="5870448"/>
            <a:ext cx="4846320" cy="274320"/>
          </a:xfrm>
          <a:prstGeom prst="rect">
            <a:avLst/>
          </a:prstGeom>
          <a:noFill/>
        </p:spPr>
        <p:txBody>
          <a:bodyPr wrap="square">
            <a:spAutoFit/>
          </a:bodyPr>
          <a:lstStyle/>
          <a:p>
            <a:pPr algn="l">
              <a:defRPr sz="1100" b="0">
                <a:solidFill>
                  <a:srgbClr val="333333"/>
                </a:solidFill>
                <a:latin typeface="Calibri"/>
              </a:defRPr>
            </a:pPr>
            <a:r>
              <a:t>Pay-by-Agent: FIUSD on Solana only, x402 only</a:t>
            </a:r>
          </a:p>
        </p:txBody>
      </p:sp>
      <p:sp>
        <p:nvSpPr>
          <p:cNvPr id="9" name="TextBox 8"/>
          <p:cNvSpPr txBox="1"/>
          <p:nvPr/>
        </p:nvSpPr>
        <p:spPr>
          <a:xfrm>
            <a:off x="914400" y="6163055"/>
            <a:ext cx="4846320" cy="274320"/>
          </a:xfrm>
          <a:prstGeom prst="rect">
            <a:avLst/>
          </a:prstGeom>
          <a:noFill/>
        </p:spPr>
        <p:txBody>
          <a:bodyPr wrap="square">
            <a:spAutoFit/>
          </a:bodyPr>
          <a:lstStyle/>
          <a:p>
            <a:pPr algn="l">
              <a:defRPr sz="1100" b="0">
                <a:solidFill>
                  <a:srgbClr val="333333"/>
                </a:solidFill>
                <a:latin typeface="Calibri"/>
              </a:defRPr>
            </a:pPr>
            <a:r>
              <a:t>Supplier Pay: Single restaurant + single distributor</a:t>
            </a:r>
          </a:p>
        </p:txBody>
      </p:sp>
      <p:sp>
        <p:nvSpPr>
          <p:cNvPr id="10" name="TextBox 9"/>
          <p:cNvSpPr txBox="1"/>
          <p:nvPr/>
        </p:nvSpPr>
        <p:spPr>
          <a:xfrm>
            <a:off x="914400" y="6455664"/>
            <a:ext cx="4846320" cy="274320"/>
          </a:xfrm>
          <a:prstGeom prst="rect">
            <a:avLst/>
          </a:prstGeom>
          <a:noFill/>
        </p:spPr>
        <p:txBody>
          <a:bodyPr wrap="square">
            <a:spAutoFit/>
          </a:bodyPr>
          <a:lstStyle/>
          <a:p>
            <a:pPr algn="l">
              <a:defRPr sz="1100" b="0">
                <a:solidFill>
                  <a:srgbClr val="333333"/>
                </a:solidFill>
                <a:latin typeface="Calibri"/>
              </a:defRPr>
            </a:pPr>
            <a:r>
              <a:t>Cross-Border: Single corridor (MXN -&gt; USD)</a:t>
            </a:r>
          </a:p>
        </p:txBody>
      </p:sp>
      <p:sp>
        <p:nvSpPr>
          <p:cNvPr id="11" name="TextBox 10"/>
          <p:cNvSpPr txBox="1"/>
          <p:nvPr/>
        </p:nvSpPr>
        <p:spPr>
          <a:xfrm>
            <a:off x="6400800" y="5120640"/>
            <a:ext cx="5029200" cy="365760"/>
          </a:xfrm>
          <a:prstGeom prst="rect">
            <a:avLst/>
          </a:prstGeom>
          <a:noFill/>
        </p:spPr>
        <p:txBody>
          <a:bodyPr wrap="square">
            <a:spAutoFit/>
          </a:bodyPr>
          <a:lstStyle/>
          <a:p>
            <a:pPr algn="l">
              <a:defRPr sz="1600" b="1">
                <a:solidFill>
                  <a:srgbClr val="003B5C"/>
                </a:solidFill>
                <a:latin typeface="Calibri"/>
              </a:defRPr>
            </a:pPr>
            <a:r>
              <a:t>Investor Day Flow (10 min)</a:t>
            </a:r>
          </a:p>
        </p:txBody>
      </p:sp>
      <p:sp>
        <p:nvSpPr>
          <p:cNvPr id="12" name="TextBox 11"/>
          <p:cNvSpPr txBox="1"/>
          <p:nvPr/>
        </p:nvSpPr>
        <p:spPr>
          <a:xfrm>
            <a:off x="6583680" y="5577840"/>
            <a:ext cx="4846320" cy="256032"/>
          </a:xfrm>
          <a:prstGeom prst="rect">
            <a:avLst/>
          </a:prstGeom>
          <a:noFill/>
        </p:spPr>
        <p:txBody>
          <a:bodyPr wrap="square">
            <a:spAutoFit/>
          </a:bodyPr>
          <a:lstStyle/>
          <a:p>
            <a:pPr algn="l">
              <a:defRPr sz="1000" b="0">
                <a:solidFill>
                  <a:srgbClr val="333333"/>
                </a:solidFill>
                <a:latin typeface="Calibri"/>
              </a:defRPr>
            </a:pPr>
            <a:r>
              <a:t>(1 min) The Opportunity -- $2-4T market</a:t>
            </a:r>
          </a:p>
        </p:txBody>
      </p:sp>
      <p:sp>
        <p:nvSpPr>
          <p:cNvPr id="13" name="TextBox 12"/>
          <p:cNvSpPr txBox="1"/>
          <p:nvPr/>
        </p:nvSpPr>
        <p:spPr>
          <a:xfrm>
            <a:off x="6583680" y="5833872"/>
            <a:ext cx="4846320" cy="256032"/>
          </a:xfrm>
          <a:prstGeom prst="rect">
            <a:avLst/>
          </a:prstGeom>
          <a:noFill/>
        </p:spPr>
        <p:txBody>
          <a:bodyPr wrap="square">
            <a:spAutoFit/>
          </a:bodyPr>
          <a:lstStyle/>
          <a:p>
            <a:pPr algn="l">
              <a:defRPr sz="1000" b="0">
                <a:solidFill>
                  <a:srgbClr val="333333"/>
                </a:solidFill>
                <a:latin typeface="Calibri"/>
              </a:defRPr>
            </a:pPr>
            <a:r>
              <a:t>(1 min) Our Unique Position -- stack diagram</a:t>
            </a:r>
          </a:p>
        </p:txBody>
      </p:sp>
      <p:sp>
        <p:nvSpPr>
          <p:cNvPr id="14" name="TextBox 13"/>
          <p:cNvSpPr txBox="1"/>
          <p:nvPr/>
        </p:nvSpPr>
        <p:spPr>
          <a:xfrm>
            <a:off x="6583680" y="6089904"/>
            <a:ext cx="4846320" cy="256032"/>
          </a:xfrm>
          <a:prstGeom prst="rect">
            <a:avLst/>
          </a:prstGeom>
          <a:noFill/>
        </p:spPr>
        <p:txBody>
          <a:bodyPr wrap="square">
            <a:spAutoFit/>
          </a:bodyPr>
          <a:lstStyle/>
          <a:p>
            <a:pPr algn="l">
              <a:defRPr sz="1000" b="0">
                <a:solidFill>
                  <a:srgbClr val="333333"/>
                </a:solidFill>
                <a:latin typeface="Calibri"/>
              </a:defRPr>
            </a:pPr>
            <a:r>
              <a:t>(2 min) Live Demo: Yield Sweep</a:t>
            </a:r>
          </a:p>
        </p:txBody>
      </p:sp>
      <p:sp>
        <p:nvSpPr>
          <p:cNvPr id="15" name="TextBox 14"/>
          <p:cNvSpPr txBox="1"/>
          <p:nvPr/>
        </p:nvSpPr>
        <p:spPr>
          <a:xfrm>
            <a:off x="6583680" y="6345936"/>
            <a:ext cx="4846320" cy="256032"/>
          </a:xfrm>
          <a:prstGeom prst="rect">
            <a:avLst/>
          </a:prstGeom>
          <a:noFill/>
        </p:spPr>
        <p:txBody>
          <a:bodyPr wrap="square">
            <a:spAutoFit/>
          </a:bodyPr>
          <a:lstStyle/>
          <a:p>
            <a:pPr algn="l">
              <a:defRPr sz="1000" b="0">
                <a:solidFill>
                  <a:srgbClr val="333333"/>
                </a:solidFill>
                <a:latin typeface="Calibri"/>
              </a:defRPr>
            </a:pPr>
            <a:r>
              <a:t>(2 min) Live Demo: Pay-by-Agent</a:t>
            </a:r>
          </a:p>
        </p:txBody>
      </p:sp>
      <p:sp>
        <p:nvSpPr>
          <p:cNvPr id="16" name="TextBox 15"/>
          <p:cNvSpPr txBox="1"/>
          <p:nvPr/>
        </p:nvSpPr>
        <p:spPr>
          <a:xfrm>
            <a:off x="6583680" y="6601968"/>
            <a:ext cx="4846320" cy="256032"/>
          </a:xfrm>
          <a:prstGeom prst="rect">
            <a:avLst/>
          </a:prstGeom>
          <a:noFill/>
        </p:spPr>
        <p:txBody>
          <a:bodyPr wrap="square">
            <a:spAutoFit/>
          </a:bodyPr>
          <a:lstStyle/>
          <a:p>
            <a:pPr algn="l">
              <a:defRPr sz="1000" b="0">
                <a:solidFill>
                  <a:srgbClr val="333333"/>
                </a:solidFill>
                <a:latin typeface="Calibri"/>
              </a:defRPr>
            </a:pPr>
            <a:r>
              <a:t>(2 min) Live Demo: Supplier Pay + Cross-Border</a:t>
            </a:r>
          </a:p>
        </p:txBody>
      </p:sp>
      <p:sp>
        <p:nvSpPr>
          <p:cNvPr id="17" name="TextBox 16"/>
          <p:cNvSpPr txBox="1"/>
          <p:nvPr/>
        </p:nvSpPr>
        <p:spPr>
          <a:xfrm>
            <a:off x="6583680" y="6858000"/>
            <a:ext cx="4846320" cy="256032"/>
          </a:xfrm>
          <a:prstGeom prst="rect">
            <a:avLst/>
          </a:prstGeom>
          <a:noFill/>
        </p:spPr>
        <p:txBody>
          <a:bodyPr wrap="square">
            <a:spAutoFit/>
          </a:bodyPr>
          <a:lstStyle/>
          <a:p>
            <a:pPr algn="l">
              <a:defRPr sz="1000" b="0">
                <a:solidFill>
                  <a:srgbClr val="333333"/>
                </a:solidFill>
                <a:latin typeface="Calibri"/>
              </a:defRPr>
            </a:pPr>
            <a:r>
              <a:t>(1 min) Architecture + Ask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3B5C"/>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058400" cy="731520"/>
          </a:xfrm>
          <a:prstGeom prst="rect">
            <a:avLst/>
          </a:prstGeom>
          <a:noFill/>
        </p:spPr>
        <p:txBody>
          <a:bodyPr wrap="square">
            <a:spAutoFit/>
          </a:bodyPr>
          <a:lstStyle/>
          <a:p>
            <a:pPr algn="ctr">
              <a:defRPr sz="4400" b="1">
                <a:solidFill>
                  <a:srgbClr val="FFFFFF"/>
                </a:solidFill>
                <a:latin typeface="Calibri"/>
              </a:defRPr>
            </a:pPr>
            <a:r>
              <a:t>The Ask</a:t>
            </a:r>
          </a:p>
        </p:txBody>
      </p:sp>
      <p:sp>
        <p:nvSpPr>
          <p:cNvPr id="4" name="Oval 3"/>
          <p:cNvSpPr/>
          <p:nvPr/>
        </p:nvSpPr>
        <p:spPr>
          <a:xfrm>
            <a:off x="1371600" y="1463040"/>
            <a:ext cx="548640" cy="54864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1508760"/>
            <a:ext cx="548640" cy="457200"/>
          </a:xfrm>
          <a:prstGeom prst="rect">
            <a:avLst/>
          </a:prstGeom>
          <a:noFill/>
        </p:spPr>
        <p:txBody>
          <a:bodyPr wrap="square">
            <a:spAutoFit/>
          </a:bodyPr>
          <a:lstStyle/>
          <a:p>
            <a:pPr algn="ctr">
              <a:defRPr sz="2200" b="1">
                <a:solidFill>
                  <a:srgbClr val="FFFFFF"/>
                </a:solidFill>
                <a:latin typeface="Calibri"/>
              </a:defRPr>
            </a:pPr>
            <a:r>
              <a:t>1</a:t>
            </a:r>
          </a:p>
        </p:txBody>
      </p:sp>
      <p:sp>
        <p:nvSpPr>
          <p:cNvPr id="6" name="TextBox 5"/>
          <p:cNvSpPr txBox="1"/>
          <p:nvPr/>
        </p:nvSpPr>
        <p:spPr>
          <a:xfrm>
            <a:off x="2286000" y="1481328"/>
            <a:ext cx="8229600" cy="365760"/>
          </a:xfrm>
          <a:prstGeom prst="rect">
            <a:avLst/>
          </a:prstGeom>
          <a:noFill/>
        </p:spPr>
        <p:txBody>
          <a:bodyPr wrap="square">
            <a:spAutoFit/>
          </a:bodyPr>
          <a:lstStyle/>
          <a:p>
            <a:pPr algn="l">
              <a:defRPr sz="2200" b="1">
                <a:solidFill>
                  <a:srgbClr val="FF6600"/>
                </a:solidFill>
                <a:latin typeface="Calibri"/>
              </a:defRPr>
            </a:pPr>
            <a:r>
              <a:t>Executive Sponsor</a:t>
            </a:r>
          </a:p>
        </p:txBody>
      </p:sp>
      <p:sp>
        <p:nvSpPr>
          <p:cNvPr id="7" name="TextBox 6"/>
          <p:cNvSpPr txBox="1"/>
          <p:nvPr/>
        </p:nvSpPr>
        <p:spPr>
          <a:xfrm>
            <a:off x="2286000" y="1874520"/>
            <a:ext cx="8229600" cy="457200"/>
          </a:xfrm>
          <a:prstGeom prst="rect">
            <a:avLst/>
          </a:prstGeom>
          <a:noFill/>
        </p:spPr>
        <p:txBody>
          <a:bodyPr wrap="square">
            <a:spAutoFit/>
          </a:bodyPr>
          <a:lstStyle/>
          <a:p>
            <a:pPr algn="l">
              <a:defRPr sz="1400" b="0">
                <a:solidFill>
                  <a:srgbClr val="FFFFFF"/>
                </a:solidFill>
                <a:latin typeface="Calibri"/>
              </a:defRPr>
            </a:pPr>
            <a:r>
              <a:t>C-suite leader to own the cross-BU outcome across CommerceHub, Finxact, INDX, and Clover</a:t>
            </a:r>
          </a:p>
        </p:txBody>
      </p:sp>
      <p:sp>
        <p:nvSpPr>
          <p:cNvPr id="8" name="Oval 7"/>
          <p:cNvSpPr/>
          <p:nvPr/>
        </p:nvSpPr>
        <p:spPr>
          <a:xfrm>
            <a:off x="1371600" y="2651760"/>
            <a:ext cx="548640" cy="54864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2697480"/>
            <a:ext cx="548640" cy="457200"/>
          </a:xfrm>
          <a:prstGeom prst="rect">
            <a:avLst/>
          </a:prstGeom>
          <a:noFill/>
        </p:spPr>
        <p:txBody>
          <a:bodyPr wrap="square">
            <a:spAutoFit/>
          </a:bodyPr>
          <a:lstStyle/>
          <a:p>
            <a:pPr algn="ctr">
              <a:defRPr sz="2200" b="1">
                <a:solidFill>
                  <a:srgbClr val="FFFFFF"/>
                </a:solidFill>
                <a:latin typeface="Calibri"/>
              </a:defRPr>
            </a:pPr>
            <a:r>
              <a:t>2</a:t>
            </a:r>
          </a:p>
        </p:txBody>
      </p:sp>
      <p:sp>
        <p:nvSpPr>
          <p:cNvPr id="10" name="TextBox 9"/>
          <p:cNvSpPr txBox="1"/>
          <p:nvPr/>
        </p:nvSpPr>
        <p:spPr>
          <a:xfrm>
            <a:off x="2286000" y="2670048"/>
            <a:ext cx="8229600" cy="365760"/>
          </a:xfrm>
          <a:prstGeom prst="rect">
            <a:avLst/>
          </a:prstGeom>
          <a:noFill/>
        </p:spPr>
        <p:txBody>
          <a:bodyPr wrap="square">
            <a:spAutoFit/>
          </a:bodyPr>
          <a:lstStyle/>
          <a:p>
            <a:pPr algn="l">
              <a:defRPr sz="2200" b="1">
                <a:solidFill>
                  <a:srgbClr val="FF6600"/>
                </a:solidFill>
                <a:latin typeface="Calibri"/>
              </a:defRPr>
            </a:pPr>
            <a:r>
              <a:t>Cross-BU Task Force</a:t>
            </a:r>
          </a:p>
        </p:txBody>
      </p:sp>
      <p:sp>
        <p:nvSpPr>
          <p:cNvPr id="11" name="TextBox 10"/>
          <p:cNvSpPr txBox="1"/>
          <p:nvPr/>
        </p:nvSpPr>
        <p:spPr>
          <a:xfrm>
            <a:off x="2286000" y="3063240"/>
            <a:ext cx="8229600" cy="457200"/>
          </a:xfrm>
          <a:prstGeom prst="rect">
            <a:avLst/>
          </a:prstGeom>
          <a:noFill/>
        </p:spPr>
        <p:txBody>
          <a:bodyPr wrap="square">
            <a:spAutoFit/>
          </a:bodyPr>
          <a:lstStyle/>
          <a:p>
            <a:pPr algn="l">
              <a:defRPr sz="1400" b="0">
                <a:solidFill>
                  <a:srgbClr val="FFFFFF"/>
                </a:solidFill>
                <a:latin typeface="Calibri"/>
              </a:defRPr>
            </a:pPr>
            <a:r>
              <a:t>Dedicated team with P&amp;L authority and representation from each business unit. 18-month mandate</a:t>
            </a:r>
          </a:p>
        </p:txBody>
      </p:sp>
      <p:sp>
        <p:nvSpPr>
          <p:cNvPr id="12" name="Oval 11"/>
          <p:cNvSpPr/>
          <p:nvPr/>
        </p:nvSpPr>
        <p:spPr>
          <a:xfrm>
            <a:off x="1371600" y="3840480"/>
            <a:ext cx="548640" cy="54864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0" y="3886200"/>
            <a:ext cx="548640" cy="457200"/>
          </a:xfrm>
          <a:prstGeom prst="rect">
            <a:avLst/>
          </a:prstGeom>
          <a:noFill/>
        </p:spPr>
        <p:txBody>
          <a:bodyPr wrap="square">
            <a:spAutoFit/>
          </a:bodyPr>
          <a:lstStyle/>
          <a:p>
            <a:pPr algn="ctr">
              <a:defRPr sz="2200" b="1">
                <a:solidFill>
                  <a:srgbClr val="FFFFFF"/>
                </a:solidFill>
                <a:latin typeface="Calibri"/>
              </a:defRPr>
            </a:pPr>
            <a:r>
              <a:t>3</a:t>
            </a:r>
          </a:p>
        </p:txBody>
      </p:sp>
      <p:sp>
        <p:nvSpPr>
          <p:cNvPr id="14" name="TextBox 13"/>
          <p:cNvSpPr txBox="1"/>
          <p:nvPr/>
        </p:nvSpPr>
        <p:spPr>
          <a:xfrm>
            <a:off x="2286000" y="3858768"/>
            <a:ext cx="8229600" cy="365760"/>
          </a:xfrm>
          <a:prstGeom prst="rect">
            <a:avLst/>
          </a:prstGeom>
          <a:noFill/>
        </p:spPr>
        <p:txBody>
          <a:bodyPr wrap="square">
            <a:spAutoFit/>
          </a:bodyPr>
          <a:lstStyle/>
          <a:p>
            <a:pPr algn="l">
              <a:defRPr sz="2200" b="1">
                <a:solidFill>
                  <a:srgbClr val="FF6600"/>
                </a:solidFill>
                <a:latin typeface="Calibri"/>
              </a:defRPr>
            </a:pPr>
            <a:r>
              <a:t>Commercial Discussions</a:t>
            </a:r>
          </a:p>
        </p:txBody>
      </p:sp>
      <p:sp>
        <p:nvSpPr>
          <p:cNvPr id="15" name="TextBox 14"/>
          <p:cNvSpPr txBox="1"/>
          <p:nvPr/>
        </p:nvSpPr>
        <p:spPr>
          <a:xfrm>
            <a:off x="2286000" y="4251960"/>
            <a:ext cx="8229600" cy="457200"/>
          </a:xfrm>
          <a:prstGeom prst="rect">
            <a:avLst/>
          </a:prstGeom>
          <a:noFill/>
        </p:spPr>
        <p:txBody>
          <a:bodyPr wrap="square">
            <a:spAutoFit/>
          </a:bodyPr>
          <a:lstStyle/>
          <a:p>
            <a:pPr algn="l">
              <a:defRPr sz="1400" b="0">
                <a:solidFill>
                  <a:srgbClr val="FFFFFF"/>
                </a:solidFill>
                <a:latin typeface="Calibri"/>
              </a:defRPr>
            </a:pPr>
            <a:r>
              <a:t>Authorization to proceed with Coinbase and Mesh provider evaluations and commercial terms</a:t>
            </a:r>
          </a:p>
        </p:txBody>
      </p:sp>
      <p:sp>
        <p:nvSpPr>
          <p:cNvPr id="16" name="Oval 15"/>
          <p:cNvSpPr/>
          <p:nvPr/>
        </p:nvSpPr>
        <p:spPr>
          <a:xfrm>
            <a:off x="1371600" y="5029200"/>
            <a:ext cx="548640" cy="548640"/>
          </a:xfrm>
          <a:prstGeom prst="ellipse">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71600" y="5074920"/>
            <a:ext cx="548640" cy="457200"/>
          </a:xfrm>
          <a:prstGeom prst="rect">
            <a:avLst/>
          </a:prstGeom>
          <a:noFill/>
        </p:spPr>
        <p:txBody>
          <a:bodyPr wrap="square">
            <a:spAutoFit/>
          </a:bodyPr>
          <a:lstStyle/>
          <a:p>
            <a:pPr algn="ctr">
              <a:defRPr sz="2200" b="1">
                <a:solidFill>
                  <a:srgbClr val="FFFFFF"/>
                </a:solidFill>
                <a:latin typeface="Calibri"/>
              </a:defRPr>
            </a:pPr>
            <a:r>
              <a:t>4</a:t>
            </a:r>
          </a:p>
        </p:txBody>
      </p:sp>
      <p:sp>
        <p:nvSpPr>
          <p:cNvPr id="18" name="TextBox 17"/>
          <p:cNvSpPr txBox="1"/>
          <p:nvPr/>
        </p:nvSpPr>
        <p:spPr>
          <a:xfrm>
            <a:off x="2286000" y="5047488"/>
            <a:ext cx="8229600" cy="365760"/>
          </a:xfrm>
          <a:prstGeom prst="rect">
            <a:avLst/>
          </a:prstGeom>
          <a:noFill/>
        </p:spPr>
        <p:txBody>
          <a:bodyPr wrap="square">
            <a:spAutoFit/>
          </a:bodyPr>
          <a:lstStyle/>
          <a:p>
            <a:pPr algn="l">
              <a:defRPr sz="2200" b="1">
                <a:solidFill>
                  <a:srgbClr val="FF6600"/>
                </a:solidFill>
                <a:latin typeface="Calibri"/>
              </a:defRPr>
            </a:pPr>
            <a:r>
              <a:t>Engineering Allocation</a:t>
            </a:r>
          </a:p>
        </p:txBody>
      </p:sp>
      <p:sp>
        <p:nvSpPr>
          <p:cNvPr id="19" name="TextBox 18"/>
          <p:cNvSpPr txBox="1"/>
          <p:nvPr/>
        </p:nvSpPr>
        <p:spPr>
          <a:xfrm>
            <a:off x="2286000" y="5440680"/>
            <a:ext cx="8229600" cy="457200"/>
          </a:xfrm>
          <a:prstGeom prst="rect">
            <a:avLst/>
          </a:prstGeom>
          <a:noFill/>
        </p:spPr>
        <p:txBody>
          <a:bodyPr wrap="square">
            <a:spAutoFit/>
          </a:bodyPr>
          <a:lstStyle/>
          <a:p>
            <a:pPr algn="l">
              <a:defRPr sz="1400" b="0">
                <a:solidFill>
                  <a:srgbClr val="FFFFFF"/>
                </a:solidFill>
                <a:latin typeface="Calibri"/>
              </a:defRPr>
            </a:pPr>
            <a:r>
              <a:t>10-13 dedicated engineers for 4 parallel prototype tracks through Investor Day and beyond</a:t>
            </a:r>
          </a:p>
        </p:txBody>
      </p:sp>
      <p:sp>
        <p:nvSpPr>
          <p:cNvPr id="20" name="Rectangle 19"/>
          <p:cNvSpPr/>
          <p:nvPr/>
        </p:nvSpPr>
        <p:spPr>
          <a:xfrm>
            <a:off x="0" y="5760720"/>
            <a:ext cx="12191695" cy="1097280"/>
          </a:xfrm>
          <a:prstGeom prst="rect">
            <a:avLst/>
          </a:prstGeom>
          <a:solidFill>
            <a:srgbClr val="002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71600" y="5897880"/>
            <a:ext cx="9418320" cy="731520"/>
          </a:xfrm>
          <a:prstGeom prst="rect">
            <a:avLst/>
          </a:prstGeom>
          <a:noFill/>
        </p:spPr>
        <p:txBody>
          <a:bodyPr wrap="square">
            <a:spAutoFit/>
          </a:bodyPr>
          <a:lstStyle/>
          <a:p>
            <a:pPr algn="ctr">
              <a:defRPr sz="1600" b="0">
                <a:solidFill>
                  <a:srgbClr val="FF6600"/>
                </a:solidFill>
                <a:latin typeface="Calibri"/>
              </a:defRPr>
            </a:pPr>
            <a:r>
              <a:t>"We are not just adding a payment method. We are building the infrastructure</a:t>
            </a:r>
            <a:br/>
            <a:r>
              <a:t>for the next era of commerce."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