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90"/>
  </p:normalViewPr>
  <p:slideViewPr>
    <p:cSldViewPr snapToGrid="0" snapToObjects="1">
      <p:cViewPr varScale="1">
        <p:scale>
          <a:sx n="119" d="100"/>
          <a:sy n="119" d="100"/>
        </p:scale>
        <p:origin x="50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Fiserv Digital 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600"/>
                </a:solidFill>
                <a:latin typeface="Calibri"/>
              </a:defRPr>
            </a:pPr>
            <a:r>
              <a:t>Crypto &amp; Stablecoin Acceptance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CommerceHub  |  Finxact  |  FIUSD  |  INDX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B9B9B"/>
                </a:solidFill>
                <a:latin typeface="Calibri"/>
              </a:defRPr>
            </a:pPr>
            <a:r>
              <a:t>May 2026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309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B9B9B"/>
                </a:solidFill>
                <a:latin typeface="Calibri"/>
              </a:defRPr>
            </a:pPr>
            <a:r>
              <a:t>Investor Day Strategy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3B5C"/>
                </a:solidFill>
                <a:latin typeface="Calibri"/>
              </a:defRPr>
            </a:pPr>
            <a:r>
              <a:t>$2-4T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Stablecoin market</a:t>
            </a:r>
            <a:br/>
            <a:r>
              <a:t>by 2030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6600"/>
                </a:solidFill>
                <a:latin typeface="Calibri"/>
              </a:defRPr>
            </a:pPr>
            <a:r>
              <a:t>&lt;1%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Transaction cost</a:t>
            </a:r>
            <a:br/>
            <a:r>
              <a:t>vs 2-3% interchange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8090"/>
                </a:solidFill>
                <a:latin typeface="Calibri"/>
              </a:defRPr>
            </a:pPr>
            <a:r>
              <a:t>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Merchant locations</a:t>
            </a:r>
            <a:br/>
            <a:r>
              <a:t>ready for activation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2E7D32"/>
                </a:solidFill>
                <a:latin typeface="Calibri"/>
              </a:defRPr>
            </a:pPr>
            <a:r>
              <a:t>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Vertically integrated</a:t>
            </a:r>
            <a:br/>
            <a:r>
              <a:t>crypto payment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56432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GENIUS Act (July 2025) legalized stablecoins as payment instruments in the 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840480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3767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75% of NRF 2026 retailers implementing or planning agentic commerce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24528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415137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Fiserv is a founding member of the x402 Foundation (April 2,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608576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453542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Cross-border payments represent a $190 trillion annual market opportunity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992624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49194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FIUSD is live in production -- bank-embedded stablecoin on Solana via Paxos/Circle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B5C"/>
                </a:solidFill>
                <a:latin typeface="Calibri"/>
              </a:defRPr>
            </a:pPr>
            <a:r>
              <a:t>Stablecoin &amp; Agentic Commerce Markets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919002"/>
              </p:ext>
            </p:extLst>
          </p:nvPr>
        </p:nvGraphicFramePr>
        <p:xfrm>
          <a:off x="579120" y="1828799"/>
          <a:ext cx="6126480" cy="2304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1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1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85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2030 Projected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CAGR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5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Stablecoin Market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$260B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$2-4T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5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Cross-Border Payments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$190T/yr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$250T/yr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5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Agentic Commerce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~$0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$1-3T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 (new)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5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 Stablecoin Share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3% of USD payments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10% by 2031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~25%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B5C"/>
                </a:solidFill>
                <a:latin typeface="Calibri"/>
              </a:defRPr>
            </a:pPr>
            <a:r>
              <a:t>Market Drivers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92024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9933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Regulatory Clarity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GENIUS Act + MiCA create legal framework for stablecoins as payment instruments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92608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0" y="29992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Cost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291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Sub-1% stablecoin costs vs 2-3% card interchange eliminates ~$50B in merchant fees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93192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400507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297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Real-time settlement vs T+1 to T+3 on card rails -- cash flow unlocked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93776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0" y="50109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AI Agent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3035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McKinsey: US B2C agentic commerce could reach $1T by 2030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9120" y="4709160"/>
            <a:ext cx="6126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-1386840" y="4937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"Stablecoin payments will capture 10% of US dollar payments by 2031.</a:t>
            </a:r>
            <a:br/>
            <a:r>
              <a:t>The question is not IF -- it's WHO captures the orchestration layer."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Only Fiserv has all four pillars of the vertically integrated stablecoin payment stack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Competitor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Banking Core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 Stablecoin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Settlement Network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Merchant Acceptance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 Stack?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Fiserv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(1,100+ banks)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CommerceHub + Clover (6M)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(Bridge/USDC)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Via Bridge ($1.1B acq)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 Checkout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Adyen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Adyen platform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Worldpay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Via BVNK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Worldpay platform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PayPal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PayPal/Venmo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Block/Square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(BTC only)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Square POS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6600"/>
                </a:solidFill>
                <a:latin typeface="Calibri"/>
              </a:defRPr>
            </a:pPr>
            <a:r>
              <a:t>Key Insight: Fiserv's moat is structural, not feature-based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 competitor can replicate the closed loop: bank issues FIUSD &gt; consumer pays merchant &gt; INDX settles in real-time &gt; merchant receives USD instantly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Vertically Integrated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600"/>
                </a:solidFill>
                <a:latin typeface="Calibri"/>
              </a:defRPr>
            </a:pPr>
            <a:r>
              <a:t>The only company with bank-issued stablecoin accepted at 6M merchants with real-time FDIC-insured settlement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Finxact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Cloud-Native Banking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Multi-asset ledger</a:t>
            </a:r>
            <a:br/>
            <a:r>
              <a:t>API-first architecture</a:t>
            </a:r>
            <a:br/>
            <a:r>
              <a:t>10,000+ FI 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FIUSD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Bank-Embedded Stablecoin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Live on Solana</a:t>
            </a:r>
            <a:br/>
            <a:r>
              <a:t>Paxos/Circle backed</a:t>
            </a:r>
            <a:br/>
            <a:r>
              <a:t>1:1 USD peg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INDX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Real-Time Settlement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1,100+ FDIC banks</a:t>
            </a:r>
            <a:br/>
            <a:r>
              <a:t>$25M FDIC insurance</a:t>
            </a:r>
            <a:br/>
            <a:r>
              <a:t>24/7/365 settlement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CommerceHub / Clover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Merchant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6M merchant locations</a:t>
            </a:r>
            <a:br/>
            <a:r>
              <a:t>E-comm + in-store</a:t>
            </a:r>
            <a:br/>
            <a:r>
              <a:t>SMB to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Bank issues FIUSD  →  Consumer pays merchant  →  INDX settles in real-time  →  Merchant receives USD instantly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The FIUSD Flywheel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5196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4206240" y="14630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FIs Issue FIUSD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10,000+ bank clients</a:t>
            </a:r>
            <a:br/>
            <a:r>
              <a:t>issue via Finxact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0" y="23774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Merchants Accept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97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Cheaper than cards</a:t>
            </a:r>
            <a:br/>
            <a:r>
              <a:t>(sub-1% vs 2-3%)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41148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0" y="42062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Consumers Adopt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5262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Hold FIUSD in</a:t>
            </a:r>
            <a:br/>
            <a:r>
              <a:t>bank wallets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41148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5196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Oval 23"/>
          <p:cNvSpPr/>
          <p:nvPr/>
        </p:nvSpPr>
        <p:spPr>
          <a:xfrm>
            <a:off x="4206240" y="42062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4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Volume Grows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5262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More FIs want in</a:t>
            </a:r>
            <a:br/>
            <a:r>
              <a:t>costs decrease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2004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Cycle Accelerates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6118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Network effects</a:t>
            </a:r>
            <a:br/>
            <a:r>
              <a:t>compound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Seed Strategy: Use Fiserv's own merchant settlement disbursements as initial FIUSD volume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No dependency on consumer adoption. Fiserv controls enough of the system to prime the pump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Provider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Layered approach behind Fiserv-owned abstraction layer -- merchants see "Fiserv Digital Pay", never the underlying providers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463040"/>
            <a:ext cx="5760720" cy="73152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"Fiserv Digital Pay"  --  Merchant-Facing 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64008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6000" y="25603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CommerceHub Crypto Orchestration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Coinbase WaaS + CDP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White-label MPC wallets</a:t>
            </a:r>
            <a:br/>
            <a:r>
              <a:t>x402 protocol creator</a:t>
            </a:r>
            <a:br/>
            <a:r>
              <a:t>$300B custody, SOC 2</a:t>
            </a:r>
            <a:br/>
            <a:r>
              <a:t>700+ wallets via WalletConnect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Mesh Pay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300+ wallet/exchange integrations</a:t>
            </a:r>
            <a:br/>
            <a:r>
              <a:t>SmartFunding (patent-pending)</a:t>
            </a:r>
            <a:br/>
            <a:r>
              <a:t>Apple Pay bridge</a:t>
            </a:r>
            <a:br/>
            <a:r>
              <a:t>45+ countries via Shift4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Finxact + FIUSD + INDX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OWNED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Native wallet ledger</a:t>
            </a:r>
            <a:br/>
            <a:r>
              <a:t>FIUSD stablecoin</a:t>
            </a:r>
            <a:br/>
            <a:r>
              <a:t>$25M FDIC insurance</a:t>
            </a:r>
            <a:br/>
            <a:r>
              <a:t>Clover in-store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Design Principles:  No provider &gt;40% volume  |  90-day termination clauses  |  Card-rail fallback on every transaction  |  Circuit breaker on depeg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Provider Scoring: 7 Requirements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241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Coinbase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Mesh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Flexa*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Heron*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Crypto pay-in (global)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Stablecoin pay-in (global)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E-commerce + in-store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Stablecoin disbursement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Wallet storage on Finxact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Stablecoin-to-fiat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7. Any crypto-to-fiat (global)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486400"/>
            <a:ext cx="5029200" cy="10058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55778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C62828"/>
                </a:solidFill>
                <a:latin typeface="Calibri"/>
              </a:defRPr>
            </a:pPr>
            <a:r>
              <a:t>*Flexa Removed: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AMP token lost 98% of value. Only $14.1M raised after 7+ years. US/Canada only. No Clover integration confirmed.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5486400"/>
            <a:ext cx="5212080" cy="10058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55778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C62828"/>
                </a:solidFill>
                <a:latin typeface="Calibri"/>
              </a:defRPr>
            </a:pPr>
            <a:r>
              <a:t>*Heron Removed: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Zero verifiable funding, team, customers, or certifications. Three different companies share the name. Cannot be evaluated.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Security &amp; Compliance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Coinbase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Mesh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Flexa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Heron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SOC 2 Type 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 (Deloitte)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SOC 1 Type II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 (Deloitte)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Insurance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$320M Lloyd's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AMP collateral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Assets Custody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$370B+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 (non-custodial)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 Licenses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 states + OCC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FinCEN MSB + MTLs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Int'l Licenses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EU MiCA, SG, JP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confirmed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KYC/AML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internal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Delegated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internal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Security Incidents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 (no crypto lost)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760720"/>
            <a:ext cx="106984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58521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Coinbase is the only provider with both SOC 1 and SOC 2 Type II certifications audited by a Big Four firm (Deloitte), plus $320M insurance via commercial crime.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Agentic Commerce Protocol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600"/>
                </a:solidFill>
                <a:latin typeface="Calibri"/>
              </a:defRPr>
            </a:pPr>
            <a:r>
              <a:t>Five complementary protocols forming the agentic payment stack -- Fiserv is positioned across all of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x402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Linux Foundation</a:t>
            </a:r>
            <a:br/>
            <a:r>
              <a:t>(Coinbase-created)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HTTP-native</a:t>
            </a:r>
            <a:br/>
            <a:r>
              <a:t>stablecoin settlement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Fiserv is</a:t>
            </a:r>
            <a:br/>
            <a:r>
              <a:t>FOUNDING MEMBER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MPP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Stripe / Tempo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Session-based</a:t>
            </a:r>
            <a:br/>
            <a:r>
              <a:t>batched payments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 via</a:t>
            </a:r>
            <a:br/>
            <a:r>
              <a:t>CommerceHub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5780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AP2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Google</a:t>
            </a:r>
            <a:br/>
            <a:r>
              <a:t>+ 60 partners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Agent authorization</a:t>
            </a:r>
            <a:br/>
            <a:r>
              <a:t>&amp; trust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5780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Ecosystem</a:t>
            </a:r>
            <a:br/>
            <a:r>
              <a:t>participant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59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19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TAP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Visa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Cryptographic</a:t>
            </a:r>
            <a:br/>
            <a:r>
              <a:t>agent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19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Fiserv partnership</a:t>
            </a:r>
            <a:br/>
            <a:r>
              <a:t>announced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2124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Agent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Mastercard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Card infrastructure</a:t>
            </a:r>
            <a:br/>
            <a:r>
              <a:t>for agents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2124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Expanded Fiserv</a:t>
            </a:r>
            <a:br/>
            <a:r>
              <a:t>partnership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120640"/>
            <a:ext cx="9418320" cy="118872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828800" y="521208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CommerceHub Agent Pay: Protocol-Agnostic Orchestration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One CommerceHub endpoint. Detects whether the agent speaks x402, MPP, AP2, or TAP. Routes accordingly.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Defaults to FIUSD settlement. Bank-verified identity via Finxact. USD guaranteed via INDX.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Build vs. Implement: Protocol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47548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Don't Build a Proprietary Protocol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96596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87451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Fiserv publicly committed to x402 Foundation (Apr 2,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46888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37743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Adyen (closest analog) is NOT building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97180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Protocol adoption requires ecosystem (22+ members vs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47472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383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12-18 months engineering cost for zero network effects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977639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Fiserv advantage deliverable as implementation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5303520" cy="47548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Build the Best Implementation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96596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Protocol-agnostic gateway (x402 + MPP + AP2 + TAP)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46888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0" y="237743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Default to FIUSD settlement on Solana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97180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Bank-verified agent identity via Finxact KYC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47472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383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6M merchant auto-enablement via software update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977639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Fiserv Agent SDK (TypeScript + Python)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48056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40880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"Fiserv Commerce Profile" within x402 specs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6217920"/>
            <a:ext cx="10698480" cy="4572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9728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Same strategic pattern that made CommerceHub successful: don't own the network, own the orchestration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x402 Distribution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6600"/>
                </a:solidFill>
                <a:latin typeface="Calibri"/>
              </a:defRPr>
            </a:pPr>
            <a:r>
              <a:t>One Software Update =</a:t>
            </a:r>
            <a:br/>
            <a:r>
              <a:t>6 Million Agent-Payable Merchants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00400"/>
            <a:ext cx="4754880" cy="18288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33832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Stripe's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Convince merchants one by one</a:t>
            </a:r>
            <a:br/>
            <a:r>
              <a:t>Each integration requires developer effort</a:t>
            </a:r>
            <a:br/>
            <a:r>
              <a:t>100+ services at MPP launch (March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200400"/>
            <a:ext cx="4754880" cy="18288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33832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Fiserv's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84048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Push software update to Clover + CommerceHub</a:t>
            </a:r>
            <a:br/>
            <a:r>
              <a:t>Zero merchant effort required</a:t>
            </a:r>
            <a:br/>
            <a:r>
              <a:t>6,000,000 merchants overnight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6600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Every AI shopping agent that speaks x402 can immediately pay at every Fiserv merchant.</a:t>
            </a:r>
            <a:br/>
            <a:r>
              <a:t>Fiserv becomes the largest x402 merchant network overnight.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Blue Ocean: Four Actions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The blue ocean is not "crypto payments for merchants" -- it's a bank-issued stablecoin payment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73152" cy="1920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ELIMINATE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Crypto volatility risk for merchants</a:t>
            </a:r>
            <a:br/>
            <a:br/>
            <a:r>
              <a:t>Auto-convert everything to USD via INDX in real-time. Merchants never touch crypto.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73152" cy="19202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5C00"/>
                </a:solidFill>
                <a:latin typeface="Calibri"/>
              </a:defRPr>
            </a:pPr>
            <a:r>
              <a:t>REDUCE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Integration complexity</a:t>
            </a:r>
            <a:br/>
            <a:br/>
            <a:r>
              <a:t>One API toggle in CommerceHub. One button on Clover. Merchant does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73152" cy="192024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90"/>
                </a:solidFill>
                <a:latin typeface="Calibri"/>
              </a:defRPr>
            </a:pPr>
            <a:r>
              <a:t>RAISE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605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Regulatory confidence</a:t>
            </a:r>
            <a:br/>
            <a:br/>
            <a:r>
              <a:t>FDIC-insured settlement. Bank-embedded stablecoin. Regulated banking core. GENIUS Act compliant.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5760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0" y="3657600"/>
            <a:ext cx="73152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Bank-merchant stablecoin loop</a:t>
            </a:r>
            <a:br/>
            <a:br/>
            <a:r>
              <a:t>Banks earn 60-80bps (more than interchange). Merchants pay 80-100bps (less than cards). Card networks eliminated from the equation.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52160"/>
            <a:ext cx="10698480" cy="6400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925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600"/>
                </a:solidFill>
                <a:latin typeface="Calibri"/>
              </a:defRPr>
            </a:pPr>
            <a:r>
              <a:t>Result: Bank earns MORE per transaction, merchant pays LESS -- because the card network's share is eliminated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Merchant Yield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"Your money earned $847 this month"  --  Turns Fiserv from cost center to value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73152" cy="86868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90"/>
                </a:solidFill>
                <a:latin typeface="Calibri"/>
              </a:defRPr>
            </a:pPr>
            <a:r>
              <a:t>Clover POS / CommerceHub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Settlement data feed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8036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73152" cy="8686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926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AI Treasury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3-day rolling forecast</a:t>
            </a:r>
            <a:br/>
            <a:r>
              <a:t>Seasonal pattern detection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73152" cy="86868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B5C"/>
                </a:solidFill>
                <a:latin typeface="Calibri"/>
              </a:defRPr>
            </a:pPr>
            <a:r>
              <a:t>Finxact Ledger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Demand Deposit &lt;-&gt; FIUSD Yield 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83479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4983479"/>
            <a:ext cx="73152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02919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INDX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492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Instant USD liquidity when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Build Plan: 5 Weeks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Cash flow prediction model from CommerceHub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 sweep/unsweep API integration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instant liquidity path (simulated)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Clover dashboard widget + demo polish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6400800" y="4389120"/>
            <a:ext cx="5029200" cy="18288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Demo Script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"This restaurant earned $847 last month without doing anything. One toggle in Clover. We sweep excess cash into yield-bearing FIUSD on Finxact. When they need cash, it's back instantly via INDX."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Pay-by-Agent: x402 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"First working demo of an AI agent purchasing on a production payment platform"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x402 Payment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73152" cy="82296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90"/>
                </a:solidFill>
                <a:latin typeface="Calibri"/>
              </a:defRPr>
            </a:pPr>
            <a:r>
              <a:t>1. AI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HTTP GET /product</a:t>
            </a:r>
            <a:br/>
            <a:r>
              <a:t>(Claude, GPT, or custom agent)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834640"/>
            <a:ext cx="73152" cy="82296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2. CommerceHub x402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821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Returns HTTP 402 + X-PAYMENT</a:t>
            </a:r>
            <a:br/>
            <a:r>
              <a:t>(price, FIUSD address, chain)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73152" cy="82296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B5C"/>
                </a:solidFill>
                <a:latin typeface="Calibri"/>
              </a:defRPr>
            </a:pPr>
            <a:r>
              <a:t>3. Agent Signs &amp; Retries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879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X-PAYMENT header with</a:t>
            </a:r>
            <a:br/>
            <a:r>
              <a:t>EIP-3009 signed payload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4846320"/>
            <a:ext cx="731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4. Verify + Settle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Validate signature, check</a:t>
            </a:r>
            <a:br/>
            <a:r>
              <a:t>Finxact limits, settle on-chain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Build Plan: 5 Weeks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x402 endpoint + HTTP 402 response per spec 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Fiserv Agent SDK (TypeScript + Python)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auto-settlement + demo agent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CommerceHub dashboard integration + demo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6400800" y="4389120"/>
            <a:ext cx="5029200" cy="18288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Demo Script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"Watch: I ask an AI agent to buy running shoes. It finds the product, discovers the x402 endpoint, pays with FIUSD, gets a receipt -- in under 3 seconds. No human auth needed."</a:t>
            </a:r>
          </a:p>
          <a:p>
            <a:pPr algn="l">
              <a:spcAft>
                <a:spcPts val="400"/>
              </a:spcAft>
              <a:defRPr sz="1100" b="1">
                <a:solidFill>
                  <a:srgbClr val="FF6600"/>
                </a:solidFill>
                <a:latin typeface="Calibri"/>
              </a:defRPr>
            </a:pPr>
            <a:r>
              <a:t>Distribution: 6M merchants agent-payable with one software update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Instant Supplier Pay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"Restaurant saved $1,200/month via AI-driven procurement and instant FIUSD settlement"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Today: Manual &amp; Expensive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Restaurant orders supplies by phone/email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304288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Pays distributor by card (2-3% fee)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688336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25968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Distributor waits 2-5 days for settlement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72384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29809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reconciliation across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56432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3649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early-payment discounts captured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With Fiserv: AI-Driven &amp; Instant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92024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AI agent monitors ingredient usage in Clover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2304288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0" y="22128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Auto-generates POs based on predicted depletion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688336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0" y="25968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Pays instantly in FIUSD (zero card fees)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072384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0" y="29809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Distributor gets USD via INDX in 3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456432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33649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2% early-payment discount captured automatically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$1,200/mo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Merchant savings via</a:t>
            </a:r>
            <a:br/>
            <a:r>
              <a:t>early-pay discounts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4904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3 seconds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Supplier settlement</a:t>
            </a:r>
            <a:br/>
            <a:r>
              <a:t>(vs 2-5 days)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Card interchange</a:t>
            </a:r>
            <a:br/>
            <a:r>
              <a:t>(vs 2-3%)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3544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1832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Automated</a:t>
            </a:r>
            <a:br/>
            <a:r>
              <a:t>reconciliation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669280"/>
            <a:ext cx="10698480" cy="73152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Both merchant and supplier are on Fiserv rails. Neither touches a card. B2B payments move from cost center to efficiency engine.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Cross-Border Instant Settlement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$190 trillion annual market  |  90% cost reduction  |  Settlement in seconds, not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Traditional Card Rails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32004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Cost: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3-5% cross-border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FX: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2-4% markup on conversion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Settlement: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T+3 days via card networks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Reconciliation: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Manual, complex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$1,000 payment = $47.50 in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Fiserv FIUSD Rails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28800"/>
            <a:ext cx="5029200" cy="32004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Cost: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~0.5%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FX: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Real-time via FIUSD bridge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Settlement: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 seconds via INDX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657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Reconciliation: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Automated, on-chain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$1,000 payment = $5.00 in fees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1">
                <a:solidFill>
                  <a:srgbClr val="FF6600"/>
                </a:solidFill>
                <a:latin typeface="Calibri"/>
              </a:defRPr>
            </a:pPr>
            <a:r>
              <a:t>$42.50 saved per $1,000 cross-border transaction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Cross-border payments are a $190T annual market. This is not a feature -- it's a new business 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Risk Assessment &amp; Mitigation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Probability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Regulatory reversal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Catastrophic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Low-Med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as deposit wrapper -- regulatory portable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 protocol lock-in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6M auto-enable + dual protocol (x402 + MPP)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 client resistance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= deposit + 60-80bps (&gt; interchange)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Consumer adoption stall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Lead with B2B/agent use cases first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Stablecoin depeg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Catastrophic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Circuit breaker at 0.5% + instant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Internal BU misalignment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C-suite sponsor + cross-BU task force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Coinbase competitive conflict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Abstraction layer + &lt;40% volume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risk has a designed mitigation. The greatest risk is inaction -- competitors are moving NOW. Stripe acquired Bridge for $1.1B. Worldpay partnered with BVNK. Adyen joined every major protocol foundation.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7-week parallel build  |  4 engineering teams  |  10-13 dedicated engineers  |  All prototypes demo-ready by May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521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Yield Sweep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Pay-by-Agent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(3-4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Supplier Pay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Cross-Border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Cash flow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x402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Inventory ingestion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Detection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 sweep API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Payment verification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procurement agent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FX conversion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liquidity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Agent SDK (TS+Py)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B2B payment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integration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Dashboard widget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settlement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Dashboard + tracker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Comparison view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agent + 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6-7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B5C"/>
                </a:solidFill>
                <a:latin typeface="Calibri"/>
              </a:defRPr>
            </a:pPr>
            <a:r>
              <a:t>MVP Scope Cuts for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Yield Sweep: Simple rule-based (not ML)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70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Pay-by-Agent: FIUSD on Solana only, x402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63055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Supplier Pay: Single restaurant + single distributor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556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Cross-Border: Single corridor (MXN -&gt; USD)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B5C"/>
                </a:solidFill>
                <a:latin typeface="Calibri"/>
              </a:defRPr>
            </a:pPr>
            <a:r>
              <a:t>Investor Day Flow (10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5778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The Opportunity -- $2-4T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83387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Our Unique Position -- stack diagram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608990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Yield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3459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Pay-by-Agent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66019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Supplier Pay + Cross-Border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68580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Architecture + Ask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46304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4813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Executive Sponsor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74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C-suite leader to own the cross-BU outcome across CommerceHub, Finxact, INDX, and Clover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65176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697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700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Cross-BU Task Force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63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Dedicated team with P&amp;L authority and representation from each business unit. 18-month mandate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886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8587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Commercial Discussions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251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Authorization to proceed with Coinbase and Mesh provider evaluations and commercial terms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502920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5074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0474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Engineering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440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10-13 dedicated engineers for 4 parallel prototype tracks through Investor Day and beyond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0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1600" y="5897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6600"/>
                </a:solidFill>
                <a:latin typeface="Calibri"/>
              </a:defRPr>
            </a:pPr>
            <a:r>
              <a:t>"We are not just adding a payment method. We are building the infrastructure</a:t>
            </a:r>
            <a:br/>
            <a:r>
              <a:t>for the next era of commerce."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2501</Words>
  <Application>Microsoft Macintosh PowerPoint</Application>
  <PresentationFormat>Widescreen</PresentationFormat>
  <Paragraphs>511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Narasimmamoorthy</cp:lastModifiedBy>
  <cp:revision>3</cp:revision>
  <dcterms:created xsi:type="dcterms:W3CDTF">2013-01-27T09:14:16Z</dcterms:created>
  <dcterms:modified xsi:type="dcterms:W3CDTF">2026-04-04T08:57:32Z</dcterms:modified>
  <cp:category/>
</cp:coreProperties>
</file>