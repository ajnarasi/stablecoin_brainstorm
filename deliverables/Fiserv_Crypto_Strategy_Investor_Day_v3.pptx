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73" r:id="rId3"/>
  </p:sldMasterIdLst>
  <p:sldIdLst>
    <p:sldId id="256" r:id="rId4"/>
    <p:sldId id="280" r:id="rId28"/>
    <p:sldId id="257" r:id="rId5"/>
    <p:sldId id="258" r:id="rId6"/>
    <p:sldId id="259" r:id="rId7"/>
    <p:sldId id="276" r:id="rId8"/>
    <p:sldId id="261" r:id="rId9"/>
    <p:sldId id="262" r:id="rId10"/>
    <p:sldId id="281" r:id="rId29"/>
    <p:sldId id="264" r:id="rId12"/>
    <p:sldId id="263" r:id="rId11"/>
    <p:sldId id="277" r:id="rId13"/>
    <p:sldId id="266" r:id="rId14"/>
    <p:sldId id="278" r:id="rId15"/>
    <p:sldId id="268" r:id="rId16"/>
    <p:sldId id="269" r:id="rId17"/>
    <p:sldId id="270" r:id="rId18"/>
    <p:sldId id="271" r:id="rId19"/>
    <p:sldId id="272" r:id="rId20"/>
    <p:sldId id="273"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1268"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1.xml"/><Relationship Id="rId12"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openxmlformats.org/officeDocument/2006/relationships/slide" Target="slides/slide2.xml"/><Relationship Id="rId29" Type="http://schemas.openxmlformats.org/officeDocument/2006/relationships/slide" Target="slides/slide9.xml"/><Relationship Id="rId30"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mamoorthy, Ajay (US - California)" userId="2fbaf466-1f1e-4088-9c15-edfc6cd9f7b7" providerId="ADAL" clId="{90D3283F-6DE1-44E4-9ED1-67F9658F593E}"/>
    <pc:docChg chg="undo custSel addSld delSld modSld addMainMaster modMainMaster">
      <pc:chgData name="Narasimmamoorthy, Ajay (US - California)" userId="2fbaf466-1f1e-4088-9c15-edfc6cd9f7b7" providerId="ADAL" clId="{90D3283F-6DE1-44E4-9ED1-67F9658F593E}" dt="2026-04-10T04:46:41.778" v="517" actId="20577"/>
      <pc:docMkLst>
        <pc:docMk/>
      </pc:docMkLst>
      <pc:sldChg chg="addSp delSp modSp mod modClrScheme chgLayout">
        <pc:chgData name="Narasimmamoorthy, Ajay (US - California)" userId="2fbaf466-1f1e-4088-9c15-edfc6cd9f7b7" providerId="ADAL" clId="{90D3283F-6DE1-44E4-9ED1-67F9658F593E}" dt="2026-04-06T22:54:02.528" v="261" actId="1076"/>
        <pc:sldMkLst>
          <pc:docMk/>
          <pc:sldMk cId="0" sldId="256"/>
        </pc:sldMkLst>
        <pc:spChg chg="mod">
          <ac:chgData name="Narasimmamoorthy, Ajay (US - California)" userId="2fbaf466-1f1e-4088-9c15-edfc6cd9f7b7" providerId="ADAL" clId="{90D3283F-6DE1-44E4-9ED1-67F9658F593E}" dt="2026-04-06T22:54:02.528" v="261" actId="1076"/>
          <ac:spMkLst>
            <pc:docMk/>
            <pc:sldMk cId="0" sldId="256"/>
            <ac:spMk id="4" creationId="{00000000-0000-0000-0000-000000000000}"/>
          </ac:spMkLst>
        </pc:spChg>
      </pc:sldChg>
      <pc:sldChg chg="addSp delSp modSp mod modClrScheme chgLayout">
        <pc:chgData name="Narasimmamoorthy, Ajay (US - California)" userId="2fbaf466-1f1e-4088-9c15-edfc6cd9f7b7" providerId="ADAL" clId="{90D3283F-6DE1-44E4-9ED1-67F9658F593E}" dt="2026-04-10T04:46:41.778" v="517" actId="20577"/>
        <pc:sldMkLst>
          <pc:docMk/>
          <pc:sldMk cId="0" sldId="257"/>
        </pc:sldMkLst>
        <pc:spChg chg="mod">
          <ac:chgData name="Narasimmamoorthy, Ajay (US - California)" userId="2fbaf466-1f1e-4088-9c15-edfc6cd9f7b7" providerId="ADAL" clId="{90D3283F-6DE1-44E4-9ED1-67F9658F593E}" dt="2026-04-06T21:10:12.558" v="151" actId="207"/>
          <ac:spMkLst>
            <pc:docMk/>
            <pc:sldMk cId="0" sldId="257"/>
            <ac:spMk id="3" creationId="{00000000-0000-0000-0000-000000000000}"/>
          </ac:spMkLst>
        </pc:spChg>
        <pc:spChg chg="mod">
          <ac:chgData name="Narasimmamoorthy, Ajay (US - California)" userId="2fbaf466-1f1e-4088-9c15-edfc6cd9f7b7" providerId="ADAL" clId="{90D3283F-6DE1-44E4-9ED1-67F9658F593E}" dt="2026-04-06T21:10:16.634" v="152" actId="207"/>
          <ac:spMkLst>
            <pc:docMk/>
            <pc:sldMk cId="0" sldId="257"/>
            <ac:spMk id="5" creationId="{00000000-0000-0000-0000-000000000000}"/>
          </ac:spMkLst>
        </pc:spChg>
        <pc:spChg chg="mod">
          <ac:chgData name="Narasimmamoorthy, Ajay (US - California)" userId="2fbaf466-1f1e-4088-9c15-edfc6cd9f7b7" providerId="ADAL" clId="{90D3283F-6DE1-44E4-9ED1-67F9658F593E}" dt="2026-04-10T04:46:41.778" v="517" actId="20577"/>
          <ac:spMkLst>
            <pc:docMk/>
            <pc:sldMk cId="0" sldId="257"/>
            <ac:spMk id="1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1:10:48.836" v="157" actId="207"/>
        <pc:sldMkLst>
          <pc:docMk/>
          <pc:sldMk cId="0" sldId="258"/>
        </pc:sldMkLst>
        <pc:spChg chg="mod">
          <ac:chgData name="Narasimmamoorthy, Ajay (US - California)" userId="2fbaf466-1f1e-4088-9c15-edfc6cd9f7b7" providerId="ADAL" clId="{90D3283F-6DE1-44E4-9ED1-67F9658F593E}" dt="2026-04-06T21:10:24.115" v="153" actId="207"/>
          <ac:spMkLst>
            <pc:docMk/>
            <pc:sldMk cId="0" sldId="258"/>
            <ac:spMk id="3" creationId="{00000000-0000-0000-0000-000000000000}"/>
          </ac:spMkLst>
        </pc:spChg>
        <pc:spChg chg="mod">
          <ac:chgData name="Narasimmamoorthy, Ajay (US - California)" userId="2fbaf466-1f1e-4088-9c15-edfc6cd9f7b7" providerId="ADAL" clId="{90D3283F-6DE1-44E4-9ED1-67F9658F593E}" dt="2026-04-06T21:10:26.083" v="154" actId="207"/>
          <ac:spMkLst>
            <pc:docMk/>
            <pc:sldMk cId="0" sldId="258"/>
            <ac:spMk id="4" creationId="{00000000-0000-0000-0000-000000000000}"/>
          </ac:spMkLst>
        </pc:spChg>
        <pc:spChg chg="mod">
          <ac:chgData name="Narasimmamoorthy, Ajay (US - California)" userId="2fbaf466-1f1e-4088-9c15-edfc6cd9f7b7" providerId="ADAL" clId="{90D3283F-6DE1-44E4-9ED1-67F9658F593E}" dt="2026-04-06T21:10:28.902" v="155" actId="207"/>
          <ac:spMkLst>
            <pc:docMk/>
            <pc:sldMk cId="0" sldId="258"/>
            <ac:spMk id="6" creationId="{00000000-0000-0000-0000-000000000000}"/>
          </ac:spMkLst>
        </pc:spChg>
        <pc:spChg chg="mod">
          <ac:chgData name="Narasimmamoorthy, Ajay (US - California)" userId="2fbaf466-1f1e-4088-9c15-edfc6cd9f7b7" providerId="ADAL" clId="{90D3283F-6DE1-44E4-9ED1-67F9658F593E}" dt="2026-04-06T21:10:33.422" v="156" actId="207"/>
          <ac:spMkLst>
            <pc:docMk/>
            <pc:sldMk cId="0" sldId="258"/>
            <ac:spMk id="19" creationId="{00000000-0000-0000-0000-000000000000}"/>
          </ac:spMkLst>
        </pc:spChg>
        <pc:spChg chg="mod">
          <ac:chgData name="Narasimmamoorthy, Ajay (US - California)" userId="2fbaf466-1f1e-4088-9c15-edfc6cd9f7b7" providerId="ADAL" clId="{90D3283F-6DE1-44E4-9ED1-67F9658F593E}" dt="2026-04-06T20:58:51.088" v="45" actId="1076"/>
          <ac:spMkLst>
            <pc:docMk/>
            <pc:sldMk cId="0" sldId="258"/>
            <ac:spMk id="20" creationId="{00000000-0000-0000-0000-000000000000}"/>
          </ac:spMkLst>
        </pc:spChg>
        <pc:graphicFrameChg chg="modGraphic">
          <ac:chgData name="Narasimmamoorthy, Ajay (US - California)" userId="2fbaf466-1f1e-4088-9c15-edfc6cd9f7b7" providerId="ADAL" clId="{90D3283F-6DE1-44E4-9ED1-67F9658F593E}" dt="2026-04-06T21:10:48.836" v="157" actId="207"/>
          <ac:graphicFrameMkLst>
            <pc:docMk/>
            <pc:sldMk cId="0" sldId="258"/>
            <ac:graphicFrameMk id="5" creationId="{00000000-0000-0000-0000-000000000000}"/>
          </ac:graphicFrameMkLst>
        </pc:graphicFrameChg>
      </pc:sldChg>
      <pc:sldChg chg="modSp mod modClrScheme chgLayout">
        <pc:chgData name="Narasimmamoorthy, Ajay (US - California)" userId="2fbaf466-1f1e-4088-9c15-edfc6cd9f7b7" providerId="ADAL" clId="{90D3283F-6DE1-44E4-9ED1-67F9658F593E}" dt="2026-04-06T21:12:21.560" v="160" actId="207"/>
        <pc:sldMkLst>
          <pc:docMk/>
          <pc:sldMk cId="0" sldId="259"/>
        </pc:sldMkLst>
        <pc:spChg chg="mod">
          <ac:chgData name="Narasimmamoorthy, Ajay (US - California)" userId="2fbaf466-1f1e-4088-9c15-edfc6cd9f7b7" providerId="ADAL" clId="{90D3283F-6DE1-44E4-9ED1-67F9658F593E}" dt="2026-04-06T21:12:08.452" v="158" actId="207"/>
          <ac:spMkLst>
            <pc:docMk/>
            <pc:sldMk cId="0" sldId="259"/>
            <ac:spMk id="3" creationId="{00000000-0000-0000-0000-000000000000}"/>
          </ac:spMkLst>
        </pc:spChg>
        <pc:spChg chg="mod">
          <ac:chgData name="Narasimmamoorthy, Ajay (US - California)" userId="2fbaf466-1f1e-4088-9c15-edfc6cd9f7b7" providerId="ADAL" clId="{90D3283F-6DE1-44E4-9ED1-67F9658F593E}" dt="2026-04-06T20:59:41.185" v="47" actId="552"/>
          <ac:spMkLst>
            <pc:docMk/>
            <pc:sldMk cId="0" sldId="259"/>
            <ac:spMk id="4" creationId="{00000000-0000-0000-0000-000000000000}"/>
          </ac:spMkLst>
        </pc:spChg>
        <pc:spChg chg="mod">
          <ac:chgData name="Narasimmamoorthy, Ajay (US - California)" userId="2fbaf466-1f1e-4088-9c15-edfc6cd9f7b7" providerId="ADAL" clId="{90D3283F-6DE1-44E4-9ED1-67F9658F593E}" dt="2026-04-06T21:12:21.560" v="160" actId="207"/>
          <ac:spMkLst>
            <pc:docMk/>
            <pc:sldMk cId="0" sldId="259"/>
            <ac:spMk id="6" creationId="{00000000-0000-0000-0000-000000000000}"/>
          </ac:spMkLst>
        </pc:spChg>
        <pc:graphicFrameChg chg="modGraphic">
          <ac:chgData name="Narasimmamoorthy, Ajay (US - California)" userId="2fbaf466-1f1e-4088-9c15-edfc6cd9f7b7" providerId="ADAL" clId="{90D3283F-6DE1-44E4-9ED1-67F9658F593E}" dt="2026-04-06T21:12:17.247" v="159" actId="207"/>
          <ac:graphicFrameMkLst>
            <pc:docMk/>
            <pc:sldMk cId="0" sldId="259"/>
            <ac:graphicFrameMk id="5"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2:06.267" v="251" actId="1076"/>
        <pc:sldMkLst>
          <pc:docMk/>
          <pc:sldMk cId="0" sldId="261"/>
        </pc:sldMkLst>
        <pc:spChg chg="mod">
          <ac:chgData name="Narasimmamoorthy, Ajay (US - California)" userId="2fbaf466-1f1e-4088-9c15-edfc6cd9f7b7" providerId="ADAL" clId="{90D3283F-6DE1-44E4-9ED1-67F9658F593E}" dt="2026-04-06T21:17:51.008" v="179" actId="207"/>
          <ac:spMkLst>
            <pc:docMk/>
            <pc:sldMk cId="0" sldId="261"/>
            <ac:spMk id="3"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4"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5"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6"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7"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8"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9"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0"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1"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2"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3"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4"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5"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6"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7"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8"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9"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0"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1"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2"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3"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4"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5"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6"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7"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8"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9"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0"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1"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2"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3"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4"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5"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2:54:15.143" v="263" actId="1076"/>
        <pc:sldMkLst>
          <pc:docMk/>
          <pc:sldMk cId="0" sldId="262"/>
        </pc:sldMkLst>
        <pc:spChg chg="mod">
          <ac:chgData name="Narasimmamoorthy, Ajay (US - California)" userId="2fbaf466-1f1e-4088-9c15-edfc6cd9f7b7" providerId="ADAL" clId="{90D3283F-6DE1-44E4-9ED1-67F9658F593E}" dt="2026-04-06T21:10:01.989" v="150" actId="1035"/>
          <ac:spMkLst>
            <pc:docMk/>
            <pc:sldMk cId="0" sldId="262"/>
            <ac:spMk id="3" creationId="{00000000-0000-0000-0000-000000000000}"/>
          </ac:spMkLst>
        </pc:spChg>
        <pc:spChg chg="mod">
          <ac:chgData name="Narasimmamoorthy, Ajay (US - California)" userId="2fbaf466-1f1e-4088-9c15-edfc6cd9f7b7" providerId="ADAL" clId="{90D3283F-6DE1-44E4-9ED1-67F9658F593E}" dt="2026-04-06T21:10:01.989" v="150" actId="1035"/>
          <ac:spMkLst>
            <pc:docMk/>
            <pc:sldMk cId="0" sldId="262"/>
            <ac:spMk id="4" creationId="{00000000-0000-0000-0000-000000000000}"/>
          </ac:spMkLst>
        </pc:spChg>
        <pc:spChg chg="mod">
          <ac:chgData name="Narasimmamoorthy, Ajay (US - California)" userId="2fbaf466-1f1e-4088-9c15-edfc6cd9f7b7" providerId="ADAL" clId="{90D3283F-6DE1-44E4-9ED1-67F9658F593E}" dt="2026-04-06T22:54:15.143" v="263" actId="1076"/>
          <ac:spMkLst>
            <pc:docMk/>
            <pc:sldMk cId="0" sldId="262"/>
            <ac:spMk id="6" creationId="{00000000-0000-0000-0000-000000000000}"/>
          </ac:spMkLst>
        </pc:spChg>
        <pc:spChg chg="mod">
          <ac:chgData name="Narasimmamoorthy, Ajay (US - California)" userId="2fbaf466-1f1e-4088-9c15-edfc6cd9f7b7" providerId="ADAL" clId="{90D3283F-6DE1-44E4-9ED1-67F9658F593E}" dt="2026-04-06T21:09:25.623" v="136" actId="207"/>
          <ac:spMkLst>
            <pc:docMk/>
            <pc:sldMk cId="0" sldId="262"/>
            <ac:spMk id="7" creationId="{00000000-0000-0000-0000-000000000000}"/>
          </ac:spMkLst>
        </pc:spChg>
        <pc:spChg chg="mod">
          <ac:chgData name="Narasimmamoorthy, Ajay (US - California)" userId="2fbaf466-1f1e-4088-9c15-edfc6cd9f7b7" providerId="ADAL" clId="{90D3283F-6DE1-44E4-9ED1-67F9658F593E}" dt="2026-04-06T21:09:29.634" v="137" actId="1076"/>
          <ac:spMkLst>
            <pc:docMk/>
            <pc:sldMk cId="0" sldId="262"/>
            <ac:spMk id="8" creationId="{00000000-0000-0000-0000-000000000000}"/>
          </ac:spMkLst>
        </pc:spChg>
        <pc:spChg chg="mod">
          <ac:chgData name="Narasimmamoorthy, Ajay (US - California)" userId="2fbaf466-1f1e-4088-9c15-edfc6cd9f7b7" providerId="ADAL" clId="{90D3283F-6DE1-44E4-9ED1-67F9658F593E}" dt="2026-04-06T21:09:36.128" v="138" actId="207"/>
          <ac:spMkLst>
            <pc:docMk/>
            <pc:sldMk cId="0" sldId="262"/>
            <ac:spMk id="10"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15"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20" creationId="{00000000-0000-0000-0000-000000000000}"/>
          </ac:spMkLst>
        </pc:spChg>
        <pc:spChg chg="mod">
          <ac:chgData name="Narasimmamoorthy, Ajay (US - California)" userId="2fbaf466-1f1e-4088-9c15-edfc6cd9f7b7" providerId="ADAL" clId="{90D3283F-6DE1-44E4-9ED1-67F9658F593E}" dt="2026-04-06T21:09:09.414" v="134" actId="1076"/>
          <ac:spMkLst>
            <pc:docMk/>
            <pc:sldMk cId="0" sldId="262"/>
            <ac:spMk id="24" creationId="{00000000-0000-0000-0000-000000000000}"/>
          </ac:spMkLst>
        </pc:spChg>
      </pc:sldChg>
      <pc:sldChg chg="modSp mod">
        <pc:chgData name="Narasimmamoorthy, Ajay (US - California)" userId="2fbaf466-1f1e-4088-9c15-edfc6cd9f7b7" providerId="ADAL" clId="{90D3283F-6DE1-44E4-9ED1-67F9658F593E}" dt="2026-04-06T22:53:01.538" v="255" actId="20577"/>
        <pc:sldMkLst>
          <pc:docMk/>
          <pc:sldMk cId="0" sldId="263"/>
        </pc:sldMkLst>
        <pc:spChg chg="mod">
          <ac:chgData name="Narasimmamoorthy, Ajay (US - California)" userId="2fbaf466-1f1e-4088-9c15-edfc6cd9f7b7" providerId="ADAL" clId="{90D3283F-6DE1-44E4-9ED1-67F9658F593E}" dt="2026-04-06T22:52:28.442" v="253" actId="207"/>
          <ac:spMkLst>
            <pc:docMk/>
            <pc:sldMk cId="0" sldId="263"/>
            <ac:spMk id="3" creationId="{00000000-0000-0000-0000-000000000000}"/>
          </ac:spMkLst>
        </pc:spChg>
        <pc:spChg chg="mod">
          <ac:chgData name="Narasimmamoorthy, Ajay (US - California)" userId="2fbaf466-1f1e-4088-9c15-edfc6cd9f7b7" providerId="ADAL" clId="{90D3283F-6DE1-44E4-9ED1-67F9658F593E}" dt="2026-04-06T22:53:01.538" v="255" actId="20577"/>
          <ac:spMkLst>
            <pc:docMk/>
            <pc:sldMk cId="0" sldId="263"/>
            <ac:spMk id="8" creationId="{00000000-0000-0000-0000-000000000000}"/>
          </ac:spMkLst>
        </pc:spChg>
        <pc:graphicFrameChg chg="modGraphic">
          <ac:chgData name="Narasimmamoorthy, Ajay (US - California)" userId="2fbaf466-1f1e-4088-9c15-edfc6cd9f7b7" providerId="ADAL" clId="{90D3283F-6DE1-44E4-9ED1-67F9658F593E}" dt="2026-04-06T22:52:35.731" v="254" actId="207"/>
          <ac:graphicFrameMkLst>
            <pc:docMk/>
            <pc:sldMk cId="0" sldId="263"/>
            <ac:graphicFrameMk id="4" creationId="{00000000-0000-0000-0000-000000000000}"/>
          </ac:graphicFrameMkLst>
        </pc:graphicFrameChg>
      </pc:sldChg>
      <pc:sldChg chg="modSp mod">
        <pc:chgData name="Narasimmamoorthy, Ajay (US - California)" userId="2fbaf466-1f1e-4088-9c15-edfc6cd9f7b7" providerId="ADAL" clId="{90D3283F-6DE1-44E4-9ED1-67F9658F593E}" dt="2026-04-06T22:53:37.527" v="258" actId="1076"/>
        <pc:sldMkLst>
          <pc:docMk/>
          <pc:sldMk cId="0" sldId="264"/>
        </pc:sldMkLst>
        <pc:spChg chg="mod">
          <ac:chgData name="Narasimmamoorthy, Ajay (US - California)" userId="2fbaf466-1f1e-4088-9c15-edfc6cd9f7b7" providerId="ADAL" clId="{90D3283F-6DE1-44E4-9ED1-67F9658F593E}" dt="2026-04-06T22:53:16.669" v="256" actId="207"/>
          <ac:spMkLst>
            <pc:docMk/>
            <pc:sldMk cId="0" sldId="264"/>
            <ac:spMk id="3" creationId="{00000000-0000-0000-0000-000000000000}"/>
          </ac:spMkLst>
        </pc:spChg>
        <pc:spChg chg="mod">
          <ac:chgData name="Narasimmamoorthy, Ajay (US - California)" userId="2fbaf466-1f1e-4088-9c15-edfc6cd9f7b7" providerId="ADAL" clId="{90D3283F-6DE1-44E4-9ED1-67F9658F593E}" dt="2026-04-06T22:53:37.527" v="258" actId="1076"/>
          <ac:spMkLst>
            <pc:docMk/>
            <pc:sldMk cId="0" sldId="264"/>
            <ac:spMk id="6" creationId="{00000000-0000-0000-0000-000000000000}"/>
          </ac:spMkLst>
        </pc:spChg>
        <pc:graphicFrameChg chg="modGraphic">
          <ac:chgData name="Narasimmamoorthy, Ajay (US - California)" userId="2fbaf466-1f1e-4088-9c15-edfc6cd9f7b7" providerId="ADAL" clId="{90D3283F-6DE1-44E4-9ED1-67F9658F593E}" dt="2026-04-06T22:53:24.196" v="257" actId="207"/>
          <ac:graphicFrameMkLst>
            <pc:docMk/>
            <pc:sldMk cId="0" sldId="264"/>
            <ac:graphicFrameMk id="4"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9:24.212" v="309" actId="207"/>
        <pc:sldMkLst>
          <pc:docMk/>
          <pc:sldMk cId="0" sldId="266"/>
        </pc:sldMkLst>
        <pc:spChg chg="mod">
          <ac:chgData name="Narasimmamoorthy, Ajay (US - California)" userId="2fbaf466-1f1e-4088-9c15-edfc6cd9f7b7" providerId="ADAL" clId="{90D3283F-6DE1-44E4-9ED1-67F9658F593E}" dt="2026-04-06T22:56:49.281" v="281" actId="207"/>
          <ac:spMkLst>
            <pc:docMk/>
            <pc:sldMk cId="0" sldId="266"/>
            <ac:spMk id="3" creationId="{00000000-0000-0000-0000-000000000000}"/>
          </ac:spMkLst>
        </pc:spChg>
        <pc:spChg chg="mod">
          <ac:chgData name="Narasimmamoorthy, Ajay (US - California)" userId="2fbaf466-1f1e-4088-9c15-edfc6cd9f7b7" providerId="ADAL" clId="{90D3283F-6DE1-44E4-9ED1-67F9658F593E}" dt="2026-04-06T22:58:23.729" v="290" actId="14100"/>
          <ac:spMkLst>
            <pc:docMk/>
            <pc:sldMk cId="0" sldId="266"/>
            <ac:spMk id="4"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5" creationId="{00000000-0000-0000-0000-000000000000}"/>
          </ac:spMkLst>
        </pc:spChg>
        <pc:spChg chg="mod">
          <ac:chgData name="Narasimmamoorthy, Ajay (US - California)" userId="2fbaf466-1f1e-4088-9c15-edfc6cd9f7b7" providerId="ADAL" clId="{90D3283F-6DE1-44E4-9ED1-67F9658F593E}" dt="2026-04-06T22:58:47.344" v="305" actId="207"/>
          <ac:spMkLst>
            <pc:docMk/>
            <pc:sldMk cId="0" sldId="266"/>
            <ac:spMk id="16"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1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19"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1"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3"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5"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9" creationId="{00000000-0000-0000-0000-000000000000}"/>
          </ac:spMkLst>
        </pc:spChg>
        <pc:spChg chg="mod">
          <ac:chgData name="Narasimmamoorthy, Ajay (US - California)" userId="2fbaf466-1f1e-4088-9c15-edfc6cd9f7b7" providerId="ADAL" clId="{90D3283F-6DE1-44E4-9ED1-67F9658F593E}" dt="2026-04-06T22:59:24.212" v="309" actId="207"/>
          <ac:spMkLst>
            <pc:docMk/>
            <pc:sldMk cId="0" sldId="266"/>
            <ac:spMk id="30" creationId="{00000000-0000-0000-0000-000000000000}"/>
          </ac:spMkLst>
        </pc:spChg>
        <pc:spChg chg="mod">
          <ac:chgData name="Narasimmamoorthy, Ajay (US - California)" userId="2fbaf466-1f1e-4088-9c15-edfc6cd9f7b7" providerId="ADAL" clId="{90D3283F-6DE1-44E4-9ED1-67F9658F593E}" dt="2026-04-06T22:59:16.087" v="308" actId="1076"/>
          <ac:spMkLst>
            <pc:docMk/>
            <pc:sldMk cId="0" sldId="266"/>
            <ac:spMk id="3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4:09.557" v="480" actId="1076"/>
        <pc:sldMkLst>
          <pc:docMk/>
          <pc:sldMk cId="0" sldId="268"/>
        </pc:sldMkLst>
        <pc:spChg chg="mod">
          <ac:chgData name="Narasimmamoorthy, Ajay (US - California)" userId="2fbaf466-1f1e-4088-9c15-edfc6cd9f7b7" providerId="ADAL" clId="{90D3283F-6DE1-44E4-9ED1-67F9658F593E}" dt="2026-04-06T23:14:04.948" v="479" actId="207"/>
          <ac:spMkLst>
            <pc:docMk/>
            <pc:sldMk cId="0" sldId="268"/>
            <ac:spMk id="3" creationId="{00000000-0000-0000-0000-000000000000}"/>
          </ac:spMkLst>
        </pc:spChg>
        <pc:spChg chg="mod">
          <ac:chgData name="Narasimmamoorthy, Ajay (US - California)" userId="2fbaf466-1f1e-4088-9c15-edfc6cd9f7b7" providerId="ADAL" clId="{90D3283F-6DE1-44E4-9ED1-67F9658F593E}" dt="2026-04-06T23:14:09.557" v="480" actId="1076"/>
          <ac:spMkLst>
            <pc:docMk/>
            <pc:sldMk cId="0" sldId="268"/>
            <ac:spMk id="4" creationId="{00000000-0000-0000-0000-000000000000}"/>
          </ac:spMkLst>
        </pc:spChg>
        <pc:spChg chg="mod">
          <ac:chgData name="Narasimmamoorthy, Ajay (US - California)" userId="2fbaf466-1f1e-4088-9c15-edfc6cd9f7b7" providerId="ADAL" clId="{90D3283F-6DE1-44E4-9ED1-67F9658F593E}" dt="2026-04-06T23:04:55.368" v="364" actId="207"/>
          <ac:spMkLst>
            <pc:docMk/>
            <pc:sldMk cId="0" sldId="268"/>
            <ac:spMk id="2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07:26.096" v="398" actId="20577"/>
        <pc:sldMkLst>
          <pc:docMk/>
          <pc:sldMk cId="0" sldId="269"/>
        </pc:sldMkLst>
        <pc:spChg chg="mod">
          <ac:chgData name="Narasimmamoorthy, Ajay (US - California)" userId="2fbaf466-1f1e-4088-9c15-edfc6cd9f7b7" providerId="ADAL" clId="{90D3283F-6DE1-44E4-9ED1-67F9658F593E}" dt="2026-04-06T23:06:44.697" v="393" actId="1076"/>
          <ac:spMkLst>
            <pc:docMk/>
            <pc:sldMk cId="0" sldId="269"/>
            <ac:spMk id="3" creationId="{00000000-0000-0000-0000-000000000000}"/>
          </ac:spMkLst>
        </pc:spChg>
        <pc:spChg chg="mod">
          <ac:chgData name="Narasimmamoorthy, Ajay (US - California)" userId="2fbaf466-1f1e-4088-9c15-edfc6cd9f7b7" providerId="ADAL" clId="{90D3283F-6DE1-44E4-9ED1-67F9658F593E}" dt="2026-04-06T23:06:44.697" v="393" actId="1076"/>
          <ac:spMkLst>
            <pc:docMk/>
            <pc:sldMk cId="0" sldId="269"/>
            <ac:spMk id="4" creationId="{00000000-0000-0000-0000-000000000000}"/>
          </ac:spMkLst>
        </pc:spChg>
        <pc:spChg chg="mod">
          <ac:chgData name="Narasimmamoorthy, Ajay (US - California)" userId="2fbaf466-1f1e-4088-9c15-edfc6cd9f7b7" providerId="ADAL" clId="{90D3283F-6DE1-44E4-9ED1-67F9658F593E}" dt="2026-04-06T23:06:55.039" v="396" actId="207"/>
          <ac:spMkLst>
            <pc:docMk/>
            <pc:sldMk cId="0" sldId="269"/>
            <ac:spMk id="5"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6"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7"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8"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9"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0"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1" creationId="{00000000-0000-0000-0000-000000000000}"/>
          </ac:spMkLst>
        </pc:spChg>
        <pc:spChg chg="mod">
          <ac:chgData name="Narasimmamoorthy, Ajay (US - California)" userId="2fbaf466-1f1e-4088-9c15-edfc6cd9f7b7" providerId="ADAL" clId="{90D3283F-6DE1-44E4-9ED1-67F9658F593E}" dt="2026-04-06T23:06:30.528" v="390" actId="207"/>
          <ac:spMkLst>
            <pc:docMk/>
            <pc:sldMk cId="0" sldId="269"/>
            <ac:spMk id="1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6"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7"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0"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3" creationId="{00000000-0000-0000-0000-000000000000}"/>
          </ac:spMkLst>
        </pc:spChg>
        <pc:spChg chg="mod">
          <ac:chgData name="Narasimmamoorthy, Ajay (US - California)" userId="2fbaf466-1f1e-4088-9c15-edfc6cd9f7b7" providerId="ADAL" clId="{90D3283F-6DE1-44E4-9ED1-67F9658F593E}" dt="2026-04-06T23:07:26.096" v="398" actId="20577"/>
          <ac:spMkLst>
            <pc:docMk/>
            <pc:sldMk cId="0" sldId="269"/>
            <ac:spMk id="24" creationId="{00000000-0000-0000-0000-000000000000}"/>
          </ac:spMkLst>
        </pc:spChg>
        <pc:spChg chg="mod">
          <ac:chgData name="Narasimmamoorthy, Ajay (US - California)" userId="2fbaf466-1f1e-4088-9c15-edfc6cd9f7b7" providerId="ADAL" clId="{90D3283F-6DE1-44E4-9ED1-67F9658F593E}" dt="2026-04-06T23:06:23.351" v="389" actId="207"/>
          <ac:spMkLst>
            <pc:docMk/>
            <pc:sldMk cId="0" sldId="269"/>
            <ac:spMk id="28"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9" creationId="{00000000-0000-0000-0000-000000000000}"/>
          </ac:spMkLst>
        </pc:spChg>
        <pc:spChg chg="mod">
          <ac:chgData name="Narasimmamoorthy, Ajay (US - California)" userId="2fbaf466-1f1e-4088-9c15-edfc6cd9f7b7" providerId="ADAL" clId="{90D3283F-6DE1-44E4-9ED1-67F9658F593E}" dt="2026-04-06T23:05:57.507" v="376" actId="20577"/>
          <ac:spMkLst>
            <pc:docMk/>
            <pc:sldMk cId="0" sldId="269"/>
            <ac:spMk id="30" creationId="{00000000-0000-0000-0000-000000000000}"/>
          </ac:spMkLst>
        </pc:spChg>
        <pc:spChg chg="mod">
          <ac:chgData name="Narasimmamoorthy, Ajay (US - California)" userId="2fbaf466-1f1e-4088-9c15-edfc6cd9f7b7" providerId="ADAL" clId="{90D3283F-6DE1-44E4-9ED1-67F9658F593E}" dt="2026-04-06T23:06:05.624" v="381" actId="20577"/>
          <ac:spMkLst>
            <pc:docMk/>
            <pc:sldMk cId="0" sldId="269"/>
            <ac:spMk id="32" creationId="{00000000-0000-0000-0000-000000000000}"/>
          </ac:spMkLst>
        </pc:spChg>
        <pc:spChg chg="mod">
          <ac:chgData name="Narasimmamoorthy, Ajay (US - California)" userId="2fbaf466-1f1e-4088-9c15-edfc6cd9f7b7" providerId="ADAL" clId="{90D3283F-6DE1-44E4-9ED1-67F9658F593E}" dt="2026-04-06T23:06:10.064" v="386" actId="20577"/>
          <ac:spMkLst>
            <pc:docMk/>
            <pc:sldMk cId="0" sldId="269"/>
            <ac:spMk id="33" creationId="{00000000-0000-0000-0000-000000000000}"/>
          </ac:spMkLst>
        </pc:spChg>
        <pc:spChg chg="mod">
          <ac:chgData name="Narasimmamoorthy, Ajay (US - California)" userId="2fbaf466-1f1e-4088-9c15-edfc6cd9f7b7" providerId="ADAL" clId="{90D3283F-6DE1-44E4-9ED1-67F9658F593E}" dt="2026-04-06T23:06:15.029" v="387" actId="20577"/>
          <ac:spMkLst>
            <pc:docMk/>
            <pc:sldMk cId="0" sldId="269"/>
            <ac:spMk id="34" creationId="{00000000-0000-0000-0000-000000000000}"/>
          </ac:spMkLst>
        </pc:spChg>
        <pc:spChg chg="mod">
          <ac:chgData name="Narasimmamoorthy, Ajay (US - California)" userId="2fbaf466-1f1e-4088-9c15-edfc6cd9f7b7" providerId="ADAL" clId="{90D3283F-6DE1-44E4-9ED1-67F9658F593E}" dt="2026-04-06T23:06:20.221" v="388" actId="1076"/>
          <ac:spMkLst>
            <pc:docMk/>
            <pc:sldMk cId="0" sldId="269"/>
            <ac:spMk id="38"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3:46.427" v="478" actId="20577"/>
        <pc:sldMkLst>
          <pc:docMk/>
          <pc:sldMk cId="0" sldId="270"/>
        </pc:sldMkLst>
        <pc:spChg chg="mod">
          <ac:chgData name="Narasimmamoorthy, Ajay (US - California)" userId="2fbaf466-1f1e-4088-9c15-edfc6cd9f7b7" providerId="ADAL" clId="{90D3283F-6DE1-44E4-9ED1-67F9658F593E}" dt="2026-04-06T23:11:05.237" v="450" actId="1076"/>
          <ac:spMkLst>
            <pc:docMk/>
            <pc:sldMk cId="0" sldId="270"/>
            <ac:spMk id="3" creationId="{00000000-0000-0000-0000-000000000000}"/>
          </ac:spMkLst>
        </pc:spChg>
        <pc:spChg chg="mod">
          <ac:chgData name="Narasimmamoorthy, Ajay (US - California)" userId="2fbaf466-1f1e-4088-9c15-edfc6cd9f7b7" providerId="ADAL" clId="{90D3283F-6DE1-44E4-9ED1-67F9658F593E}" dt="2026-04-06T23:11:05.237" v="450" actId="1076"/>
          <ac:spMkLst>
            <pc:docMk/>
            <pc:sldMk cId="0" sldId="270"/>
            <ac:spMk id="4" creationId="{00000000-0000-0000-0000-000000000000}"/>
          </ac:spMkLst>
        </pc:spChg>
        <pc:spChg chg="mod">
          <ac:chgData name="Narasimmamoorthy, Ajay (US - California)" userId="2fbaf466-1f1e-4088-9c15-edfc6cd9f7b7" providerId="ADAL" clId="{90D3283F-6DE1-44E4-9ED1-67F9658F593E}" dt="2026-04-06T23:11:11.057" v="452" actId="207"/>
          <ac:spMkLst>
            <pc:docMk/>
            <pc:sldMk cId="0" sldId="270"/>
            <ac:spMk id="5"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6"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7" creationId="{00000000-0000-0000-0000-000000000000}"/>
          </ac:spMkLst>
        </pc:spChg>
        <pc:spChg chg="mod">
          <ac:chgData name="Narasimmamoorthy, Ajay (US - California)" userId="2fbaf466-1f1e-4088-9c15-edfc6cd9f7b7" providerId="ADAL" clId="{90D3283F-6DE1-44E4-9ED1-67F9658F593E}" dt="2026-04-06T23:13:46.427" v="478" actId="20577"/>
          <ac:spMkLst>
            <pc:docMk/>
            <pc:sldMk cId="0" sldId="270"/>
            <ac:spMk id="8"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9"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10" creationId="{00000000-0000-0000-0000-000000000000}"/>
          </ac:spMkLst>
        </pc:spChg>
        <pc:spChg chg="mod">
          <ac:chgData name="Narasimmamoorthy, Ajay (US - California)" userId="2fbaf466-1f1e-4088-9c15-edfc6cd9f7b7" providerId="ADAL" clId="{90D3283F-6DE1-44E4-9ED1-67F9658F593E}" dt="2026-04-06T23:09:09.490" v="404" actId="1076"/>
          <ac:spMkLst>
            <pc:docMk/>
            <pc:sldMk cId="0" sldId="270"/>
            <ac:spMk id="11" creationId="{00000000-0000-0000-0000-000000000000}"/>
          </ac:spMkLst>
        </pc:spChg>
        <pc:spChg chg="mod">
          <ac:chgData name="Narasimmamoorthy, Ajay (US - California)" userId="2fbaf466-1f1e-4088-9c15-edfc6cd9f7b7" providerId="ADAL" clId="{90D3283F-6DE1-44E4-9ED1-67F9658F593E}" dt="2026-04-06T23:09:14.204" v="405" actId="207"/>
          <ac:spMkLst>
            <pc:docMk/>
            <pc:sldMk cId="0" sldId="270"/>
            <ac:spMk id="1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5"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6"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8"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9" creationId="{00000000-0000-0000-0000-000000000000}"/>
          </ac:spMkLst>
        </pc:spChg>
        <pc:spChg chg="mod">
          <ac:chgData name="Narasimmamoorthy, Ajay (US - California)" userId="2fbaf466-1f1e-4088-9c15-edfc6cd9f7b7" providerId="ADAL" clId="{90D3283F-6DE1-44E4-9ED1-67F9658F593E}" dt="2026-04-06T23:09:46.664" v="419" actId="1076"/>
          <ac:spMkLst>
            <pc:docMk/>
            <pc:sldMk cId="0" sldId="270"/>
            <ac:spMk id="31" creationId="{00000000-0000-0000-0000-000000000000}"/>
          </ac:spMkLst>
        </pc:spChg>
        <pc:spChg chg="mod">
          <ac:chgData name="Narasimmamoorthy, Ajay (US - California)" userId="2fbaf466-1f1e-4088-9c15-edfc6cd9f7b7" providerId="ADAL" clId="{90D3283F-6DE1-44E4-9ED1-67F9658F593E}" dt="2026-04-06T23:09:28.469" v="410" actId="1076"/>
          <ac:spMkLst>
            <pc:docMk/>
            <pc:sldMk cId="0" sldId="270"/>
            <ac:spMk id="32" creationId="{00000000-0000-0000-0000-000000000000}"/>
          </ac:spMkLst>
        </pc:spChg>
        <pc:spChg chg="mod">
          <ac:chgData name="Narasimmamoorthy, Ajay (US - California)" userId="2fbaf466-1f1e-4088-9c15-edfc6cd9f7b7" providerId="ADAL" clId="{90D3283F-6DE1-44E4-9ED1-67F9658F593E}" dt="2026-04-06T23:09:31.048" v="413" actId="20577"/>
          <ac:spMkLst>
            <pc:docMk/>
            <pc:sldMk cId="0" sldId="270"/>
            <ac:spMk id="3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35" creationId="{00000000-0000-0000-0000-000000000000}"/>
          </ac:spMkLst>
        </pc:spChg>
        <pc:spChg chg="mod">
          <ac:chgData name="Narasimmamoorthy, Ajay (US - California)" userId="2fbaf466-1f1e-4088-9c15-edfc6cd9f7b7" providerId="ADAL" clId="{90D3283F-6DE1-44E4-9ED1-67F9658F593E}" dt="2026-04-06T23:09:41.653" v="417" actId="20577"/>
          <ac:spMkLst>
            <pc:docMk/>
            <pc:sldMk cId="0" sldId="270"/>
            <ac:spMk id="39" creationId="{00000000-0000-0000-0000-000000000000}"/>
          </ac:spMkLst>
        </pc:spChg>
        <pc:spChg chg="mod">
          <ac:chgData name="Narasimmamoorthy, Ajay (US - California)" userId="2fbaf466-1f1e-4088-9c15-edfc6cd9f7b7" providerId="ADAL" clId="{90D3283F-6DE1-44E4-9ED1-67F9658F593E}" dt="2026-04-06T23:09:59.127" v="443" actId="20577"/>
          <ac:spMkLst>
            <pc:docMk/>
            <pc:sldMk cId="0" sldId="270"/>
            <ac:spMk id="41" creationId="{00000000-0000-0000-0000-000000000000}"/>
          </ac:spMkLst>
        </pc:spChg>
        <pc:spChg chg="add mod ord">
          <ac:chgData name="Narasimmamoorthy, Ajay (US - California)" userId="2fbaf466-1f1e-4088-9c15-edfc6cd9f7b7" providerId="ADAL" clId="{90D3283F-6DE1-44E4-9ED1-67F9658F593E}" dt="2026-04-06T23:08:38.460" v="399" actId="700"/>
          <ac:spMkLst>
            <pc:docMk/>
            <pc:sldMk cId="0" sldId="270"/>
            <ac:spMk id="43" creationId="{5F54F111-20C4-CFD6-5DA2-F386841F8A88}"/>
          </ac:spMkLst>
        </pc:spChg>
      </pc:sldChg>
      <pc:sldChg chg="addSp delSp modSp mod modClrScheme chgLayout">
        <pc:chgData name="Narasimmamoorthy, Ajay (US - California)" userId="2fbaf466-1f1e-4088-9c15-edfc6cd9f7b7" providerId="ADAL" clId="{90D3283F-6DE1-44E4-9ED1-67F9658F593E}" dt="2026-04-06T23:17:29.524" v="514" actId="207"/>
        <pc:sldMkLst>
          <pc:docMk/>
          <pc:sldMk cId="0" sldId="271"/>
        </pc:sldMkLst>
        <pc:spChg chg="mod">
          <ac:chgData name="Narasimmamoorthy, Ajay (US - California)" userId="2fbaf466-1f1e-4088-9c15-edfc6cd9f7b7" providerId="ADAL" clId="{90D3283F-6DE1-44E4-9ED1-67F9658F593E}" dt="2026-04-06T23:10:45.963" v="448" actId="1076"/>
          <ac:spMkLst>
            <pc:docMk/>
            <pc:sldMk cId="0" sldId="271"/>
            <ac:spMk id="3" creationId="{00000000-0000-0000-0000-000000000000}"/>
          </ac:spMkLst>
        </pc:spChg>
        <pc:spChg chg="mod">
          <ac:chgData name="Narasimmamoorthy, Ajay (US - California)" userId="2fbaf466-1f1e-4088-9c15-edfc6cd9f7b7" providerId="ADAL" clId="{90D3283F-6DE1-44E4-9ED1-67F9658F593E}" dt="2026-04-06T23:10:45.963" v="448" actId="1076"/>
          <ac:spMkLst>
            <pc:docMk/>
            <pc:sldMk cId="0" sldId="271"/>
            <ac:spMk id="4" creationId="{00000000-0000-0000-0000-000000000000}"/>
          </ac:spMkLst>
        </pc:spChg>
        <pc:spChg chg="mod">
          <ac:chgData name="Narasimmamoorthy, Ajay (US - California)" userId="2fbaf466-1f1e-4088-9c15-edfc6cd9f7b7" providerId="ADAL" clId="{90D3283F-6DE1-44E4-9ED1-67F9658F593E}" dt="2026-04-06T23:17:29.524" v="514" actId="207"/>
          <ac:spMkLst>
            <pc:docMk/>
            <pc:sldMk cId="0" sldId="271"/>
            <ac:spMk id="5"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7"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25" creationId="{00000000-0000-0000-0000-000000000000}"/>
          </ac:spMkLst>
        </pc:spChg>
        <pc:spChg chg="mod">
          <ac:chgData name="Narasimmamoorthy, Ajay (US - California)" userId="2fbaf466-1f1e-4088-9c15-edfc6cd9f7b7" providerId="ADAL" clId="{90D3283F-6DE1-44E4-9ED1-67F9658F593E}" dt="2026-04-06T23:17:13.322" v="507" actId="207"/>
          <ac:spMkLst>
            <pc:docMk/>
            <pc:sldMk cId="0" sldId="271"/>
            <ac:spMk id="2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2"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4"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5" creationId="{00000000-0000-0000-0000-000000000000}"/>
          </ac:spMkLst>
        </pc:spChg>
        <pc:spChg chg="mod">
          <ac:chgData name="Narasimmamoorthy, Ajay (US - California)" userId="2fbaf466-1f1e-4088-9c15-edfc6cd9f7b7" providerId="ADAL" clId="{90D3283F-6DE1-44E4-9ED1-67F9658F593E}" dt="2026-04-06T23:17:22.384" v="513" actId="20577"/>
          <ac:spMkLst>
            <pc:docMk/>
            <pc:sldMk cId="0" sldId="271"/>
            <ac:spMk id="36"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7" creationId="{00000000-0000-0000-0000-000000000000}"/>
          </ac:spMkLst>
        </pc:spChg>
        <pc:spChg chg="mod">
          <ac:chgData name="Narasimmamoorthy, Ajay (US - California)" userId="2fbaf466-1f1e-4088-9c15-edfc6cd9f7b7" providerId="ADAL" clId="{90D3283F-6DE1-44E4-9ED1-67F9658F593E}" dt="2026-04-06T23:17:16.167" v="508" actId="1076"/>
          <ac:spMkLst>
            <pc:docMk/>
            <pc:sldMk cId="0" sldId="271"/>
            <ac:spMk id="38" creationId="{00000000-0000-0000-0000-000000000000}"/>
          </ac:spMkLst>
        </pc:spChg>
        <pc:spChg chg="add mod ord">
          <ac:chgData name="Narasimmamoorthy, Ajay (US - California)" userId="2fbaf466-1f1e-4088-9c15-edfc6cd9f7b7" providerId="ADAL" clId="{90D3283F-6DE1-44E4-9ED1-67F9658F593E}" dt="2026-04-06T23:10:28.015" v="445" actId="700"/>
          <ac:spMkLst>
            <pc:docMk/>
            <pc:sldMk cId="0" sldId="271"/>
            <ac:spMk id="40" creationId="{2B068D00-0FBB-4159-06BF-142B8643F1BE}"/>
          </ac:spMkLst>
        </pc:spChg>
      </pc:sldChg>
      <pc:sldChg chg="addSp delSp modSp mod modClrScheme chgLayout">
        <pc:chgData name="Narasimmamoorthy, Ajay (US - California)" userId="2fbaf466-1f1e-4088-9c15-edfc6cd9f7b7" providerId="ADAL" clId="{90D3283F-6DE1-44E4-9ED1-67F9658F593E}" dt="2026-04-06T23:15:06.561" v="490" actId="207"/>
        <pc:sldMkLst>
          <pc:docMk/>
          <pc:sldMk cId="0" sldId="272"/>
        </pc:sldMkLst>
        <pc:spChg chg="mod">
          <ac:chgData name="Narasimmamoorthy, Ajay (US - California)" userId="2fbaf466-1f1e-4088-9c15-edfc6cd9f7b7" providerId="ADAL" clId="{90D3283F-6DE1-44E4-9ED1-67F9658F593E}" dt="2026-04-06T23:14:46.449" v="485" actId="1076"/>
          <ac:spMkLst>
            <pc:docMk/>
            <pc:sldMk cId="0" sldId="272"/>
            <ac:spMk id="3" creationId="{00000000-0000-0000-0000-000000000000}"/>
          </ac:spMkLst>
        </pc:spChg>
        <pc:spChg chg="mod">
          <ac:chgData name="Narasimmamoorthy, Ajay (US - California)" userId="2fbaf466-1f1e-4088-9c15-edfc6cd9f7b7" providerId="ADAL" clId="{90D3283F-6DE1-44E4-9ED1-67F9658F593E}" dt="2026-04-06T23:14:46.449" v="485" actId="1076"/>
          <ac:spMkLst>
            <pc:docMk/>
            <pc:sldMk cId="0" sldId="272"/>
            <ac:spMk id="4" creationId="{00000000-0000-0000-0000-000000000000}"/>
          </ac:spMkLst>
        </pc:spChg>
        <pc:spChg chg="mod">
          <ac:chgData name="Narasimmamoorthy, Ajay (US - California)" userId="2fbaf466-1f1e-4088-9c15-edfc6cd9f7b7" providerId="ADAL" clId="{90D3283F-6DE1-44E4-9ED1-67F9658F593E}" dt="2026-04-06T23:14:52.887" v="487" actId="207"/>
          <ac:spMkLst>
            <pc:docMk/>
            <pc:sldMk cId="0" sldId="272"/>
            <ac:spMk id="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9" creationId="{00000000-0000-0000-0000-000000000000}"/>
          </ac:spMkLst>
        </pc:spChg>
        <pc:spChg chg="mod">
          <ac:chgData name="Narasimmamoorthy, Ajay (US - California)" userId="2fbaf466-1f1e-4088-9c15-edfc6cd9f7b7" providerId="ADAL" clId="{90D3283F-6DE1-44E4-9ED1-67F9658F593E}" dt="2026-04-06T23:14:59.553" v="488" actId="207"/>
          <ac:spMkLst>
            <pc:docMk/>
            <pc:sldMk cId="0" sldId="272"/>
            <ac:spMk id="12"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6"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1"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6" creationId="{00000000-0000-0000-0000-000000000000}"/>
          </ac:spMkLst>
        </pc:spChg>
        <pc:spChg chg="mod">
          <ac:chgData name="Narasimmamoorthy, Ajay (US - California)" userId="2fbaf466-1f1e-4088-9c15-edfc6cd9f7b7" providerId="ADAL" clId="{90D3283F-6DE1-44E4-9ED1-67F9658F593E}" dt="2026-04-06T23:15:06.561" v="490" actId="207"/>
          <ac:spMkLst>
            <pc:docMk/>
            <pc:sldMk cId="0" sldId="272"/>
            <ac:spMk id="28"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0"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4"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5" creationId="{00000000-0000-0000-0000-000000000000}"/>
          </ac:spMkLst>
        </pc:spChg>
        <pc:spChg chg="mod">
          <ac:chgData name="Narasimmamoorthy, Ajay (US - California)" userId="2fbaf466-1f1e-4088-9c15-edfc6cd9f7b7" providerId="ADAL" clId="{90D3283F-6DE1-44E4-9ED1-67F9658F593E}" dt="2026-04-06T23:15:03.312" v="489" actId="1076"/>
          <ac:spMkLst>
            <pc:docMk/>
            <pc:sldMk cId="0" sldId="272"/>
            <ac:spMk id="38" creationId="{00000000-0000-0000-0000-000000000000}"/>
          </ac:spMkLst>
        </pc:spChg>
      </pc:sldChg>
      <pc:sldChg chg="modSp mod">
        <pc:chgData name="Narasimmamoorthy, Ajay (US - California)" userId="2fbaf466-1f1e-4088-9c15-edfc6cd9f7b7" providerId="ADAL" clId="{90D3283F-6DE1-44E4-9ED1-67F9658F593E}" dt="2026-04-06T23:15:32.074" v="495" actId="207"/>
        <pc:sldMkLst>
          <pc:docMk/>
          <pc:sldMk cId="0" sldId="273"/>
        </pc:sldMkLst>
        <pc:spChg chg="mod">
          <ac:chgData name="Narasimmamoorthy, Ajay (US - California)" userId="2fbaf466-1f1e-4088-9c15-edfc6cd9f7b7" providerId="ADAL" clId="{90D3283F-6DE1-44E4-9ED1-67F9658F593E}" dt="2026-04-06T23:15:23.311" v="491" actId="207"/>
          <ac:spMkLst>
            <pc:docMk/>
            <pc:sldMk cId="0" sldId="273"/>
            <ac:spMk id="3" creationId="{00000000-0000-0000-0000-000000000000}"/>
          </ac:spMkLst>
        </pc:spChg>
        <pc:graphicFrameChg chg="modGraphic">
          <ac:chgData name="Narasimmamoorthy, Ajay (US - California)" userId="2fbaf466-1f1e-4088-9c15-edfc6cd9f7b7" providerId="ADAL" clId="{90D3283F-6DE1-44E4-9ED1-67F9658F593E}" dt="2026-04-06T23:15:32.074" v="495" actId="207"/>
          <ac:graphicFrameMkLst>
            <pc:docMk/>
            <pc:sldMk cId="0" sldId="273"/>
            <ac:graphicFrameMk id="4" creationId="{00000000-0000-0000-0000-000000000000}"/>
          </ac:graphicFrameMkLst>
        </pc:graphicFrameChg>
      </pc:sldChg>
      <pc:sldChg chg="addSp delSp modSp new mod">
        <pc:chgData name="Narasimmamoorthy, Ajay (US - California)" userId="2fbaf466-1f1e-4088-9c15-edfc6cd9f7b7" providerId="ADAL" clId="{90D3283F-6DE1-44E4-9ED1-67F9658F593E}" dt="2026-04-06T21:17:42.101" v="178" actId="478"/>
        <pc:sldMkLst>
          <pc:docMk/>
          <pc:sldMk cId="640372230" sldId="276"/>
        </pc:sldMkLst>
        <pc:spChg chg="add mod">
          <ac:chgData name="Narasimmamoorthy, Ajay (US - California)" userId="2fbaf466-1f1e-4088-9c15-edfc6cd9f7b7" providerId="ADAL" clId="{90D3283F-6DE1-44E4-9ED1-67F9658F593E}" dt="2026-04-06T21:13:40.332" v="167" actId="207"/>
          <ac:spMkLst>
            <pc:docMk/>
            <pc:sldMk cId="640372230" sldId="276"/>
            <ac:spMk id="4" creationId="{00000000-0000-0000-0000-000000000000}"/>
          </ac:spMkLst>
        </pc:spChg>
        <pc:spChg chg="mod">
          <ac:chgData name="Narasimmamoorthy, Ajay (US - California)" userId="2fbaf466-1f1e-4088-9c15-edfc6cd9f7b7" providerId="ADAL" clId="{90D3283F-6DE1-44E4-9ED1-67F9658F593E}" dt="2026-04-06T21:14:31.674" v="171" actId="20577"/>
          <ac:spMkLst>
            <pc:docMk/>
            <pc:sldMk cId="640372230" sldId="276"/>
            <ac:spMk id="5" creationId="{00000000-0000-0000-0000-000000000000}"/>
          </ac:spMkLst>
        </pc:spChg>
        <pc:spChg chg="mod">
          <ac:chgData name="Narasimmamoorthy, Ajay (US - California)" userId="2fbaf466-1f1e-4088-9c15-edfc6cd9f7b7" providerId="ADAL" clId="{90D3283F-6DE1-44E4-9ED1-67F9658F593E}" dt="2026-04-06T21:14:45.326" v="174" actId="207"/>
          <ac:spMkLst>
            <pc:docMk/>
            <pc:sldMk cId="640372230" sldId="276"/>
            <ac:spMk id="6"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9" creationId="{00000000-0000-0000-0000-000000000000}"/>
          </ac:spMkLst>
        </pc:spChg>
        <pc:spChg chg="mod">
          <ac:chgData name="Narasimmamoorthy, Ajay (US - California)" userId="2fbaf466-1f1e-4088-9c15-edfc6cd9f7b7" providerId="ADAL" clId="{90D3283F-6DE1-44E4-9ED1-67F9658F593E}" dt="2026-04-06T21:14:47.337" v="175" actId="207"/>
          <ac:spMkLst>
            <pc:docMk/>
            <pc:sldMk cId="640372230" sldId="276"/>
            <ac:spMk id="10"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13" creationId="{00000000-0000-0000-0000-000000000000}"/>
          </ac:spMkLst>
        </pc:spChg>
        <pc:spChg chg="add mod">
          <ac:chgData name="Narasimmamoorthy, Ajay (US - California)" userId="2fbaf466-1f1e-4088-9c15-edfc6cd9f7b7" providerId="ADAL" clId="{90D3283F-6DE1-44E4-9ED1-67F9658F593E}" dt="2026-04-06T21:14:49.874" v="176" actId="207"/>
          <ac:spMkLst>
            <pc:docMk/>
            <pc:sldMk cId="640372230" sldId="276"/>
            <ac:spMk id="14" creationId="{00000000-0000-0000-0000-000000000000}"/>
          </ac:spMkLst>
        </pc:spChg>
        <pc:spChg chg="mod">
          <ac:chgData name="Narasimmamoorthy, Ajay (US - California)" userId="2fbaf466-1f1e-4088-9c15-edfc6cd9f7b7" providerId="ADAL" clId="{90D3283F-6DE1-44E4-9ED1-67F9658F593E}" dt="2026-04-06T21:17:36.605" v="177" actId="207"/>
          <ac:spMkLst>
            <pc:docMk/>
            <pc:sldMk cId="640372230" sldId="276"/>
            <ac:spMk id="1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9"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22"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3"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4" creationId="{00000000-0000-0000-0000-000000000000}"/>
          </ac:spMkLst>
        </pc:spChg>
        <pc:spChg chg="add mod">
          <ac:chgData name="Narasimmamoorthy, Ajay (US - California)" userId="2fbaf466-1f1e-4088-9c15-edfc6cd9f7b7" providerId="ADAL" clId="{90D3283F-6DE1-44E4-9ED1-67F9658F593E}" dt="2026-04-06T21:13:24.139" v="166"/>
          <ac:spMkLst>
            <pc:docMk/>
            <pc:sldMk cId="640372230" sldId="276"/>
            <ac:spMk id="25" creationId="{00000000-0000-0000-0000-000000000000}"/>
          </ac:spMkLst>
        </pc:spChg>
      </pc:sldChg>
      <pc:sldChg chg="addSp delSp modSp new mod">
        <pc:chgData name="Narasimmamoorthy, Ajay (US - California)" userId="2fbaf466-1f1e-4088-9c15-edfc6cd9f7b7" providerId="ADAL" clId="{90D3283F-6DE1-44E4-9ED1-67F9658F593E}" dt="2026-04-06T22:56:32.509" v="280" actId="20577"/>
        <pc:sldMkLst>
          <pc:docMk/>
          <pc:sldMk cId="99428424" sldId="277"/>
        </pc:sldMkLst>
        <pc:spChg chg="add mod">
          <ac:chgData name="Narasimmamoorthy, Ajay (US - California)" userId="2fbaf466-1f1e-4088-9c15-edfc6cd9f7b7" providerId="ADAL" clId="{90D3283F-6DE1-44E4-9ED1-67F9658F593E}" dt="2026-04-06T22:55:27.736" v="271" actId="207"/>
          <ac:spMkLst>
            <pc:docMk/>
            <pc:sldMk cId="99428424" sldId="277"/>
            <ac:spMk id="4" creationId="{5F7E96DB-C6B2-FA57-6AC9-C92A753A08E5}"/>
          </ac:spMkLst>
        </pc:spChg>
        <pc:spChg chg="mod">
          <ac:chgData name="Narasimmamoorthy, Ajay (US - California)" userId="2fbaf466-1f1e-4088-9c15-edfc6cd9f7b7" providerId="ADAL" clId="{90D3283F-6DE1-44E4-9ED1-67F9658F593E}" dt="2026-04-06T22:55:51.737" v="277" actId="1035"/>
          <ac:spMkLst>
            <pc:docMk/>
            <pc:sldMk cId="99428424" sldId="277"/>
            <ac:spMk id="5" creationId="{C0200C23-2EB5-F087-F6B8-E14954FA94D7}"/>
          </ac:spMkLst>
        </pc:spChg>
        <pc:spChg chg="mod">
          <ac:chgData name="Narasimmamoorthy, Ajay (US - California)" userId="2fbaf466-1f1e-4088-9c15-edfc6cd9f7b7" providerId="ADAL" clId="{90D3283F-6DE1-44E4-9ED1-67F9658F593E}" dt="2026-04-06T22:55:22.253" v="270" actId="207"/>
          <ac:spMkLst>
            <pc:docMk/>
            <pc:sldMk cId="99428424" sldId="277"/>
            <ac:spMk id="6" creationId="{06D01B4D-9236-4B48-1594-2AED89F20372}"/>
          </ac:spMkLst>
        </pc:spChg>
        <pc:spChg chg="add mod">
          <ac:chgData name="Narasimmamoorthy, Ajay (US - California)" userId="2fbaf466-1f1e-4088-9c15-edfc6cd9f7b7" providerId="ADAL" clId="{90D3283F-6DE1-44E4-9ED1-67F9658F593E}" dt="2026-04-06T22:54:55.939" v="267"/>
          <ac:spMkLst>
            <pc:docMk/>
            <pc:sldMk cId="99428424" sldId="277"/>
            <ac:spMk id="7" creationId="{E068CD8D-A98C-9133-A1B0-1856EBDE0072}"/>
          </ac:spMkLst>
        </pc:spChg>
        <pc:spChg chg="add mod">
          <ac:chgData name="Narasimmamoorthy, Ajay (US - California)" userId="2fbaf466-1f1e-4088-9c15-edfc6cd9f7b7" providerId="ADAL" clId="{90D3283F-6DE1-44E4-9ED1-67F9658F593E}" dt="2026-04-06T22:54:55.939" v="267"/>
          <ac:spMkLst>
            <pc:docMk/>
            <pc:sldMk cId="99428424" sldId="277"/>
            <ac:spMk id="10" creationId="{5332C4E7-2C8A-33B3-E056-D175431F3676}"/>
          </ac:spMkLst>
        </pc:spChg>
        <pc:spChg chg="mod">
          <ac:chgData name="Narasimmamoorthy, Ajay (US - California)" userId="2fbaf466-1f1e-4088-9c15-edfc6cd9f7b7" providerId="ADAL" clId="{90D3283F-6DE1-44E4-9ED1-67F9658F593E}" dt="2026-04-06T22:56:32.509" v="280" actId="20577"/>
          <ac:spMkLst>
            <pc:docMk/>
            <pc:sldMk cId="99428424" sldId="277"/>
            <ac:spMk id="11" creationId="{16D31896-4339-3686-C705-CE43AECA3325}"/>
          </ac:spMkLst>
        </pc:spChg>
        <pc:spChg chg="add mod">
          <ac:chgData name="Narasimmamoorthy, Ajay (US - California)" userId="2fbaf466-1f1e-4088-9c15-edfc6cd9f7b7" providerId="ADAL" clId="{90D3283F-6DE1-44E4-9ED1-67F9658F593E}" dt="2026-04-06T22:55:22.253" v="270" actId="207"/>
          <ac:spMkLst>
            <pc:docMk/>
            <pc:sldMk cId="99428424" sldId="277"/>
            <ac:spMk id="12" creationId="{ED62BA24-1399-9AA2-0CEB-DB5A505724A0}"/>
          </ac:spMkLst>
        </pc:spChg>
        <pc:spChg chg="add mod">
          <ac:chgData name="Narasimmamoorthy, Ajay (US - California)" userId="2fbaf466-1f1e-4088-9c15-edfc6cd9f7b7" providerId="ADAL" clId="{90D3283F-6DE1-44E4-9ED1-67F9658F593E}" dt="2026-04-06T22:55:22.253" v="270" actId="207"/>
          <ac:spMkLst>
            <pc:docMk/>
            <pc:sldMk cId="99428424" sldId="277"/>
            <ac:spMk id="18" creationId="{1A8E3EB8-E0E6-FDE1-94A3-5A24D16787CF}"/>
          </ac:spMkLst>
        </pc:spChg>
        <pc:spChg chg="add mod">
          <ac:chgData name="Narasimmamoorthy, Ajay (US - California)" userId="2fbaf466-1f1e-4088-9c15-edfc6cd9f7b7" providerId="ADAL" clId="{90D3283F-6DE1-44E4-9ED1-67F9658F593E}" dt="2026-04-06T22:54:55.939" v="267"/>
          <ac:spMkLst>
            <pc:docMk/>
            <pc:sldMk cId="99428424" sldId="277"/>
            <ac:spMk id="20" creationId="{00ACA418-FEF8-C280-1DD7-C4E6D41B35AE}"/>
          </ac:spMkLst>
        </pc:spChg>
        <pc:spChg chg="add mod">
          <ac:chgData name="Narasimmamoorthy, Ajay (US - California)" userId="2fbaf466-1f1e-4088-9c15-edfc6cd9f7b7" providerId="ADAL" clId="{90D3283F-6DE1-44E4-9ED1-67F9658F593E}" dt="2026-04-06T22:54:55.939" v="267"/>
          <ac:spMkLst>
            <pc:docMk/>
            <pc:sldMk cId="99428424" sldId="277"/>
            <ac:spMk id="21" creationId="{F7DEDF88-60FA-9ED4-3445-2B8D16BA79FE}"/>
          </ac:spMkLst>
        </pc:spChg>
        <pc:spChg chg="mod">
          <ac:chgData name="Narasimmamoorthy, Ajay (US - California)" userId="2fbaf466-1f1e-4088-9c15-edfc6cd9f7b7" providerId="ADAL" clId="{90D3283F-6DE1-44E4-9ED1-67F9658F593E}" dt="2026-04-06T22:55:22.253" v="270" actId="207"/>
          <ac:spMkLst>
            <pc:docMk/>
            <pc:sldMk cId="99428424" sldId="277"/>
            <ac:spMk id="24" creationId="{A1E995E2-E2BD-583B-8024-414C3DD0CFC2}"/>
          </ac:spMkLst>
        </pc:spChg>
        <pc:spChg chg="add mod">
          <ac:chgData name="Narasimmamoorthy, Ajay (US - California)" userId="2fbaf466-1f1e-4088-9c15-edfc6cd9f7b7" providerId="ADAL" clId="{90D3283F-6DE1-44E4-9ED1-67F9658F593E}" dt="2026-04-06T22:54:55.939" v="267"/>
          <ac:spMkLst>
            <pc:docMk/>
            <pc:sldMk cId="99428424" sldId="277"/>
            <ac:spMk id="27" creationId="{7D2CCFAC-2CED-9A88-ADBD-21360DBAB41E}"/>
          </ac:spMkLst>
        </pc:spChg>
        <pc:spChg chg="add mod">
          <ac:chgData name="Narasimmamoorthy, Ajay (US - California)" userId="2fbaf466-1f1e-4088-9c15-edfc6cd9f7b7" providerId="ADAL" clId="{90D3283F-6DE1-44E4-9ED1-67F9658F593E}" dt="2026-04-06T22:55:22.253" v="270" actId="207"/>
          <ac:spMkLst>
            <pc:docMk/>
            <pc:sldMk cId="99428424" sldId="277"/>
            <ac:spMk id="30" creationId="{F30D38C9-417E-D7D7-782D-B748F53518A7}"/>
          </ac:spMkLst>
        </pc:spChg>
        <pc:spChg chg="mod">
          <ac:chgData name="Narasimmamoorthy, Ajay (US - California)" userId="2fbaf466-1f1e-4088-9c15-edfc6cd9f7b7" providerId="ADAL" clId="{90D3283F-6DE1-44E4-9ED1-67F9658F593E}" dt="2026-04-06T22:55:22.253" v="270" actId="207"/>
          <ac:spMkLst>
            <pc:docMk/>
            <pc:sldMk cId="99428424" sldId="277"/>
            <ac:spMk id="33" creationId="{CB41CACA-1A7B-3B51-71D9-23889B57F565}"/>
          </ac:spMkLst>
        </pc:spChg>
        <pc:spChg chg="mod">
          <ac:chgData name="Narasimmamoorthy, Ajay (US - California)" userId="2fbaf466-1f1e-4088-9c15-edfc6cd9f7b7" providerId="ADAL" clId="{90D3283F-6DE1-44E4-9ED1-67F9658F593E}" dt="2026-04-06T22:55:32.437" v="272" actId="207"/>
          <ac:spMkLst>
            <pc:docMk/>
            <pc:sldMk cId="99428424" sldId="277"/>
            <ac:spMk id="36" creationId="{7B9CB877-58DF-328A-E226-276D1A5FEF28}"/>
          </ac:spMkLst>
        </pc:spChg>
        <pc:spChg chg="add mod">
          <ac:chgData name="Narasimmamoorthy, Ajay (US - California)" userId="2fbaf466-1f1e-4088-9c15-edfc6cd9f7b7" providerId="ADAL" clId="{90D3283F-6DE1-44E4-9ED1-67F9658F593E}" dt="2026-04-06T22:54:55.939" v="267"/>
          <ac:spMkLst>
            <pc:docMk/>
            <pc:sldMk cId="99428424" sldId="277"/>
            <ac:spMk id="37" creationId="{7511BDE5-EDBF-990D-4967-5F8BFDD28DDE}"/>
          </ac:spMkLst>
        </pc:spChg>
      </pc:sldChg>
      <pc:sldChg chg="addSp delSp modSp new mod">
        <pc:chgData name="Narasimmamoorthy, Ajay (US - California)" userId="2fbaf466-1f1e-4088-9c15-edfc6cd9f7b7" providerId="ADAL" clId="{90D3283F-6DE1-44E4-9ED1-67F9658F593E}" dt="2026-04-06T23:04:04.082" v="358" actId="6549"/>
        <pc:sldMkLst>
          <pc:docMk/>
          <pc:sldMk cId="3853012020" sldId="278"/>
        </pc:sldMkLst>
        <pc:spChg chg="add mod">
          <ac:chgData name="Narasimmamoorthy, Ajay (US - California)" userId="2fbaf466-1f1e-4088-9c15-edfc6cd9f7b7" providerId="ADAL" clId="{90D3283F-6DE1-44E4-9ED1-67F9658F593E}" dt="2026-04-06T23:01:39.351" v="333"/>
          <ac:spMkLst>
            <pc:docMk/>
            <pc:sldMk cId="3853012020" sldId="278"/>
            <ac:spMk id="5" creationId="{6BA05EF3-8D1D-5B61-286C-A74814C15B88}"/>
          </ac:spMkLst>
        </pc:spChg>
        <pc:spChg chg="add mod">
          <ac:chgData name="Narasimmamoorthy, Ajay (US - California)" userId="2fbaf466-1f1e-4088-9c15-edfc6cd9f7b7" providerId="ADAL" clId="{90D3283F-6DE1-44E4-9ED1-67F9658F593E}" dt="2026-04-06T23:01:39.351" v="333"/>
          <ac:spMkLst>
            <pc:docMk/>
            <pc:sldMk cId="3853012020" sldId="278"/>
            <ac:spMk id="6" creationId="{2BC7BC54-A21B-D018-BAC9-9E39A69F2933}"/>
          </ac:spMkLst>
        </pc:spChg>
        <pc:spChg chg="add mod">
          <ac:chgData name="Narasimmamoorthy, Ajay (US - California)" userId="2fbaf466-1f1e-4088-9c15-edfc6cd9f7b7" providerId="ADAL" clId="{90D3283F-6DE1-44E4-9ED1-67F9658F593E}" dt="2026-04-06T23:01:39.351" v="333"/>
          <ac:spMkLst>
            <pc:docMk/>
            <pc:sldMk cId="3853012020" sldId="278"/>
            <ac:spMk id="7" creationId="{57FA3997-D93D-4090-2CCA-11A591C7B3B2}"/>
          </ac:spMkLst>
        </pc:spChg>
        <pc:spChg chg="add mod">
          <ac:chgData name="Narasimmamoorthy, Ajay (US - California)" userId="2fbaf466-1f1e-4088-9c15-edfc6cd9f7b7" providerId="ADAL" clId="{90D3283F-6DE1-44E4-9ED1-67F9658F593E}" dt="2026-04-06T23:01:39.351" v="333"/>
          <ac:spMkLst>
            <pc:docMk/>
            <pc:sldMk cId="3853012020" sldId="278"/>
            <ac:spMk id="8" creationId="{C89CC33F-1B06-F994-7FEB-4D9638950AB9}"/>
          </ac:spMkLst>
        </pc:spChg>
        <pc:spChg chg="add mod">
          <ac:chgData name="Narasimmamoorthy, Ajay (US - California)" userId="2fbaf466-1f1e-4088-9c15-edfc6cd9f7b7" providerId="ADAL" clId="{90D3283F-6DE1-44E4-9ED1-67F9658F593E}" dt="2026-04-06T23:01:39.351" v="333"/>
          <ac:spMkLst>
            <pc:docMk/>
            <pc:sldMk cId="3853012020" sldId="278"/>
            <ac:spMk id="9" creationId="{4D68C9F0-2181-FB51-7A25-97364A34DA80}"/>
          </ac:spMkLst>
        </pc:spChg>
        <pc:spChg chg="add mod">
          <ac:chgData name="Narasimmamoorthy, Ajay (US - California)" userId="2fbaf466-1f1e-4088-9c15-edfc6cd9f7b7" providerId="ADAL" clId="{90D3283F-6DE1-44E4-9ED1-67F9658F593E}" dt="2026-04-06T23:01:39.351" v="333"/>
          <ac:spMkLst>
            <pc:docMk/>
            <pc:sldMk cId="3853012020" sldId="278"/>
            <ac:spMk id="10" creationId="{D8740885-A532-A860-1B1E-0CEF5FB1CA44}"/>
          </ac:spMkLst>
        </pc:spChg>
        <pc:spChg chg="add mod">
          <ac:chgData name="Narasimmamoorthy, Ajay (US - California)" userId="2fbaf466-1f1e-4088-9c15-edfc6cd9f7b7" providerId="ADAL" clId="{90D3283F-6DE1-44E4-9ED1-67F9658F593E}" dt="2026-04-06T23:01:39.351" v="333"/>
          <ac:spMkLst>
            <pc:docMk/>
            <pc:sldMk cId="3853012020" sldId="278"/>
            <ac:spMk id="11" creationId="{876CAFF5-F4F1-98DA-58B5-4341C7A726FB}"/>
          </ac:spMkLst>
        </pc:spChg>
        <pc:spChg chg="add mod">
          <ac:chgData name="Narasimmamoorthy, Ajay (US - California)" userId="2fbaf466-1f1e-4088-9c15-edfc6cd9f7b7" providerId="ADAL" clId="{90D3283F-6DE1-44E4-9ED1-67F9658F593E}" dt="2026-04-06T23:01:39.351" v="333"/>
          <ac:spMkLst>
            <pc:docMk/>
            <pc:sldMk cId="3853012020" sldId="278"/>
            <ac:spMk id="12" creationId="{D816CCF7-7B68-5BA4-84A3-3F33ADA9F278}"/>
          </ac:spMkLst>
        </pc:spChg>
        <pc:spChg chg="add mod">
          <ac:chgData name="Narasimmamoorthy, Ajay (US - California)" userId="2fbaf466-1f1e-4088-9c15-edfc6cd9f7b7" providerId="ADAL" clId="{90D3283F-6DE1-44E4-9ED1-67F9658F593E}" dt="2026-04-06T23:01:46.504" v="334" actId="207"/>
          <ac:spMkLst>
            <pc:docMk/>
            <pc:sldMk cId="3853012020" sldId="278"/>
            <ac:spMk id="13" creationId="{102DCC97-858F-D191-E677-1AFC8EF5895B}"/>
          </ac:spMkLst>
        </pc:spChg>
        <pc:spChg chg="add mod">
          <ac:chgData name="Narasimmamoorthy, Ajay (US - California)" userId="2fbaf466-1f1e-4088-9c15-edfc6cd9f7b7" providerId="ADAL" clId="{90D3283F-6DE1-44E4-9ED1-67F9658F593E}" dt="2026-04-06T23:04:04.082" v="358" actId="6549"/>
          <ac:spMkLst>
            <pc:docMk/>
            <pc:sldMk cId="3853012020" sldId="278"/>
            <ac:spMk id="17" creationId="{70D08771-9543-A475-B46F-DF5D3B19631E}"/>
          </ac:spMkLst>
        </pc:spChg>
      </pc:sldChg>
      <pc:sldChg chg="addSp modSp new mod">
        <pc:chgData name="Narasimmamoorthy, Ajay (US - California)" userId="2fbaf466-1f1e-4088-9c15-edfc6cd9f7b7" providerId="ADAL" clId="{90D3283F-6DE1-44E4-9ED1-67F9658F593E}" dt="2026-04-06T23:16:37.987" v="505" actId="1076"/>
        <pc:sldMkLst>
          <pc:docMk/>
          <pc:sldMk cId="1962439791" sldId="279"/>
        </pc:sldMkLst>
        <pc:spChg chg="add mod">
          <ac:chgData name="Narasimmamoorthy, Ajay (US - California)" userId="2fbaf466-1f1e-4088-9c15-edfc6cd9f7b7" providerId="ADAL" clId="{90D3283F-6DE1-44E4-9ED1-67F9658F593E}" dt="2026-04-06T23:16:37.987" v="505" actId="1076"/>
          <ac:spMkLst>
            <pc:docMk/>
            <pc:sldMk cId="1962439791" sldId="279"/>
            <ac:spMk id="21" creationId="{00000000-0000-0000-0000-000000000000}"/>
          </ac:spMkLst>
        </pc:spChg>
      </pc:sldChg>
      <pc:sldMasterChg chg="new mod addSldLayout">
        <pc:chgData name="Narasimmamoorthy, Ajay (US - California)" userId="2fbaf466-1f1e-4088-9c15-edfc6cd9f7b7" providerId="ADAL" clId="{90D3283F-6DE1-44E4-9ED1-67F9658F593E}" dt="2026-04-06T20:51:43.167" v="0" actId="6938"/>
        <pc:sldMasterMkLst>
          <pc:docMk/>
          <pc:sldMasterMk cId="1472269581" sldId="2147483661"/>
        </pc:sldMasterMkLst>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554084903" sldId="2147483662"/>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21574925" sldId="2147483663"/>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331560167" sldId="2147483664"/>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052025779" sldId="2147483665"/>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150275635" sldId="2147483666"/>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19596318" sldId="2147483667"/>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209970135" sldId="2147483668"/>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961683119" sldId="2147483669"/>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87264672" sldId="2147483670"/>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655134593" sldId="2147483671"/>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379889873"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Fiserv Crypto &amp; Stablecoin Acceptance Strategy</a:t>
            </a:r>
          </a:p>
          <a:p>
            <a:r>
              <a:t>============================================================</a:t>
            </a:r>
          </a:p>
          <a:p/>
          <a:p>
            <a:r>
              <a:t>TALKING POINTS:</a:t>
            </a:r>
          </a:p>
          <a:p>
            <a:r>
              <a:t>• Frame: strategy deck for executive leadership ahead of Investor Day</a:t>
            </a:r>
          </a:p>
          <a:p>
            <a:r>
              <a:t>• We will land on a clear recommendation, not an exploration</a:t>
            </a:r>
          </a:p>
          <a:p>
            <a:r>
              <a:t>• Ground rule: this is about acceptance, not a consumer brand or a crypto play for retail</a:t>
            </a:r>
          </a:p>
          <a:p>
            <a:r>
              <a:t>• The ask at the end: endorse a phased start with Coinbase on cross-border / settlement / gaming</a:t>
            </a:r>
          </a:p>
          <a:p/>
          <a:p>
            <a:r>
              <a:t>SCRIPT:</a:t>
            </a:r>
          </a:p>
          <a:p>
            <a:r>
              <a:t>Good morning. Over the next twenty minutes I'll take you through our crypto and stablecoin acceptance strategy, framed specifically for the Investor Day story. This is a strategy deck, not a customer pitch — so I'll land on a concrete recommendation rather than options. Three things to keep in mind as we go: first, this is about payment acceptance, not about Fiserv becoming a consumer crypto brand. Second, stablecoins and agentic commerce are related but distinct efforts — I'll keep them separate. And third, the ask at the end will be modest and phased: start narrow with Coinbase in the verticals where we already see early adoption, then add partners as volume justifies it.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Strategic Recommendation Summary</a:t>
            </a:r>
          </a:p>
          <a:p>
            <a:r>
              <a:t>============================================================</a:t>
            </a:r>
          </a:p>
          <a:p/>
          <a:p>
            <a:r>
              <a:t>TALKING POINTS:</a:t>
            </a:r>
          </a:p>
          <a:p>
            <a:r>
              <a:t>• Start with the punchline so the rest of the deck is context</a:t>
            </a:r>
          </a:p>
          <a:p>
            <a:r>
              <a:t>• Where: cross-border, faster settlement, gaming as early movers</a:t>
            </a:r>
          </a:p>
          <a:p>
            <a:r>
              <a:t>• Use cases evaluated: the four prototypes on slides 16–19</a:t>
            </a:r>
          </a:p>
          <a:p>
            <a:r>
              <a:t>• The gap: agent-to-agent commerce needs crypto + microtransaction rails</a:t>
            </a:r>
          </a:p>
          <a:p>
            <a:r>
              <a:t>• Partner: Coinbase first (existing Fiserv customer), add others as volume scales</a:t>
            </a:r>
          </a:p>
          <a:p/>
          <a:p>
            <a:r>
              <a:t>SCRIPT:</a:t>
            </a:r>
          </a:p>
          <a:p>
            <a:r>
              <a:t>Let me start with the punchline so the rest of the deck is context, not suspense. First, where does crypto play for Fiserv today? Three places: cross-border payments, faster settlement, and high-growth verticals — specifically gaming as an early mover. We are not betting on broad consumer crypto checkout; merchant and consumer acceptance there is still TBD. Second, the use cases we evaluated are the four prototypes you'll see later in the deck — yield sweep, pay-by-agent, supplier pay, and cross-border instant settlement. Third, there is a real gap we need to close: agent-to-agent and machine-to-machine commerce both require crypto and microtransaction rails that card-only Fiserv does not have. And fourth, the recommended partner is Coinbase. They are already a Fiserv customer, they have the deepest stack, they created x402 where we are a founding member, and they ship USDC rails to Stripe and Shopify today. We add Mesh or others later as volume justifies it — which improves our economics if volume scales.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a:t>
            </a:r>
          </a:p>
          <a:p>
            <a:r>
              <a:t>============================================================</a:t>
            </a:r>
          </a:p>
          <a:p/>
          <a:p>
            <a:r>
              <a:t>TALKING POINTS:</a:t>
            </a:r>
          </a:p>
          <a:p>
            <a:r>
              <a:t>• Four stats set the opportunity: $2–4T market, sub-1% cost, 6M merchants, only Fiserv has the full stack</a:t>
            </a:r>
          </a:p>
          <a:p>
            <a:r>
              <a:t>• GENIUS Act removed the legal risk in July 2025</a:t>
            </a:r>
          </a:p>
          <a:p>
            <a:r>
              <a:t>• NRF 2026 data point signals merchant-side demand is real</a:t>
            </a:r>
          </a:p>
          <a:p>
            <a:r>
              <a:t>• Our x402 founding-member status is a defensible first-mover credential</a:t>
            </a:r>
          </a:p>
          <a:p>
            <a:r>
              <a:t>• Gaming vertical is where we see the earliest pull and the MPP/agentic gap is the defensive case</a:t>
            </a:r>
          </a:p>
          <a:p/>
          <a:p>
            <a:r>
              <a:t>SCRIPT:</a:t>
            </a:r>
          </a:p>
          <a:p>
            <a:r>
              <a:t>The executive summary hits four numbers and seven supporting facts. The market is going from $260 billion to $2-4 trillion by 2030. The cost advantage is sub-1 percent on stablecoins versus 2-3 percent on card interchange. We have 6 million merchant locations ready to turn on, and we are the only player with all four pillars of the stack. On the tailwinds: the GENIUS Act in July 2025 made stablecoins legal as payment instruments in the US, so the regulatory risk is behind us. NRF 2026 told us 75 percent of retailers are implementing or planning agentic commerce. We are a founding member of the x402 Foundation. And cross-border is a $190 trillion annual market. Two new points worth pausing on. Gaming is emerging as our highest-conviction early vertical — crypto acceptance is already a buyer expectation there, and Fiserv has an opportunity to be an early mover with our gaming clients. And Machine Payment Protocol — MPP — plus the broader agentic flows require crypto acceptance we do not have today. That is the defensive side of this investment.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Opportunity</a:t>
            </a:r>
          </a:p>
          <a:p>
            <a:r>
              <a:t>============================================================</a:t>
            </a:r>
          </a:p>
          <a:p/>
          <a:p>
            <a:r>
              <a:t>TALKING POINTS:</a:t>
            </a:r>
          </a:p>
          <a:p>
            <a:r>
              <a:t>• Three markets in the sizing: stablecoin cap, cross-border, US stablecoin share</a:t>
            </a:r>
          </a:p>
          <a:p>
            <a:r>
              <a:t>• Agentic commerce is deliberately NOT in the market sizing — separate effort, separate GTM</a:t>
            </a:r>
          </a:p>
          <a:p>
            <a:r>
              <a:t>• Four drivers: regulatory clarity, cost, speed, and a parallel agentic tailwind</a:t>
            </a:r>
          </a:p>
          <a:p>
            <a:r>
              <a:t>• Closing quote: the question is not IF — it is WHO captures the orchestration layer</a:t>
            </a:r>
          </a:p>
          <a:p/>
          <a:p>
            <a:r>
              <a:t>SCRIPT:</a:t>
            </a:r>
          </a:p>
          <a:p>
            <a:r>
              <a:t>Three things in the market sizing. Stablecoin market cap going from $260 billion to $2-4 trillion at a 50 percent CAGR. Cross-border payments at $190 trillion annually growing to $250 trillion. And US stablecoin share of dollar payments going from 3 to 10 percent by 2031. You'll notice I am deliberately not including agentic commerce in this market sizing. That's a change from an earlier draft. Stablecoin acceptance and agentic commerce are related in places but they are two different efforts with different go-to-markets and different strategy initiatives — I want to keep them clean in this document. We track agentic commerce as a parallel effort, shown on the right. On the drivers: the GENIUS Act and MiCA give us legal cover. Sub-1 percent versus 2-3 percent card interchange is real money — we're talking about $50 billion in merchant fees disappearing from the system. Real-time settlement unlocks cash flow versus T+1 to T+3. And the closing frame: the question is not if stablecoins take 10 percent of US dollar payments. The question is who captures the orchestration layer.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Landscape</a:t>
            </a:r>
          </a:p>
          <a:p>
            <a:r>
              <a:t>============================================================</a:t>
            </a:r>
          </a:p>
          <a:p/>
          <a:p>
            <a:r>
              <a:t>TALKING POINTS:</a:t>
            </a:r>
          </a:p>
          <a:p>
            <a:r>
              <a:t>• Only Fiserv has all four pillars — structural moat, not a feature</a:t>
            </a:r>
          </a:p>
          <a:p>
            <a:r>
              <a:t>• Stripe relies on Coinbase (x402) plus the Bridge acquisition</a:t>
            </a:r>
          </a:p>
          <a:p>
            <a:r>
              <a:t>• PayPal relies on Mesh; Worldpay relies on BVNK; Adyen has nothing disclosed</a:t>
            </a:r>
          </a:p>
          <a:p>
            <a:r>
              <a:t>• Block/Square is still Bitcoin-only and has no settlement network</a:t>
            </a:r>
          </a:p>
          <a:p>
            <a:r>
              <a:t>• This is the slide that shows why we don't need to build the protocol — we need to orchestrate</a:t>
            </a:r>
          </a:p>
          <a:p/>
          <a:p>
            <a:r>
              <a:t>SCRIPT:</a:t>
            </a:r>
          </a:p>
          <a:p>
            <a:r>
              <a:t>This is the structural slide. Look down the Full Stack column — Fiserv is the only Yes. Every competitor is stitching this together with partners. Stripe leans on Coinbase for x402 rails and paid 1.1 billion dollars for Bridge to get a stablecoin layer. PayPal uses Mesh as its crypto conversion partner; PayPal Ventures is even an investor. Worldpay announced its stablecoin payouts partnership with BVNK in May of last year. Adyen has nothing publicly disclosed. Block is still Bitcoin-only on the square POS side. Two things to take away. First, our moat here is structural, not feature-based. We have Finxact as a banking core, FIUSD as our own bank-embedded stablecoin, INDX as a settlement network with 1,100 banks, and CommerceHub plus Clover giving us 6 million merchant locations. No competitor can replicate that closed loop. Second — and this sets up slides 12 and 13 — every competitor here is relying on a partner for the crypto piece. That is a choice we should mirror: don't build the protocol, orchestrate on top of the best one.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Vertically Integrated Stack</a:t>
            </a:r>
          </a:p>
          <a:p>
            <a:r>
              <a:t>============================================================</a:t>
            </a:r>
          </a:p>
          <a:p/>
          <a:p>
            <a:r>
              <a:t>TALKING POINTS:</a:t>
            </a:r>
          </a:p>
          <a:p>
            <a:r>
              <a:t>• Four pillars: Finxact, FIUSD, INDX, CommerceHub/Clover</a:t>
            </a:r>
          </a:p>
          <a:p>
            <a:r>
              <a:t>• 6M merchant locations is the distribution advantage nobody else has</a:t>
            </a:r>
          </a:p>
          <a:p>
            <a:r>
              <a:t>• White-label wallet framing — not a Fiserv consumer brand</a:t>
            </a:r>
          </a:p>
          <a:p>
            <a:r>
              <a:t>• The flow: bank issues → consumer pays → INDX settles → merchant gets USD</a:t>
            </a:r>
          </a:p>
          <a:p/>
          <a:p>
            <a:r>
              <a:t>SCRIPT:</a:t>
            </a:r>
          </a:p>
          <a:p>
            <a:r>
              <a:t>This is the stack in four boxes. Finxact is the cloud-native banking core — ten thousand FI clients. FIUSD is our bank-embedded stablecoin, live on Solana, Paxos and Circle backed, one-to-one USD peg. INDX is the real-time settlement network with eleven hundred FDIC banks and $25 million in FDIC insurance — this is what lets a merchant receive USD instantly and safely. And CommerceHub plus Clover gives us the 6 million merchant locations — e-com plus in-store, SMB to enterprise. One framing adjustment worth calling out. We are not positioning this as a Fiserv-branded consumer wallet. The wallet layer is white-label — built for our FI and merchant clients to deploy under their own brand. There are fans and detractors of a Fiserv-consumer wallet idea; we think the white-label path is more realistic and more aligned with how we've always sold. The flow is simple: bank issues FIUSD, consumer pays merchant, INDX settles in real time, merchant receives USD instantly. No card network in the middle.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FIUSD Flywheel</a:t>
            </a:r>
          </a:p>
          <a:p>
            <a:r>
              <a:t>============================================================</a:t>
            </a:r>
          </a:p>
          <a:p/>
          <a:p>
            <a:r>
              <a:t>TALKING POINTS:</a:t>
            </a:r>
          </a:p>
          <a:p>
            <a:r>
              <a:t>• Five-stage flywheel: FIs issue → merchants accept → consumers adopt → volume grows → network effects</a:t>
            </a:r>
          </a:p>
          <a:p>
            <a:r>
              <a:t>• Honesty check: step 2 (acceptance) is still TBD at broad scale</a:t>
            </a:r>
          </a:p>
          <a:p>
            <a:r>
              <a:t>• Seed strategy: use our own merchant disbursements to prime the pump</a:t>
            </a:r>
          </a:p>
          <a:p>
            <a:r>
              <a:t>• Target early-mover verticals first — cross-border, settlement, gaming — learn and optimize before expanding</a:t>
            </a:r>
          </a:p>
          <a:p/>
          <a:p>
            <a:r>
              <a:t>SCRIPT:</a:t>
            </a:r>
          </a:p>
          <a:p>
            <a:r>
              <a:t>Here's the flywheel in five stages. Ten thousand FIs issue FIUSD through Finxact. Merchants accept because it's cheaper than cards. Consumers hold FIUSD in bank wallets. Volume grows, costs come down, more FIs join. Network effects compound. I want to be honest about step two. Merchant and consumer acceptance is still TBD at broad scale. There's a chicken-and-egg dynamic and most people don't see consumers paying with crypto any time soon outside of specific verticals. So our strategy is not to hope for broad adoption. It is to build for the use cases and verticals that will be early movers — cross-border, faster settlement, and gaming — get in the market, learn, test, and optimize. The seed strategy still applies. We control enough of the payments system — our own merchant settlement disbursements — to prime the pump on FIUSD volume without depending on consumer adoption. But the growth beyond that seed comes from vertical-led early movers, not from a mass-market consumer push.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Architecture</a:t>
            </a:r>
          </a:p>
          <a:p>
            <a:r>
              <a:t>============================================================</a:t>
            </a:r>
          </a:p>
          <a:p/>
          <a:p>
            <a:r>
              <a:t>TALKING POINTS:</a:t>
            </a:r>
          </a:p>
          <a:p>
            <a:r>
              <a:t>• Layered architecture — CommerceHub orchestrates, providers plug in underneath</a:t>
            </a:r>
          </a:p>
          <a:p>
            <a:r>
              <a:t>• White-label wallet for FIs &amp; merchants, not a Fiserv consumer brand</a:t>
            </a:r>
          </a:p>
          <a:p>
            <a:r>
              <a:t>• Coinbase primary / Mesh reach / FIUSD+INDX owned fallback</a:t>
            </a:r>
          </a:p>
          <a:p>
            <a:r>
              <a:t>• Coinbase vs Mesh overlap is ~300 wallets via WalletConnect — but they diverge materially</a:t>
            </a:r>
          </a:p>
          <a:p>
            <a:r>
              <a:t>• Design principles: no provider &gt;40% volume, 90-day termination, card-rail fallback</a:t>
            </a:r>
          </a:p>
          <a:p/>
          <a:p>
            <a:r>
              <a:t>SCRIPT:</a:t>
            </a:r>
          </a:p>
          <a:p>
            <a:r>
              <a:t>Architecturally we run a layered approach. CommerceHub is the orchestration layer Fiserv owns. Providers plug in underneath it. Merchants experience a Fiserv white-label wallet — we are not trying to build a Fiserv-branded consumer product. This is for FIs and merchants to deploy under their own brand. Three providers in the stack. Coinbase is primary: their white-label MPC wallets, they created x402, roughly 300 billion in assets under custody, SOC 1 and SOC 2 certified, and they carry 700-plus wallets via WalletConnect. Mesh is the reach play: 300-plus wallet and exchange integrations, SmartFunding orchestration, PayPal Ventures portfolio company. And FIUSD plus INDX is our owned fallback. There's a fair question — why do we need both Coinbase and Mesh? Look at the overlap note. About 300 wallets are the same between the two because both use the WalletConnect registry. But they diverge where it matters. Coinbase uniquely adds custodial accounts, the MPC WaaS issuance, the CDP onramp in 100-plus countries, SOC 1 and 2, and the native x402 rails. Mesh uniquely adds CEX deposit rails — PayPal, Binance.US, Kraken, Bybit — direct connections to custodial exchange balances that Coinbase's primary integration can't reach. Design principles matter: no single provider exceeds 40 percent of volume, every contract has a 90-day termination clause, and every transaction has a card-rail fallback. Plus a circuit breaker on depeg events.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Value in Merchant Acquiring</a:t>
            </a:r>
          </a:p>
          <a:p>
            <a:r>
              <a:t>============================================================</a:t>
            </a:r>
          </a:p>
          <a:p/>
          <a:p>
            <a:r>
              <a:t>TALKING POINTS:</a:t>
            </a:r>
          </a:p>
          <a:p>
            <a:r>
              <a:t>• Coinbase: $245B AUC, Stripe + Shopify distribution, existing Fiserv customer</a:t>
            </a:r>
          </a:p>
          <a:p>
            <a:r>
              <a:t>• Mesh: $1B valuation, PayPal Ventures, 300+ integrations, CEX rails</a:t>
            </a:r>
          </a:p>
          <a:p>
            <a:r>
              <a:t>• Flexa: proof point only — Chipotle's 2,975 US locations show QSR will accept if rails exist</a:t>
            </a:r>
          </a:p>
          <a:p>
            <a:r>
              <a:t>• BVNK: reference point — what Worldpay is shipping today</a:t>
            </a:r>
          </a:p>
          <a:p>
            <a:r>
              <a:t>• Reading the table: Coinbase has the biggest installed distribution, is already a customer — start there</a:t>
            </a:r>
          </a:p>
          <a:p/>
          <a:p>
            <a:r>
              <a:t>SCRIPT:</a:t>
            </a:r>
          </a:p>
          <a:p>
            <a:r>
              <a:t>I added this slide because the feedback was: we should see the value each partner brings in merchant acquiring. Let's walk it. Coinbase. Roughly $245 billion in assets under custody as of June 2025 — they're the custodian for 80 percent of the world's digital asset ETFs and 9 of 11 spot Bitcoin ETFs. On distribution, this is what matters for us: Stripe integrated x402 on USDC and Base in February 2026, and Shopify Payments launched USDC on Base across their merchant base starting June 2025 — built jointly with Coinbase. That gives Coinbase the largest installed merchant distribution of any provider on the slide. And they are already a Fiserv customer — we have existing business. Mesh. One billion dollar valuation as of January 2026, 130 million dollars raised, 300-plus wallet and exchange integrations. PayPal Ventures is an investor, and Mesh powers 'Pay with Crypto' inside PayPal checkout. Their unique value to us is the CEX deposit rails. Flexa is a proof point, not a recommended partner. They have the Chipotle relationship — 2,975 US locations accepting crypto via Flexa — plus Regal Cinemas, GameStop, Whole Foods historically. The takeaway: QSR merchants will accept crypto if the rails exist. That informs our vertical sequencing. BVNK is a competitor signal. Worldpay partnered with them in May 2025 for stablecoin payouts across 180 markets. Worldpay processes 2.3 trillion in payments annually — so the crypto piece is now in production at our closest competitor. Read the table this way: Coinbase has the biggest merchant distribution, is already a customer, and is the x402 co-founder. Start there. Mesh comes in as volume justifies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&amp; Compliance Comparison</a:t>
            </a:r>
          </a:p>
          <a:p>
            <a:r>
              <a:t>============================================================</a:t>
            </a:r>
          </a:p>
          <a:p/>
          <a:p>
            <a:r>
              <a:t>TALKING POINTS:</a:t>
            </a:r>
          </a:p>
          <a:p>
            <a:r>
              <a:t>• This is why Coinbase is the only institutional-grade choice</a:t>
            </a:r>
          </a:p>
          <a:p>
            <a:r>
              <a:t>• Only provider with both SOC 1 and SOC 2 Type II (Deloitte)</a:t>
            </a:r>
          </a:p>
          <a:p>
            <a:r>
              <a:t>• $320M insurance via Lloyd's; 49 US states + OCC; MiCA, Singapore, Japan</a:t>
            </a:r>
          </a:p>
          <a:p>
            <a:r>
              <a:t>• Mesh is non-custodial — good model, but lacks regulatory depth on its own</a:t>
            </a:r>
          </a:p>
          <a:p>
            <a:r>
              <a:t>• Flexa and Heron fail institutional screens</a:t>
            </a:r>
          </a:p>
          <a:p/>
          <a:p>
            <a:r>
              <a:t>SCRIPT:</a:t>
            </a:r>
          </a:p>
          <a:p>
            <a:r>
              <a:t>This slide is the security and compliance gate. For Fiserv and our bank clients, institutional-grade is not optional — it's the minimum standard. Coinbase clears every bar. SOC 1 Type II. SOC 2 Type II. Both audited by Deloitte — a Big Four firm. Insurance coverage with Lloyd's of London. $300 billion plus in custody. Licensed in 49 US states with an OCC trust charter, and international coverage across EU MiCA, Singapore, and Japan. Full internal KYC and AML. One security incident and no crypto lost. Mesh is non-custodial by design, which is actually a feature — they delegate KYC and don't hold assets. But on a standalone basis, they don't yet have the regulatory depth to be a primary provider for Fiserv's bank clients. That's exactly why we pair them under Coinbase, not instead of Coinbase. Flexa and Heron don't clear the screen and were removed from consideration. The bottom line: Coinbase is the only provider on this slide where we can put our name next to theirs in front of a bank regulator without a long explanation.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Scoring — 7 Requirements</a:t>
            </a:r>
          </a:p>
          <a:p>
            <a:r>
              <a:t>============================================================</a:t>
            </a:r>
          </a:p>
          <a:p/>
          <a:p>
            <a:r>
              <a:t>TALKING POINTS:</a:t>
            </a:r>
          </a:p>
          <a:p>
            <a:r>
              <a:t>• Scoring model against the 7 capabilities Fiserv needs</a:t>
            </a:r>
          </a:p>
          <a:p>
            <a:r>
              <a:t>• Coinbase wins on capability coverage: 56/70</a:t>
            </a:r>
          </a:p>
          <a:p>
            <a:r>
              <a:t>• Mesh close second at 47/70 — genuine complement, not a substitute</a:t>
            </a:r>
          </a:p>
          <a:p>
            <a:r>
              <a:t>• Flexa and Heron removed — Flexa's AMP collapsed 98%; Heron unverifiable</a:t>
            </a:r>
          </a:p>
          <a:p>
            <a:r>
              <a:t>• The scoring is the quantitative back-up to the qualitative story on the prior slide</a:t>
            </a:r>
          </a:p>
          <a:p/>
          <a:p>
            <a:r>
              <a:t>SCRIPT:</a:t>
            </a:r>
          </a:p>
          <a:p>
            <a:r>
              <a:t>We scored four providers against the seven capabilities Fiserv actually needs — global crypto pay-in, global stablecoin pay-in, e-com plus in-store, stablecoin disbursement, wallet storage on Finxact, stablecoin-to-fiat, and any-crypto-to-fiat globally. Coinbase comes out at 56 out of 70. Mesh is 47. Flexa and Heron were removed from consideration — Flexa's AMP token lost 98 percent of its value, they've raised only $14 million after seven years, they're US and Canada only, and there's no Clover integration. Heron has zero verifiable funding, team, customers, or certifications — it doesn't clear a basic diligence bar. What's interesting about the Coinbase-to-Mesh gap is where it comes from. Coinbase wins on capabilities where a custodial-plus-MPC stack matters. Mesh wins on pure crypto-to-fiat reach because they plug into every CEX. That's why pairing them is cheaper than building either side.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Agent-to-Agent Payment Gap</a:t>
            </a:r>
          </a:p>
          <a:p>
            <a:r>
              <a:t>============================================================</a:t>
            </a:r>
          </a:p>
          <a:p/>
          <a:p>
            <a:r>
              <a:t>TALKING POINTS:</a:t>
            </a:r>
          </a:p>
          <a:p>
            <a:r>
              <a:t>• M2M and A2A commerce is real and emerging now — not hypothetical</a:t>
            </a:r>
          </a:p>
          <a:p>
            <a:r>
              <a:t>• Two protocols matter: x402 (Coinbase/Linux Foundation) and MPP (Stripe/Tempo)</a:t>
            </a:r>
          </a:p>
          <a:p>
            <a:r>
              <a:t>• Both require crypto and microtransaction rails Fiserv does not have today</a:t>
            </a:r>
          </a:p>
          <a:p>
            <a:r>
              <a:t>• x402: Fiserv is a founding member — competitive position is strong</a:t>
            </a:r>
          </a:p>
          <a:p>
            <a:r>
              <a:t>• MPP: this is the gap — Stripe shipped, we can't route those flows yet</a:t>
            </a:r>
          </a:p>
          <a:p>
            <a:r>
              <a:t>• Coinbase partnership closes both gaps in one integration</a:t>
            </a:r>
          </a:p>
          <a:p/>
          <a:p>
            <a:r>
              <a:t>SCRIPT:</a:t>
            </a:r>
          </a:p>
          <a:p>
            <a:r>
              <a:t>This slide replaced an earlier five-protocol landscape view. The landscape view was incomplete and tried to say too much. The real point is narrower and more urgent. Machine-to-machine and agent-to-agent commerce is emerging right now. Two protocols matter. x402 is the HTTP-native stablecoin settlement protocol that Coinbase created. It moved to the Linux Foundation in April 2026 with Stripe, Shopify, AWS, Google, Visa, and others backing it. Fiserv is a founding member, which is a real competitive asset. Green box — we're in a strong position. MPP is the Machine Payment Protocol Stripe launched with Tempo. It's session-based and batched, designed for high-frequency agent flows. Stripe shipped with over a hundred services in March 2026. Here's the gap — red box. MPP depends on crypto and microtransaction rails underneath. Fiserv, being card-only on that layer, cannot route these flows today. So Stripe already has a product we can't match on the agentic axis. The point — and this is the reframe — is not that we need to build a protocol. It's that agent-to-agent commerce needs crypto acceptance, and without it we can't serve the x402 or the MPP path. The Coinbase partnership closes both gaps in one integration. That's the defensive case for this investment and the reason this slide sits where it does in the deck.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vs Implement — Protocol Strategy</a:t>
            </a:r>
          </a:p>
          <a:p>
            <a:r>
              <a:t>============================================================</a:t>
            </a:r>
          </a:p>
          <a:p/>
          <a:p>
            <a:r>
              <a:t>TALKING POINTS:</a:t>
            </a:r>
          </a:p>
          <a:p>
            <a:r>
              <a:t>• Don't build a proprietary protocol — we've been public about x402 support</a:t>
            </a:r>
          </a:p>
          <a:p>
            <a:r>
              <a:t>• Adyen, our closest analog, is not building their own either</a:t>
            </a:r>
          </a:p>
          <a:p>
            <a:r>
              <a:t>• Protocols need ecosystems — 22+ members vs 0</a:t>
            </a:r>
          </a:p>
          <a:p>
            <a:r>
              <a:t>• Build the best implementation layer on top: protocol-agnostic gateway, FIUSD default, Finxact KYC</a:t>
            </a:r>
          </a:p>
          <a:p>
            <a:r>
              <a:t>• Same pattern that made CommerceHub successful — orchestration, not network</a:t>
            </a:r>
          </a:p>
          <a:p/>
          <a:p>
            <a:r>
              <a:t>SCRIPT:</a:t>
            </a:r>
          </a:p>
          <a:p>
            <a:r>
              <a:t>The natural question after the last slide is: should we build our own protocol? The answer is no, and this slide lays out why. First, we've already committed publicly. We joined the x402 Foundation on April 2nd, 2026 as a founding member. Reversing that would cost us credibility. Second, Adyen — our closest strategic analog — is not building their own protocol either. They're implementing. Third, protocols live or die on ecosystem. x402 has 22-plus members including Stripe, Shopify, AWS, Google, Visa. A Fiserv proprietary protocol starts at zero and has to displace that. Fourth, a proprietary build is 12 to 18 months of engineering cost for zero network effects. Instead, we build the best implementation layer on top. Protocol-agnostic gateway — x402, MPP, AP2, TAP all routed through one endpoint. Default to FIUSD settlement on Solana for our own economics. Bank-verified agent identity via Finxact KYC — nobody else can match that. Auto-enable 6 million merchant locations through a software update. A Fiserv Agent SDK. And a 'Fiserv Commerce Profile' inside the x402 specification. This is the same pattern that made CommerceHub successful. We didn't own the card networks. We owned the orchestration layer on top of them. Do the same thing for crypto and agentic.</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Software Update = All Agent-Payable Merchants</a:t>
            </a:r>
          </a:p>
          <a:p>
            <a:r>
              <a:t>============================================================</a:t>
            </a:r>
          </a:p>
          <a:p/>
          <a:p>
            <a:r>
              <a:t>TALKING POINTS:</a:t>
            </a:r>
          </a:p>
          <a:p>
            <a:r>
              <a:t>• Stripe's model: convince merchants one by one — 100+ at MPP launch</a:t>
            </a:r>
          </a:p>
          <a:p>
            <a:r>
              <a:t>• Fiserv's model: push one software update to Clover + CommerceHub</a:t>
            </a:r>
          </a:p>
          <a:p>
            <a:r>
              <a:t>• 6M merchant locations agent-payable overnight, zero merchant effort</a:t>
            </a:r>
          </a:p>
          <a:p>
            <a:r>
              <a:t>• Fiserv becomes the largest x402 merchant network overnight</a:t>
            </a:r>
          </a:p>
          <a:p>
            <a:r>
              <a:t>• This is the distribution advantage only we have</a:t>
            </a:r>
          </a:p>
          <a:p/>
          <a:p>
            <a:r>
              <a:t>SCRIPT:</a:t>
            </a:r>
          </a:p>
          <a:p>
            <a:r>
              <a:t>This is the single most important strategic slide in the deck. Stripe's approach to agentic commerce is to convince merchants one at a time. At MPP launch in March 2026 they had a hundred services. Each one required developer effort to integrate. That scales linearly. Fiserv's approach can be different because of our distribution. Push one software update to Clover and CommerceHub. Zero merchant effort required. All 6 million merchant locations become agent-payable overnight. Say that out loud. Every AI shopping agent that speaks x402 can immediately pay at every Fiserv merchant. We become the largest x402 merchant network overnight. Not because we built a better protocol. Because we already have the distribution nobody else can match. This is the structural advantage. Protect and exploit it.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Ocean — Four Actions Framework</a:t>
            </a:r>
          </a:p>
          <a:p>
            <a:r>
              <a:t>============================================================</a:t>
            </a:r>
          </a:p>
          <a:p/>
          <a:p>
            <a:r>
              <a:t>TALKING POINTS:</a:t>
            </a:r>
          </a:p>
          <a:p>
            <a:r>
              <a:t>• ELIMINATE: crypto volatility risk for merchants (auto-convert via INDX)</a:t>
            </a:r>
          </a:p>
          <a:p>
            <a:r>
              <a:t>• REDUCE: integration complexity (one toggle, not a project)</a:t>
            </a:r>
          </a:p>
          <a:p>
            <a:r>
              <a:t>• RAISE: regulatory confidence (FDIC insurance, bank-embedded, GENIUS compliant)</a:t>
            </a:r>
          </a:p>
          <a:p>
            <a:r>
              <a:t>• CREATE: bank-merchant stablecoin loop — banks earn MORE, merchants pay LESS</a:t>
            </a:r>
          </a:p>
          <a:p>
            <a:r>
              <a:t>• The card network's share disappears; everyone in the loop is better off</a:t>
            </a:r>
          </a:p>
          <a:p/>
          <a:p>
            <a:r>
              <a:t>SCRIPT:</a:t>
            </a:r>
          </a:p>
          <a:p>
            <a:r>
              <a:t>This is the Kim and Mauborgne Four Actions framework applied to our move. The blue ocean here isn't 'crypto payments for merchants.' That's already red. The blue ocean is a bank-issued stablecoin payment network — which nobody else can build. Eliminate: crypto volatility risk for merchants. We auto-convert everything to USD via INDX in real time. Merchants never touch crypto. Reduce: integration complexity. One API toggle in CommerceHub. One button in Clover. Merchant does nothing. Raise: regulatory confidence. FDIC-insured settlement through INDX. Bank-embedded stablecoin — not an offshore token. Regulated banking core with Finxact. GENIUS Act compliant from day one. Create: the bank-merchant stablecoin loop. Banks earn 60 to 80 basis points — more than they earn on interchange today. Merchants pay 80 to 100 basis points — less than they pay on cards today. How is that possible? Because the card network's share of the economics is eliminated from the equation. Everyone in the loop is better off.</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1 — Merchant Yield Sweep</a:t>
            </a:r>
          </a:p>
          <a:p>
            <a:r>
              <a:t>============================================================</a:t>
            </a:r>
          </a:p>
          <a:p/>
          <a:p>
            <a:r>
              <a:t>TALKING POINTS:</a:t>
            </a:r>
          </a:p>
          <a:p>
            <a:r>
              <a:t>• Problem: SMBs on Clover hold billions in idle settlement balances earning zero</a:t>
            </a:r>
          </a:p>
          <a:p>
            <a:r>
              <a:t>• Solution: AI treasury agent sweeps into yield-bearing FIUSD on Finxact</a:t>
            </a:r>
          </a:p>
          <a:p>
            <a:r>
              <a:t>• ML predicts cash needs from 180 days of CommerceHub history — instant unsweep via INDX</a:t>
            </a:r>
          </a:p>
          <a:p>
            <a:r>
              <a:t>• One toggle in Clover — zero merchant effort</a:t>
            </a:r>
          </a:p>
          <a:p>
            <a:r>
              <a:t>• Positions Fiserv as the ONLY processor that helps merchants earn money, not just spend it</a:t>
            </a:r>
          </a:p>
          <a:p/>
          <a:p>
            <a:r>
              <a:t>SCRIPT:</a:t>
            </a:r>
          </a:p>
          <a:p>
            <a:r>
              <a:t>Prototype one is the merchant yield sweep. The problem is that small business merchants on Clover hold funds in idle settlement balances earning zero interest. 99 percent of small businesses consume zero treasury management services because it's too complex for them. Across 6 million merchant locations, that's billions of dollars sitting dormant — generating nothing for the merchant and nothing for Fiserv. The solution is an AI-powered treasury agent that auto-sweeps idle balances into yield-bearing FIUSD positions on Finxact. An ML model predicts cash needs using 180 days of CommerceHub transaction history — in our prototype, 87 percent confidence on three-day outflow predictions with seasonal adjustment. Decision gate validates safeguards: hard floor, gradual ramp, depeg check. Instant unsweep via INDX when cash is needed. One toggle in Clover to enable. The strategic positioning is important. This makes Fiserv the only payment processor that helps merchants earn money, not just spend it. That's a brand and product story.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2 — Pay-by-Agent x402 Commerce</a:t>
            </a:r>
          </a:p>
          <a:p>
            <a:r>
              <a:t>============================================================</a:t>
            </a:r>
          </a:p>
          <a:p/>
          <a:p>
            <a:r>
              <a:t>TALKING POINTS:</a:t>
            </a:r>
          </a:p>
          <a:p>
            <a:r>
              <a:t>• Problem: AI agents can browse but can't buy — card rails need human in the loop</a:t>
            </a:r>
          </a:p>
          <a:p>
            <a:r>
              <a:t>• Solution: x402-compatible Agent Checkout endpoint in CommerceHub</a:t>
            </a:r>
          </a:p>
          <a:p>
            <a:r>
              <a:t>• Under 3 seconds end to end, fully autonomous, bank-verified identity via Finxact KYC</a:t>
            </a:r>
          </a:p>
          <a:p>
            <a:r>
              <a:t>• One software update → every Fiserv merchant becomes agent-payable</a:t>
            </a:r>
          </a:p>
          <a:p>
            <a:r>
              <a:t>• 0.1% agent payment fee vs 2.9% card interchange — real economics</a:t>
            </a:r>
          </a:p>
          <a:p/>
          <a:p>
            <a:r>
              <a:t>SCRIPT:</a:t>
            </a:r>
          </a:p>
          <a:p>
            <a:r>
              <a:t>Prototype two is the flagship demo for agentic commerce — pay-by-agent via x402. Problem: AI agents from Claude, GPT, and others can browse and compare but they can't actually buy. Card rails require human-in-the-loop authentication — 3DS, CVV entry. That breaks the autonomous flow entirely. Plus merchants are paying 2 to 3 percent interchange and waiting T+1 to T+3 for settlement. Solution: CommerceHub exposes an x402-compatible Agent Checkout endpoint. AI agents discover payment requirements, sign FIUSD payments using EIP-3009, and complete purchases in a single HTTP cycle — under 3 seconds, fully autonomous. Bank-verified identity via Finxact KYC, configurable spending guardrails. The flow is six steps: agent GETs merchant catalog, gateway returns HTTP 402 payment required, agent signs FIUSD, verifier checks signature plus Finxact KYC tier plus spending limits, settler executes on-chain, INDX settles merchant in USD instantly, agent receives cryptographic receipt. All in under 3 seconds. The punchline from slide 14: Stripe convinces merchants one at a time. Fiserv flips a switch for 6 million merchant locations. And the economics are real — 0.1 percent agent payment fee versus 2.9 percent card interchange.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3 — Instant Supplier Pay</a:t>
            </a:r>
          </a:p>
          <a:p>
            <a:r>
              <a:t>============================================================</a:t>
            </a:r>
          </a:p>
          <a:p/>
          <a:p>
            <a:r>
              <a:t>TALKING POINTS:</a:t>
            </a:r>
          </a:p>
          <a:p>
            <a:r>
              <a:t>• Problem: Restaurants on Clover spend $1,000–$1,500/mo on card fees for supply orders; miss early-pay discounts</a:t>
            </a:r>
          </a:p>
          <a:p>
            <a:r>
              <a:t>• Solution: AI procurement agent predicts reorders from POS data, pays suppliers in FIUSD</a:t>
            </a:r>
          </a:p>
          <a:p>
            <a:r>
              <a:t>• 2.7 second supplier settlement via INDX vs 2–5 days today</a:t>
            </a:r>
          </a:p>
          <a:p>
            <a:r>
              <a:t>• Both merchant and supplier on Fiserv rails — network effect within our own book</a:t>
            </a:r>
          </a:p>
          <a:p>
            <a:r>
              <a:t>• ~$1,200/mo savings per merchant, both sides of the transaction on us</a:t>
            </a:r>
          </a:p>
          <a:p/>
          <a:p>
            <a:r>
              <a:t>SCRIPT:</a:t>
            </a:r>
          </a:p>
          <a:p>
            <a:r>
              <a:t>Prototype three is B2B — instant supplier pay. Problem: a restaurant on Clover places 15 to 30 supply orders per week. Each one costs 2 to 3 percent in card interchange — that's $1,000 to $1,500 per month for a typical restaurant. Distributors wait 2 to 5 days for settlement. Early-pay discounts — the traditional 2 percent net 10 — go uncaptured because the cash-flow math doesn't work. A $50K monthly supply spend leaves $2,500 per month on the table. Solution: an AI procurement agent monitors ingredient usage via Clover sales data, predicts reorder needs with ML, auto-generates POs grouped by supplier with MOQ enforcement, pays instantly in FIUSD via CommerceHub. Supplier receives USD via INDX in 2.7 seconds. Early-pay discounts captured automatically. The strategic angle: when both the merchant and the supplier are on Fiserv rails, we build a network effect inside our own book. Card fees eliminated. Discounts captured. Roughly $1,200 per month savings per merchant — but more importantly, both sides of the transaction are Fiserv customers. That's a moat inside a moat.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4 — Cross-Border Instant Settlement</a:t>
            </a:r>
          </a:p>
          <a:p>
            <a:r>
              <a:t>============================================================</a:t>
            </a:r>
          </a:p>
          <a:p/>
          <a:p>
            <a:r>
              <a:t>TALKING POINTS:</a:t>
            </a:r>
          </a:p>
          <a:p>
            <a:r>
              <a:t>• Problem: cross-border costs 3–5% fees plus 2–4% FX markup; T+3 settlement</a:t>
            </a:r>
          </a:p>
          <a:p>
            <a:r>
              <a:t>• Solution: CommerceHub auto-detects cross-border, locks FX, settles via FIUSD on Solana</a:t>
            </a:r>
          </a:p>
          <a:p>
            <a:r>
              <a:t>• INDX converts to USD — merchant always receives dollars, never touches crypto</a:t>
            </a:r>
          </a:p>
          <a:p>
            <a:r>
              <a:t>• $55 saved per $1,000 transaction, 91.7% cost reduction vs card rails</a:t>
            </a:r>
          </a:p>
          <a:p>
            <a:r>
              <a:t>• $6.3T cross-border e-com market — this is the clearest near-term use case</a:t>
            </a:r>
          </a:p>
          <a:p/>
          <a:p>
            <a:r>
              <a:t>SCRIPT:</a:t>
            </a:r>
          </a:p>
          <a:p>
            <a:r>
              <a:t>Prototype four is the clearest near-term use case on the deck — cross-border instant settlement. Problem: cross-border card processing costs 3 to 5 percent in fees plus 2 to 4 percent in FX markup. Settlement takes T+3 days through four intermediaries. A $1,000 Mexican peso to US dollar transaction costs a merchant $47 to $60 all in. The addressable market is $6.3 trillion in annual cross-border e-commerce. Solution: CommerceHub auto-detects cross-border transactions from the currency mismatch, converts local currency to FIUSD at real-time FX rates with a 30-second rate lock, and settles the merchant in USD via INDX in 3 seconds. Stablecoin is the transport only — the merchant always receives dollars, never touches crypto. Five steps: international buyer pays in local currency, CommerceHub detects the corridor, FX engine locks the rate and converts to FIUSD on Solana, OFAC sanctions screening passes under the GENIUS Act framework, INDX converts FIUSD to USD and settles to the merchant bank in 3 seconds. The impact numbers: $55 saved per $1,000 cross-border transaction. 91.7 percent cost reduction versus traditional card rails. Settlement in seconds, not days. At 70 basis points on $50 billion in cross-border volume, we're looking at $350 million in annual revenue. This is the use case where adoption is easiest to drive because the savings are unmistakable.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Assessment &amp; Mitigation</a:t>
            </a:r>
          </a:p>
          <a:p>
            <a:r>
              <a:t>============================================================</a:t>
            </a:r>
          </a:p>
          <a:p/>
          <a:p>
            <a:r>
              <a:t>TALKING POINTS:</a:t>
            </a:r>
          </a:p>
          <a:p>
            <a:r>
              <a:t>• Every significant risk has a designed mitigation</a:t>
            </a:r>
          </a:p>
          <a:p>
            <a:r>
              <a:t>• Regulatory reversal: FIUSD as deposit wrapper — regulatory portable</a:t>
            </a:r>
          </a:p>
          <a:p>
            <a:r>
              <a:t>• Stripe protocol lock-in: dual protocol support (x402 + MPP) + 6M auto-enable</a:t>
            </a:r>
          </a:p>
          <a:p>
            <a:r>
              <a:t>• Bank client resistance: FIUSD pays banks 60–80bps, MORE than interchange</a:t>
            </a:r>
          </a:p>
          <a:p>
            <a:r>
              <a:t>• Consumer adoption stall: lead with B2B and agent use cases, not retail</a:t>
            </a:r>
          </a:p>
          <a:p>
            <a:r>
              <a:t>• Coinbase competitive conflict: abstraction layer + &lt;40% volume cap</a:t>
            </a:r>
          </a:p>
          <a:p>
            <a:r>
              <a:t>• The biggest risk is inaction — Stripe bought Bridge for $1.1B, Worldpay shipped with BVNK, Adyen joined every foundation</a:t>
            </a:r>
          </a:p>
          <a:p/>
          <a:p>
            <a:r>
              <a:t>SCRIPT:</a:t>
            </a:r>
          </a:p>
          <a:p>
            <a:r>
              <a:t>Every significant risk on this strategy has a designed mitigation. Let me walk the high-severity ones. Regulatory reversal is the one that keeps me up. Low-medium probability, but catastrophic if it happens. Our mitigation is that FIUSD is structured as a deposit wrapper — it's regulatory-portable. If the rules change, we port the structure. Stripe protocol lock-in. High impact, medium probability. Mitigated by dual protocol support — we implement both x402 and MPP — plus the 6 million merchant auto-enable. We out-distribute them. Bank client resistance is the highest-probability risk. Banks are suspicious of anything that looks like disintermediation. The answer is simple: FIUSD sits on their balance sheet as deposits, and they earn 60 to 80 basis points on it — which is more than they make on card interchange today. We're not taking from them. We're paying them more. Consumer adoption stall — covered earlier. Lead with B2B and agent use cases, not retail. Stablecoin depeg event. Low probability, catastrophic. Circuit breaker at 0.5 percent deviation plus instant auto-conversion. Internal BU misalignment. High and high. C-suite sponsor plus a cross-BU task force — we've seen this slow initiatives in the past. Coinbase competitive conflict. Medium medium. Abstraction layer plus the 40 percent volume cap keeps us from being dependent. The closing frame here is the important one. Every risk we've listed has a mitigation. The one risk without a mitigation is inaction. Stripe bought Bridge for 1.1 billion dollars. Worldpay is shipping with BVNK in production. Adyen joined every major protocol foundation. The competitive window is not theoretical. It's closing.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Quote</a:t>
            </a:r>
          </a:p>
          <a:p>
            <a:r>
              <a:t>============================================================</a:t>
            </a:r>
          </a:p>
          <a:p/>
          <a:p>
            <a:r>
              <a:t>TALKING POINTS:</a:t>
            </a:r>
          </a:p>
          <a:p>
            <a:r>
              <a:t>• The close: frame the scale of the opportunity one last time</a:t>
            </a:r>
          </a:p>
          <a:p>
            <a:r>
              <a:t>• This is not a payment method — it is the infrastructure for the next era</a:t>
            </a:r>
          </a:p>
          <a:p>
            <a:r>
              <a:t>• Ask: endorse the phased start — Coinbase, cross-border/gaming/settlement verticals, measured expansion</a:t>
            </a:r>
          </a:p>
          <a:p>
            <a:r>
              <a:t>• Next milestone: readout on pilot metrics by end of quarter</a:t>
            </a:r>
          </a:p>
          <a:p/>
          <a:p>
            <a:r>
              <a:t>SCRIPT:</a:t>
            </a:r>
          </a:p>
          <a:p>
            <a:r>
              <a:t>I want to close with a single sentence. We are not just adding a payment method. We are building the infrastructure for the next era of commerce. What I'm asking for today is an endorsement of a phased start. Start with Coinbase — existing Fiserv customer, x402 co-founder. Start with the verticals where the economics are unmistakable — cross-border, faster settlement, and gaming. Close the agent-to-agent crypto gap so we can serve both x402 and MPP flows before Stripe fully ships. Add Mesh and other providers as volume justifies it — improving our economics as scale arrives. The competitive window is open and it is moving. The next milestone I'd like to bring back to this group is a readout on pilot metrics by end of quarter, using the four prototypes we walked through. 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8.jp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9.jp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1.jp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2.jp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3.jp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4.jp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5.jp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6.jp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7.jp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3.xml"/><Relationship Id="rId3" Type="http://schemas.openxmlformats.org/officeDocument/2006/relationships/image" Target="../media/image18.jp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3.xml"/><Relationship Id="rId3" Type="http://schemas.openxmlformats.org/officeDocument/2006/relationships/image" Target="../media/image19.jp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3.xml"/><Relationship Id="rId3" Type="http://schemas.openxmlformats.org/officeDocument/2006/relationships/image" Target="../media/image20.jp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3.xml"/><Relationship Id="rId3" Type="http://schemas.openxmlformats.org/officeDocument/2006/relationships/image" Target="../media/image21.jp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3.xml"/><Relationship Id="rId3" Type="http://schemas.openxmlformats.org/officeDocument/2006/relationships/image" Target="../media/image22.jpg"/></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3.xml"/><Relationship Id="rId3" Type="http://schemas.openxmlformats.org/officeDocument/2006/relationships/image" Target="../media/image23.jpg"/></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3.xml"/><Relationship Id="rId3" Type="http://schemas.openxmlformats.org/officeDocument/2006/relationships/image" Target="../media/image24.jp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3.xml"/><Relationship Id="rId3" Type="http://schemas.openxmlformats.org/officeDocument/2006/relationships/image" Target="../media/image25.jp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3.xml"/><Relationship Id="rId3" Type="http://schemas.openxmlformats.org/officeDocument/2006/relationships/image" Target="../media/image26.jp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3.xml"/><Relationship Id="rId3" Type="http://schemas.openxmlformats.org/officeDocument/2006/relationships/image" Target="../media/image27.jp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3.xml"/><Relationship Id="rId3" Type="http://schemas.openxmlformats.org/officeDocument/2006/relationships/image" Target="../media/image28.jp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3.xml"/><Relationship Id="rId3" Type="http://schemas.openxmlformats.org/officeDocument/2006/relationships/image" Target="../media/image29.jpg"/></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3.xml"/><Relationship Id="rId3" Type="http://schemas.openxmlformats.org/officeDocument/2006/relationships/image" Target="../media/image30.jp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34.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6.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F734-A91A-C33A-1EA7-7F001FC751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A67FCE-E51D-32C3-7342-06FF526D5362}"/>
              </a:ext>
            </a:extLst>
          </p:cNvPr>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a:extLst>
              <a:ext uri="{FF2B5EF4-FFF2-40B4-BE49-F238E27FC236}">
                <a16:creationId xmlns:a16="http://schemas.microsoft.com/office/drawing/2014/main" id="{B19CFA93-221C-35DD-F28C-A1D5DB89AA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553F15-2C7B-EAEA-1631-FF57EB811E8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8353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3905-41E9-F459-0517-E335373D6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55B6D8-4F50-E466-1830-894512247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4A9499-7EE0-60F3-9B1F-9509568E5FB1}"/>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44F479B0-397D-CD91-4F0F-8D9BF777A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A5CC7-16E7-5A15-F90E-A9CB7846DB86}"/>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554084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F6522-E90E-1466-F9F0-F97108AD6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598748-F44F-0EB3-2860-196752A23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0A2AA-B305-B736-6437-45DC6E32DDCB}"/>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78BCA5BE-4F4F-E5F4-5AB1-4D3097D92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1D86B-0A63-E5DB-FCBD-C2AFAFFA1AE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21574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BA17-4AA6-0858-2D40-E8DEB3213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E9500F-125E-6D71-DE6F-ABB8D1A6A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FC799-E1AD-D753-5F15-FDE588D2B3D5}"/>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E42C55B4-1117-139A-1A4A-27342068B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125C8-4A22-FD20-2CA7-8C32C29E78A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331560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D403-F342-4046-6E06-A7EF041B86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C184B-72B7-CC22-C02D-CD48DAE0A2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114796-7F2D-B966-822F-B9E9995F88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F60508-0AD9-50F8-C87B-51E95CAE5527}"/>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0CFF1F3A-7C22-A515-C91A-47F72E8668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CFB6-3276-8535-4B3D-4B3D56C7823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052025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2A23-66D5-070F-14D9-20E2E62DD3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809240-A0D6-900B-E920-1C6D581FC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46B623-BF0E-41AF-0610-EAE4A8D33D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F8F2D1-11DC-924B-FE08-A9E7BCAA6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541DB-E8CE-5E80-5BEF-05B5E475A0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03E68-954B-5BF8-E420-5E2820817569}"/>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8" name="Footer Placeholder 7">
            <a:extLst>
              <a:ext uri="{FF2B5EF4-FFF2-40B4-BE49-F238E27FC236}">
                <a16:creationId xmlns:a16="http://schemas.microsoft.com/office/drawing/2014/main" id="{6504239F-B86B-9354-E26F-3612493633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F0C9A-B2F7-6948-40D1-28F2835FAE19}"/>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150275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F524-E131-1618-E804-A9101A5DFD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550E02-AF45-5D15-4F44-8E40F344464D}"/>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4" name="Footer Placeholder 3">
            <a:extLst>
              <a:ext uri="{FF2B5EF4-FFF2-40B4-BE49-F238E27FC236}">
                <a16:creationId xmlns:a16="http://schemas.microsoft.com/office/drawing/2014/main" id="{1E26DB0C-DA79-7FB1-0A09-A21EED257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2CFA43-36C1-77D0-8A0A-D216998CBB5A}"/>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19596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07BFD-243C-D93C-C053-C546A8303EE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3" name="Footer Placeholder 2">
            <a:extLst>
              <a:ext uri="{FF2B5EF4-FFF2-40B4-BE49-F238E27FC236}">
                <a16:creationId xmlns:a16="http://schemas.microsoft.com/office/drawing/2014/main" id="{CEE6B1BC-76CD-D993-38CE-A8CC057894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33E433-3587-B711-7324-9562F6D78164}"/>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209970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8E30-6DA6-B990-84AB-2C38FDFBC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F19451-EF2B-8418-C494-0E78B832CB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33323-2699-6866-C748-FB9A83ACE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A4D48-7454-15A9-BD04-5042B0D68B04}"/>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B0875061-1E90-8025-E5FB-64FFA271D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97AB5-899C-780D-DE3B-9D2CD2536791}"/>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9616831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D79B-6CD4-9C2E-F1AF-ACB7CF46B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0C253F-C04D-3C38-3C56-7D1445640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638DB7-8352-1374-28F1-D9146484B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4C38E-5991-B627-B7BC-A8C3D4A28D56}"/>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D5774900-E139-78DE-AEB9-93B32F590F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09B6C-F66D-8793-C1F9-71A84DFBF958}"/>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8726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33FC-787C-F4D6-7BA9-D605A772AE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9792C-B8F8-35F2-B95E-EE78A10615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BB78E-F2E3-9383-720C-9B72EA569D4C}"/>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9A4C51C-E241-667E-A4FD-F2B8DA917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DDCAB-6966-6B52-79C5-0B8FBCC536A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655134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BF7EE3-C798-4F14-4E3A-B2D6C00789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007FF9-37C0-7CB0-8466-BBC9B08CF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8F1F1-4F25-E70B-7989-47EBF2BBB55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1CC3C8F3-33AF-6359-FA73-621D352E5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96BEF-5F63-4D47-31C8-F2434B42075D}"/>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3798898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024 Title Slide">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dirty="0"/>
              <a:t>First Name Last Name, </a:t>
            </a:r>
            <a:r>
              <a:rPr lang="en-US" dirty="0"/>
              <a:t>18</a:t>
            </a:r>
            <a:r>
              <a:rPr dirty="0"/>
              <a:t> pt</a:t>
            </a:r>
            <a:br>
              <a:rPr dirty="0"/>
            </a:br>
            <a:r>
              <a:rPr dirty="0"/>
              <a:t>Title, </a:t>
            </a:r>
            <a:r>
              <a:rPr lang="en-US" dirty="0"/>
              <a:t>18</a:t>
            </a:r>
            <a:r>
              <a:rPr dirty="0"/>
              <a:t>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all&#10;&#10;Description automatically generated">
            <a:extLst>
              <a:ext uri="{FF2B5EF4-FFF2-40B4-BE49-F238E27FC236}">
                <a16:creationId xmlns:a16="http://schemas.microsoft.com/office/drawing/2014/main" id="{E7161C65-FB93-92A7-CE48-C5277ED668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43003813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s and Divider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Titles and Dividers</a:t>
            </a:r>
          </a:p>
        </p:txBody>
      </p:sp>
    </p:spTree>
    <p:extLst>
      <p:ext uri="{BB962C8B-B14F-4D97-AF65-F5344CB8AC3E}">
        <p14:creationId xmlns:p14="http://schemas.microsoft.com/office/powerpoint/2010/main" val="353436942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2024 Title Slide 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a person in a room&#10;&#10;Description automatically generated">
            <a:extLst>
              <a:ext uri="{FF2B5EF4-FFF2-40B4-BE49-F238E27FC236}">
                <a16:creationId xmlns:a16="http://schemas.microsoft.com/office/drawing/2014/main" id="{1AF91A65-484D-2830-164C-981C185123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92634524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2024 Title Slide 3">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window blinds with a city in the background&#10;&#10;Description automatically generated">
            <a:extLst>
              <a:ext uri="{FF2B5EF4-FFF2-40B4-BE49-F238E27FC236}">
                <a16:creationId xmlns:a16="http://schemas.microsoft.com/office/drawing/2014/main" id="{E517BE45-2181-26E5-7A03-363DC7B33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1274153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2024 Title Slide 4">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urtain&#10;&#10;Description automatically generated">
            <a:extLst>
              <a:ext uri="{FF2B5EF4-FFF2-40B4-BE49-F238E27FC236}">
                <a16:creationId xmlns:a16="http://schemas.microsoft.com/office/drawing/2014/main" id="{41DDB872-97AE-365D-C25D-6BF78EF0A4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23299369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2024 Title Slide 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blueprint&#10;&#10;Description automatically generated">
            <a:extLst>
              <a:ext uri="{FF2B5EF4-FFF2-40B4-BE49-F238E27FC236}">
                <a16:creationId xmlns:a16="http://schemas.microsoft.com/office/drawing/2014/main" id="{CC1A7E86-5882-49C3-E6E2-23C68F1B24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2" y="-1"/>
            <a:ext cx="2147887" cy="6863071"/>
          </a:xfrm>
          <a:prstGeom prst="rect">
            <a:avLst/>
          </a:prstGeom>
        </p:spPr>
      </p:pic>
    </p:spTree>
    <p:extLst>
      <p:ext uri="{BB962C8B-B14F-4D97-AF65-F5344CB8AC3E}">
        <p14:creationId xmlns:p14="http://schemas.microsoft.com/office/powerpoint/2010/main" val="387687179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2024 Title Slide 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sign&#10;&#10;Description automatically generated">
            <a:extLst>
              <a:ext uri="{FF2B5EF4-FFF2-40B4-BE49-F238E27FC236}">
                <a16:creationId xmlns:a16="http://schemas.microsoft.com/office/drawing/2014/main" id="{EF18B862-6C5E-71EA-AA49-2760928AE8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1"/>
            <a:ext cx="2146294" cy="6857981"/>
          </a:xfrm>
          <a:prstGeom prst="rect">
            <a:avLst/>
          </a:prstGeom>
        </p:spPr>
      </p:pic>
    </p:spTree>
    <p:extLst>
      <p:ext uri="{BB962C8B-B14F-4D97-AF65-F5344CB8AC3E}">
        <p14:creationId xmlns:p14="http://schemas.microsoft.com/office/powerpoint/2010/main" val="338806815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2024 Title Slide 7">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ight&#10;&#10;Description automatically generated">
            <a:extLst>
              <a:ext uri="{FF2B5EF4-FFF2-40B4-BE49-F238E27FC236}">
                <a16:creationId xmlns:a16="http://schemas.microsoft.com/office/drawing/2014/main" id="{23FA6C37-173D-6D38-3A30-FA1D72D19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36071204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2024 Title Slide 8">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circles&#10;&#10;Description automatically generated">
            <a:extLst>
              <a:ext uri="{FF2B5EF4-FFF2-40B4-BE49-F238E27FC236}">
                <a16:creationId xmlns:a16="http://schemas.microsoft.com/office/drawing/2014/main" id="{AB34695B-BF64-9A9A-5B8F-D0531B11F9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8546683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2024 Title Slide 9">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screen&#10;&#10;Description automatically generated">
            <a:extLst>
              <a:ext uri="{FF2B5EF4-FFF2-40B4-BE49-F238E27FC236}">
                <a16:creationId xmlns:a16="http://schemas.microsoft.com/office/drawing/2014/main" id="{24FEDE47-FB2B-C9C1-C95D-BAD3744E1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625459199"/>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2024 Title Slide 10">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e and white background&#10;&#10;Description automatically generated with medium confidence">
            <a:extLst>
              <a:ext uri="{FF2B5EF4-FFF2-40B4-BE49-F238E27FC236}">
                <a16:creationId xmlns:a16="http://schemas.microsoft.com/office/drawing/2014/main" id="{B3F82635-879E-647B-01C9-91821BAC6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2675030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2024 Title Slide 1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olorful background&#10;&#10;Description automatically generated">
            <a:extLst>
              <a:ext uri="{FF2B5EF4-FFF2-40B4-BE49-F238E27FC236}">
                <a16:creationId xmlns:a16="http://schemas.microsoft.com/office/drawing/2014/main" id="{86FB5807-B71D-F702-1331-8C79E4C69E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00561074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2024 Title Slide 1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indow&#10;&#10;Description automatically generated">
            <a:extLst>
              <a:ext uri="{FF2B5EF4-FFF2-40B4-BE49-F238E27FC236}">
                <a16:creationId xmlns:a16="http://schemas.microsoft.com/office/drawing/2014/main" id="{8AB2433E-BFAC-F2C3-360C-0B8DFD9334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18743392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2024 Title Slide 1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keyboard&#10;&#10;Description automatically generated">
            <a:extLst>
              <a:ext uri="{FF2B5EF4-FFF2-40B4-BE49-F238E27FC236}">
                <a16:creationId xmlns:a16="http://schemas.microsoft.com/office/drawing/2014/main" id="{DFE29775-7C7A-E7DD-B671-EC979CFC2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805598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2024 Title Slide 11">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olorful background with black lines&#10;&#10;Description automatically generated">
            <a:extLst>
              <a:ext uri="{FF2B5EF4-FFF2-40B4-BE49-F238E27FC236}">
                <a16:creationId xmlns:a16="http://schemas.microsoft.com/office/drawing/2014/main" id="{9F589E68-4E44-4F64-743D-D110D7385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811561507"/>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16_Title Slide White">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29C2760-8F86-FA90-FC5A-03092AFCD2E6}"/>
              </a:ext>
            </a:extLst>
          </p:cNvPr>
          <p:cNvGrpSpPr/>
          <p:nvPr/>
        </p:nvGrpSpPr>
        <p:grpSpPr>
          <a:xfrm>
            <a:off x="1203325" y="0"/>
            <a:ext cx="2150282" cy="6858000"/>
            <a:chOff x="1203325" y="0"/>
            <a:chExt cx="2150282" cy="6836625"/>
          </a:xfrm>
        </p:grpSpPr>
        <p:sp>
          <p:nvSpPr>
            <p:cNvPr id="5" name="Rectangle 4">
              <a:extLst>
                <a:ext uri="{FF2B5EF4-FFF2-40B4-BE49-F238E27FC236}">
                  <a16:creationId xmlns:a16="http://schemas.microsoft.com/office/drawing/2014/main" id="{796929E8-780D-5519-0DF2-4C576D2EAC34}"/>
                </a:ext>
              </a:extLst>
            </p:cNvPr>
            <p:cNvSpPr/>
            <p:nvPr/>
          </p:nvSpPr>
          <p:spPr>
            <a:xfrm>
              <a:off x="1203325" y="36573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EF10100C-F610-278D-4D53-7E7158556902}"/>
                </a:ext>
              </a:extLst>
            </p:cNvPr>
            <p:cNvSpPr/>
            <p:nvPr/>
          </p:nvSpPr>
          <p:spPr>
            <a:xfrm>
              <a:off x="1203325" y="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493B86C-594C-DF84-7877-153C11DEF966}"/>
                </a:ext>
              </a:extLst>
            </p:cNvPr>
            <p:cNvSpPr/>
            <p:nvPr/>
          </p:nvSpPr>
          <p:spPr>
            <a:xfrm>
              <a:off x="1203325" y="73146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FF48C7B-E1FC-0F12-0084-A6369BD65AFB}"/>
                </a:ext>
              </a:extLst>
            </p:cNvPr>
            <p:cNvSpPr/>
            <p:nvPr/>
          </p:nvSpPr>
          <p:spPr>
            <a:xfrm>
              <a:off x="1203325" y="109719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583AF04-A12C-7432-37DC-29708916EBFB}"/>
                </a:ext>
              </a:extLst>
            </p:cNvPr>
            <p:cNvSpPr/>
            <p:nvPr/>
          </p:nvSpPr>
          <p:spPr>
            <a:xfrm>
              <a:off x="1203325" y="146292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EBBFDD-0E58-15ED-2016-22F75807FCBD}"/>
                </a:ext>
              </a:extLst>
            </p:cNvPr>
            <p:cNvSpPr/>
            <p:nvPr/>
          </p:nvSpPr>
          <p:spPr>
            <a:xfrm>
              <a:off x="1203325" y="18286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BDC105F-BD95-60EF-75ED-0C1165AB0D45}"/>
                </a:ext>
              </a:extLst>
            </p:cNvPr>
            <p:cNvSpPr/>
            <p:nvPr/>
          </p:nvSpPr>
          <p:spPr>
            <a:xfrm>
              <a:off x="1203325" y="219438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C6482A7-121C-2039-421C-467A0A40493E}"/>
                </a:ext>
              </a:extLst>
            </p:cNvPr>
            <p:cNvSpPr/>
            <p:nvPr/>
          </p:nvSpPr>
          <p:spPr>
            <a:xfrm>
              <a:off x="1203325" y="256011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0A26A7E-5C8D-D026-BC8A-93DCB7809AFE}"/>
                </a:ext>
              </a:extLst>
            </p:cNvPr>
            <p:cNvSpPr/>
            <p:nvPr/>
          </p:nvSpPr>
          <p:spPr>
            <a:xfrm>
              <a:off x="1203325" y="2925848"/>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98BB81E5-4B33-DCD5-B993-C21DA3A8E831}"/>
                </a:ext>
              </a:extLst>
            </p:cNvPr>
            <p:cNvSpPr/>
            <p:nvPr/>
          </p:nvSpPr>
          <p:spPr>
            <a:xfrm>
              <a:off x="1203325" y="3291579"/>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D7338DB-98E0-009D-75A5-68EEE1E0BF59}"/>
                </a:ext>
              </a:extLst>
            </p:cNvPr>
            <p:cNvSpPr/>
            <p:nvPr/>
          </p:nvSpPr>
          <p:spPr>
            <a:xfrm>
              <a:off x="1203325" y="365731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D889F66-5EAD-1F0A-350B-91825A36130D}"/>
                </a:ext>
              </a:extLst>
            </p:cNvPr>
            <p:cNvSpPr/>
            <p:nvPr/>
          </p:nvSpPr>
          <p:spPr>
            <a:xfrm>
              <a:off x="1203325" y="402304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C3FEB38-F133-F51A-3126-0E691A3FBF27}"/>
                </a:ext>
              </a:extLst>
            </p:cNvPr>
            <p:cNvSpPr/>
            <p:nvPr/>
          </p:nvSpPr>
          <p:spPr>
            <a:xfrm>
              <a:off x="1203325" y="438877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CF14D641-A23E-8481-1613-934C6499F165}"/>
                </a:ext>
              </a:extLst>
            </p:cNvPr>
            <p:cNvSpPr/>
            <p:nvPr/>
          </p:nvSpPr>
          <p:spPr>
            <a:xfrm>
              <a:off x="1203325" y="475450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127CBA46-B7F6-037A-2B46-3679D598F66A}"/>
                </a:ext>
              </a:extLst>
            </p:cNvPr>
            <p:cNvSpPr/>
            <p:nvPr/>
          </p:nvSpPr>
          <p:spPr>
            <a:xfrm>
              <a:off x="1203325" y="512023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25563D47-E3EB-7C02-1C15-976EFAA3977E}"/>
                </a:ext>
              </a:extLst>
            </p:cNvPr>
            <p:cNvSpPr/>
            <p:nvPr/>
          </p:nvSpPr>
          <p:spPr>
            <a:xfrm>
              <a:off x="1203325" y="548596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101D575A-2988-191E-913A-61BF75F45074}"/>
                </a:ext>
              </a:extLst>
            </p:cNvPr>
            <p:cNvSpPr/>
            <p:nvPr/>
          </p:nvSpPr>
          <p:spPr>
            <a:xfrm>
              <a:off x="1203325" y="585169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F7A65C14-CAAD-9112-F7C0-C2E9145A8B57}"/>
                </a:ext>
              </a:extLst>
            </p:cNvPr>
            <p:cNvSpPr/>
            <p:nvPr/>
          </p:nvSpPr>
          <p:spPr>
            <a:xfrm>
              <a:off x="1203325" y="621742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60789A61-F012-E3B7-7A1D-C9CFA2C04BB1}"/>
                </a:ext>
              </a:extLst>
            </p:cNvPr>
            <p:cNvSpPr/>
            <p:nvPr/>
          </p:nvSpPr>
          <p:spPr>
            <a:xfrm>
              <a:off x="1203325" y="65831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467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0" name="Picture 19" descr="A red and black stripes&#10;&#10;Description automatically generated">
            <a:extLst>
              <a:ext uri="{FF2B5EF4-FFF2-40B4-BE49-F238E27FC236}">
                <a16:creationId xmlns:a16="http://schemas.microsoft.com/office/drawing/2014/main" id="{8ACCEF65-75F0-B143-1CD6-3D29AF5DF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627824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0" name="Picture 9" descr="A blurry image of a person&#10;&#10;Description automatically generated">
            <a:extLst>
              <a:ext uri="{FF2B5EF4-FFF2-40B4-BE49-F238E27FC236}">
                <a16:creationId xmlns:a16="http://schemas.microsoft.com/office/drawing/2014/main" id="{B6D630D7-8CAF-16A0-C662-8887A8F43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824536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2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building&#10;&#10;Description automatically generated">
            <a:extLst>
              <a:ext uri="{FF2B5EF4-FFF2-40B4-BE49-F238E27FC236}">
                <a16:creationId xmlns:a16="http://schemas.microsoft.com/office/drawing/2014/main" id="{89FDA56E-9675-8BA0-65FA-FE3AEE51F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911749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3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string&#10;&#10;Description automatically generated">
            <a:extLst>
              <a:ext uri="{FF2B5EF4-FFF2-40B4-BE49-F238E27FC236}">
                <a16:creationId xmlns:a16="http://schemas.microsoft.com/office/drawing/2014/main" id="{D21D185F-BC0F-C29B-1C89-9CB27D9A0E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5116760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cell phone&#10;&#10;Description automatically generated">
            <a:extLst>
              <a:ext uri="{FF2B5EF4-FFF2-40B4-BE49-F238E27FC236}">
                <a16:creationId xmlns:a16="http://schemas.microsoft.com/office/drawing/2014/main" id="{53D377E3-982C-5A1C-7838-52B23A346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099143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6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4" name="Picture 13" descr="A close up of a circle&#10;&#10;Description automatically generated">
            <a:extLst>
              <a:ext uri="{FF2B5EF4-FFF2-40B4-BE49-F238E27FC236}">
                <a16:creationId xmlns:a16="http://schemas.microsoft.com/office/drawing/2014/main" id="{0262C4E1-E2A3-0E89-68AD-7FA2FB00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450289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7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5" name="Picture 14" descr="A close up of a computer&#10;&#10;Description automatically generated">
            <a:extLst>
              <a:ext uri="{FF2B5EF4-FFF2-40B4-BE49-F238E27FC236}">
                <a16:creationId xmlns:a16="http://schemas.microsoft.com/office/drawing/2014/main" id="{A7781BFF-F01D-9978-F52B-3A9C6A04F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7712516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8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6" name="Picture 15" descr="A blurry image of a circle&#10;&#10;Description automatically generated">
            <a:extLst>
              <a:ext uri="{FF2B5EF4-FFF2-40B4-BE49-F238E27FC236}">
                <a16:creationId xmlns:a16="http://schemas.microsoft.com/office/drawing/2014/main" id="{24FF3251-52AF-0C3B-3511-5BF7FFA2B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1985280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9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7" name="Picture 16" descr="A close up of a person&#10;&#10;Description automatically generated">
            <a:extLst>
              <a:ext uri="{FF2B5EF4-FFF2-40B4-BE49-F238E27FC236}">
                <a16:creationId xmlns:a16="http://schemas.microsoft.com/office/drawing/2014/main" id="{2018EC4D-2C08-9572-77E3-D6006BA36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17434674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1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1" name="Picture 20" descr="A close up of a blue and orange circle&#10;&#10;Description automatically generated">
            <a:extLst>
              <a:ext uri="{FF2B5EF4-FFF2-40B4-BE49-F238E27FC236}">
                <a16:creationId xmlns:a16="http://schemas.microsoft.com/office/drawing/2014/main" id="{2F2AF6AC-138A-9473-361F-D47C484DD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7003716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15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2" name="Picture 21" descr="A white rectangular lines with a blue and red light&#10;&#10;Description automatically generated with medium confidence">
            <a:extLst>
              <a:ext uri="{FF2B5EF4-FFF2-40B4-BE49-F238E27FC236}">
                <a16:creationId xmlns:a16="http://schemas.microsoft.com/office/drawing/2014/main" id="{5FF27479-E580-A8D4-BD03-74775424D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56481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1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9" name="Picture 18" descr="A close up of a keyboard&#10;&#10;Description automatically generated">
            <a:extLst>
              <a:ext uri="{FF2B5EF4-FFF2-40B4-BE49-F238E27FC236}">
                <a16:creationId xmlns:a16="http://schemas.microsoft.com/office/drawing/2014/main" id="{12149406-F223-523C-939D-E58959D95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8512914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10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8" name="Picture 17" descr="A colorful arrows with white lines&#10;&#10;Description automatically generated with medium confidence">
            <a:extLst>
              <a:ext uri="{FF2B5EF4-FFF2-40B4-BE49-F238E27FC236}">
                <a16:creationId xmlns:a16="http://schemas.microsoft.com/office/drawing/2014/main" id="{0FB21A27-ED58-7A15-08A1-8C53B8CB2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31819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72"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BE8A185-7CC5-8DF2-08D4-94325124A732}"/>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92D9FF62-1783-26A4-8457-F9E1B204A2A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A07EB91C-D030-4041-5E2F-EEED39CD687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EEF1472-58B3-29DB-5FF5-16A5912B59C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4ACFF0F4-DCD0-8DEA-6AD2-13C2EE5556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2D9878C-C730-0342-B36B-DDCA9566F0F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C5151D-8924-6BD0-A39E-26C0490277B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D6D38BAC-7559-C221-3AEC-2C4AA9E48F4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ADC0C96-60F7-E783-BBD3-68356E23AF17}"/>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4046838-4B34-25E6-A1AE-67D6B57C041D}"/>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01A434B-AF20-6D6A-96D3-2BBD4CD25B4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4FED9880-692D-851F-73D5-51F1CB624B9A}"/>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E54A763-B60B-FB11-9CF0-5AFEF3E7FA73}"/>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18AC3-A5E3-3C58-D7A7-2FE06D0C7C0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6EF80D1-777A-BB34-F7CC-DFA578B067D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34D83B75-B404-5A43-6A41-78A507B5EEC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01D4675A-84E6-A9E3-4AB2-028793AF8E5F}"/>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F102569-15A9-0F29-C7F7-11CBD384F61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9020326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67"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823288B-85DB-294C-7692-E411DA7ACCE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17BA5C27-AA79-8996-6DA5-B80463A8EC8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AC9966E-94ED-4A7D-9793-5AFB7AC96DC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0851D640-403A-F0EF-0CF6-DBE2B2ED4525}"/>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8A3055-9D50-F167-002E-40D8D70E8A1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825A6E9-454D-1045-3C19-52BB554D0388}"/>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5C7B9FF2-800B-7C30-91B3-C3D3DEB96A8A}"/>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C624F50-4483-DCCB-F913-795D6ED8680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24F87313-457F-A8C1-C7F3-E48314E820DC}"/>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DC5D1342-7259-A923-8427-A29C2376134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3169C29-E12E-AC01-E90D-9D26D0C3CD94}"/>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A28C2CF-A156-6D34-10C0-756E803C775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93D1C2B-2204-3B4C-B8B9-91FFA18189D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880319C-F010-8B13-F94B-4404AB783BC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240FFEE-CE8F-33E5-5665-981321575E28}"/>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599DE9CF-89DE-162B-0A97-F1CC5204935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8D0BCD30-22D1-9DE4-8A44-6BDC4D88B37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C28168B-4BBA-7805-B250-ACA5ACD7487B}"/>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148471644"/>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5" y="2507936"/>
            <a:ext cx="8224171"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221F578-8781-87B9-1187-A0BDA8D2878B}"/>
              </a:ext>
            </a:extLst>
          </p:cNvPr>
          <p:cNvGrpSpPr/>
          <p:nvPr/>
        </p:nvGrpSpPr>
        <p:grpSpPr>
          <a:xfrm>
            <a:off x="9639073" y="94590"/>
            <a:ext cx="1203437" cy="6132474"/>
            <a:chOff x="9753494" y="94590"/>
            <a:chExt cx="1203437" cy="6132474"/>
          </a:xfrm>
          <a:solidFill>
            <a:srgbClr val="595959"/>
          </a:solidFill>
        </p:grpSpPr>
        <p:sp>
          <p:nvSpPr>
            <p:cNvPr id="4" name="Rectangle 3">
              <a:extLst>
                <a:ext uri="{FF2B5EF4-FFF2-40B4-BE49-F238E27FC236}">
                  <a16:creationId xmlns:a16="http://schemas.microsoft.com/office/drawing/2014/main" id="{6FFCE611-42DE-D3A0-B024-675EA52C69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8E5C990-DBD9-DD57-7096-A8AE3AD433C4}"/>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36A0AA81-A215-2ECB-BE8E-1D84D2048D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C62D2DFC-E136-27C3-7563-19774A088E4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D608960A-1BA0-886B-E5F2-5BC64D08296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20EFEB0-AFF1-0449-96EE-2B2E255EFC1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A355978-1D9A-704C-8801-4F2AF661DE55}"/>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A0F42F9C-AE72-ACAD-5BD9-F230333AC8ED}"/>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AEE4BCC-1A37-A423-7099-63ADA4768F5F}"/>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FFCA398-D3EA-1334-408C-C62E52B27288}"/>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5CBF2C9-1C88-D3E9-013C-84B3A3E70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E468EB1A-9332-B3FD-730E-0682C6A4F80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CE2BB46-9251-46E4-7F05-58C65619D9A3}"/>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1AFAAD7-3E76-6B83-6B9D-56DD8D9906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71A03D1-052B-32CC-B4A4-C89BFE18BB98}"/>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5E9A21F8-7C62-3391-5B7F-885334AAB5A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B04FA80-A1C6-BB97-0092-5F2912F0C6A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08681616"/>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65C47B4-A1BC-B5BD-855F-8F2E18EDBB14}"/>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8747B056-24B3-8E5E-F20B-DEF15D68B372}"/>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BFEEC365-0278-94FE-5DEE-BF8C4180735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8C3FFA24-CE8C-989E-ECC2-59EE7D1B7E84}"/>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76EFC428-9EFB-D9E4-96DD-832CA540D176}"/>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B205F4E-3DD3-DAAC-B848-DE93D01B521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6F3DBCF8-5D44-D345-8340-DFAA50B1E6A8}"/>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06FEB0C-4484-0FC4-15F2-EC21C47FD2A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E69889B1-EC10-78E5-C176-E2370E9EC14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434E35-09C9-EC0D-AF03-094C63CEE21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8BCA4BD9-8E12-5769-28DC-17D2341FF5EB}"/>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3FEB7ED-924A-C4DE-31B0-71F7E166635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D1F06246-328A-668D-DFAC-A241D0BD535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E0FF115D-2B33-3BDE-B8EB-D5F8D339451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6119CBA-CBBA-EB46-2915-601C90515F9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1F2118D1-EE44-F4D2-B19F-3B8AFD78039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4BA370A-3DB3-A53B-A4CB-EFD5E437DD04}"/>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4A0B33FD-9E30-B1C7-E319-1F57783B02F8}"/>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7159186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C59B3A3-1FA8-2945-4749-F3EE4DFD0F7B}"/>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A8BF804-A9AD-26FC-223D-66C574C54EB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7D74B32-E084-4634-2616-CE1A2BB89740}"/>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FEC33EF-0DDF-4598-8D6C-7C13A3E6B34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A8FEAB65-C7D4-A263-A6B6-26DC6ED9132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39D086C3-83EC-22A8-A89C-6568FDBFFD4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5C1C374-1965-378E-C46F-BF7913635F3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AAC6CCE2-6EC7-599E-84D3-10698F584141}"/>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1A59009-70E2-62D7-E866-AD9C8A40AF18}"/>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BD8C854-3C4D-E5E3-4CF0-00E4F2A2D60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4895B6C-CBF1-7F63-2BF8-87F7F9AD14F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A9A8F9F-D7D1-1EEA-DF83-877D9938563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957CA1FD-D8E6-12A4-8953-03846251D80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DA103B1-16AF-A0FA-B5C0-B1832B6CC1F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C70A0F3F-2978-5B48-FCA9-EECA2DC5C05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79550012-B4E2-FD17-5ABB-B333FAD5B01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F679306D-0EA6-952C-117C-D6A5BD702BB6}"/>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13F7CBF5-6943-FD23-26E5-B6C81AE3FEB3}"/>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9687994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2134EF6-C13D-58A5-68B7-F97356AF75CD}"/>
              </a:ext>
            </a:extLst>
          </p:cNvPr>
          <p:cNvGrpSpPr/>
          <p:nvPr/>
        </p:nvGrpSpPr>
        <p:grpSpPr>
          <a:xfrm>
            <a:off x="9639073" y="94590"/>
            <a:ext cx="1203437" cy="6132474"/>
            <a:chOff x="9753494" y="94590"/>
            <a:chExt cx="1203437" cy="6132474"/>
          </a:xfrm>
          <a:solidFill>
            <a:srgbClr val="D7D7D7"/>
          </a:solidFill>
        </p:grpSpPr>
        <p:sp>
          <p:nvSpPr>
            <p:cNvPr id="4" name="Rectangle 3">
              <a:extLst>
                <a:ext uri="{FF2B5EF4-FFF2-40B4-BE49-F238E27FC236}">
                  <a16:creationId xmlns:a16="http://schemas.microsoft.com/office/drawing/2014/main" id="{F1141A09-3499-FB2B-9B4E-D8107B19FCC1}"/>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3B818F19-57AC-46ED-D488-B14A4FB7B178}"/>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642A5682-B757-F34F-2B2C-82F574E4EE5E}"/>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4E3B3D-FF3F-2478-3691-E29DD4931E3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83C85D1-8A43-A792-92FD-745808951DE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BDD63E9C-0D48-65B0-BDF4-90AEFFE11493}"/>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73A2679-961E-C0DD-0552-3458F31260C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30AACE-6F17-41FC-B91E-751B5ADCEE72}"/>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54356AE-B896-94A1-6DA5-AE8A43E183E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2D63E57-44CF-6393-668D-BB4E88B99F5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68FDD930-D76A-87D1-FF9F-3E2D383409C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531C9F-B1DE-C0B2-EE15-D41C04A5120F}"/>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693B26B7-C28E-6110-B7F8-F34169599DA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07A4513-F9C3-CBA5-0E96-922CEC38A5E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D4AA24F7-379B-3731-1DB0-1108C91666D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30E5595F-89BA-6141-823C-4D15E9A57E61}"/>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E82A9B66-E21C-24E2-71FD-19E07C9C53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027349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51C4B371-3614-2135-6D51-C1E5BDD13B18}"/>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1A6C3931-3786-B0BD-F3D1-B33E726A8E78}"/>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AF730B8-D17D-DD8F-BDD6-B0E5EE98FE82}"/>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47388C9-1C74-AD60-E5F5-9392DBFD692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6162964-86DE-D037-69E1-308D6B1F984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111F0CC2-43F2-5F0C-743D-24D0C39B335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179A934-F2CA-5D5E-3FC5-6E9A6C31492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DBD6E5B0-2924-F1EF-188F-FD7129794C7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BAA8BF97-91EC-7F39-D34F-5C60174B8D1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4F2697E-B48E-E936-50E1-0A1E67EF9F7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F90D5593-81E1-7472-8EDE-2A080635436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86C771-79F5-1EC2-4B64-101262B6453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2008FFF3-17F1-F666-6C9A-7376DD92E84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367202A0-8F4D-D032-B5AD-59F1C2AC633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D8DCB3DD-2359-76C4-3628-24DBD49E9D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4DBD8CF5-D034-6117-AB1C-A877D91BDE4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B40DF5F-E5DE-DB82-79E6-9DF6114C292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1C8DA8DB-D5D7-7063-5FAE-6E0D467DDE1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759127577"/>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F599072-47F5-8D57-733F-EA9417B207E0}"/>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4159CCD-FE6E-B984-EF46-1807D6E5803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6FCBB7B8-F190-C218-27D2-AA2D7FCB4A21}"/>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1451D712-9732-FDB2-3E4E-DE0F1256B61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666EE3-52CC-025C-FEC5-E00B473F129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E837CCE8-42C9-D0E2-19D9-FAB44761E9B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6965170A-0735-FC0C-3F8B-46906880DC4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86C48150-3F67-F362-2FEB-E9F6A0D57EB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D2CA5D3F-3823-0685-D7FA-487C5E7BB43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0451C67D-8469-40AD-76FA-BB907C090113}"/>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CFC60315-E920-E339-65D9-746C1132475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9DB40DB9-455C-2837-A530-53F9C45DCEBF}"/>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411EA500-1FF8-45DB-C42F-66436E875E96}"/>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ACD5B5D-B363-1DBF-FFA7-3016F3D7F391}"/>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74D3C27-448A-FBCA-DA12-B5CC100F127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FDF0E021-900A-FDD8-3DB0-9EF855B8B07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A05077BA-FFC2-7776-CB9D-3B7505F2B09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5A2F54F6-5015-8935-3684-03836FCD3D0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798566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grpSp>
        <p:nvGrpSpPr>
          <p:cNvPr id="9" name="Group 8">
            <a:extLst>
              <a:ext uri="{FF2B5EF4-FFF2-40B4-BE49-F238E27FC236}">
                <a16:creationId xmlns:a16="http://schemas.microsoft.com/office/drawing/2014/main" id="{FB17AF8D-10FB-CF54-193C-7AA236E0AA8E}"/>
              </a:ext>
            </a:extLst>
          </p:cNvPr>
          <p:cNvGrpSpPr/>
          <p:nvPr/>
        </p:nvGrpSpPr>
        <p:grpSpPr>
          <a:xfrm>
            <a:off x="9639073" y="94590"/>
            <a:ext cx="1203437" cy="6132474"/>
            <a:chOff x="9753494" y="94590"/>
            <a:chExt cx="1203437" cy="6132474"/>
          </a:xfrm>
          <a:solidFill>
            <a:srgbClr val="595959"/>
          </a:solidFill>
        </p:grpSpPr>
        <p:sp>
          <p:nvSpPr>
            <p:cNvPr id="10" name="Rectangle 9">
              <a:extLst>
                <a:ext uri="{FF2B5EF4-FFF2-40B4-BE49-F238E27FC236}">
                  <a16:creationId xmlns:a16="http://schemas.microsoft.com/office/drawing/2014/main" id="{FF5BABEA-DD69-E97D-7CBB-1C74C8CC3D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B99EDA84-A9CF-AE34-0C3D-5C6B4DB25FC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ED1CF83-653A-AC9B-44AB-AE0EACA128D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4E4FB4EB-3D1E-B3D2-5486-8F85C7ADAA4C}"/>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6708EF1-38D5-863D-BF3C-0F287167A68D}"/>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4B49BEC-1037-6312-C419-DEC537F85EBB}"/>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377A15D1-27E1-D97A-1014-62F50992819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9FF8A30-23D9-C51F-A7B1-57766B4746C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D8B2EBBD-5FB5-9F9D-D65A-DA930C996AA9}"/>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E551F4-3F26-9A57-C1F4-E49E4363ED8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72E92F7D-6B7A-3BC7-E0FD-1FDF6F711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A65CE488-6146-97A8-0A73-71B68C1F1E5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D2EADA9B-16B4-190B-5F83-E4235180163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6A516F45-995E-F29C-576D-75881BB61B4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EA27AC31-4A4C-EAE4-116F-AD4F89AF1A0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0F74262-5441-6B7F-2812-144215C99FA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39C263C8-B7C1-9556-8E38-3BE3ADEF975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8251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48DE360-B744-B42A-E9F4-D9CBCF601CE1}"/>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4DB555B9-73E5-22F0-54FA-F021D9A0297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DA07F586-439F-F434-2AA8-ACACACFF9FF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F70BD5A-8406-E115-6E9D-54992603E0A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685013AB-588A-63F3-2E19-6194F2C885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61F8D8B-5465-E922-A1D6-E60551DB8C8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C0E8E5D5-BD70-0827-7CFC-F8D1558E818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D546DD72-B81C-97FE-55D9-C2CEF5E6C30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883EB4B-175E-94FF-82A2-D41AB190D06B}"/>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C5269FD-3021-CB52-ADC0-83B7CA497DD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E7A08A8-4D68-178B-B9CC-C7E2E7B2EB2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3E9CEC-971D-E707-71A6-1687E25B151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D413B701-899E-3703-A862-25A1C8B81B7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EDC58E6B-8F2F-B41B-687C-2A4363BDA00F}"/>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E391AFE-D16B-AF0B-D8AE-AFBBF52C863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21E8450-A464-B287-A22C-D991462B05A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DF0C3D1-033E-8F4D-4877-968DAB9A811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8E869D4-2FEA-52C3-7E9A-D7BADCBD180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9203110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33DCEF7B-A6CD-F9CF-2494-4388A5794D6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B0EDA617-0052-9A3D-DCF1-2FDFE0C1F81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43478021-B688-764F-0B36-6974E18CA1F6}"/>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40A1F28-C58E-EB2D-3FE6-0DED973B115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87B747C5-A261-9534-72EC-E01C6941B6D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4269EC11-BC55-6120-266F-B8B9A71274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5B606781-9BA6-D9DD-FB74-35ADB2F57D0E}"/>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7816F835-C425-19AE-6830-D6A034531157}"/>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760EA4F-CE57-A89B-E41F-B7F71FD3E28F}"/>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4315FEC-31B5-7408-7D00-A54B2242A39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F766BAB-6906-8AB0-B12C-7C3A5CFC0B5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C382D849-2814-772C-B926-8E2E75A05E8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07A33-218E-33DB-37CC-C31BF511C7F8}"/>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3E4B9433-9A3F-753F-C5E8-70262C2E75C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CAD42E-5C2B-6326-5731-25D43B37A79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98BDA659-A497-5687-4D7C-742C7952D01E}"/>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D7031D1A-2B67-1A62-989D-2AA2CA2F7AF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40E89CFF-5340-9161-BA3F-A97E679B7B7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644299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a:t>
            </a:r>
            <a:r>
              <a:rPr lang="en-US" dirty="0"/>
              <a:t>divider slide </a:t>
            </a:r>
            <a:r>
              <a:rPr dirty="0"/>
              <a:t>(30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34B23F4-0D9E-5593-7EC2-95A56A168FE8}"/>
              </a:ext>
            </a:extLst>
          </p:cNvPr>
          <p:cNvGrpSpPr/>
          <p:nvPr/>
        </p:nvGrpSpPr>
        <p:grpSpPr>
          <a:xfrm>
            <a:off x="9639073" y="94590"/>
            <a:ext cx="1203437" cy="6132474"/>
            <a:chOff x="9753494" y="94590"/>
            <a:chExt cx="1203437" cy="6132474"/>
          </a:xfrm>
          <a:solidFill>
            <a:srgbClr val="D7D7D7"/>
          </a:solidFill>
        </p:grpSpPr>
        <p:sp>
          <p:nvSpPr>
            <p:cNvPr id="24" name="Rectangle 23">
              <a:extLst>
                <a:ext uri="{FF2B5EF4-FFF2-40B4-BE49-F238E27FC236}">
                  <a16:creationId xmlns:a16="http://schemas.microsoft.com/office/drawing/2014/main" id="{7817517D-865F-4F32-8581-2B9022E1002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06B5B77A-9311-8ACB-5BB4-6CF8FDCBCAA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CA0DB9E4-2BF0-F26F-19E0-8D92FABD8B4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64D7668C-7569-263E-B434-15D9453595E2}"/>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DEEADD4E-2AC5-F5F3-4D3A-19AF1D78F0B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D2BD6EA-6B1D-5657-D35C-5169B975FA62}"/>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977CF940-D6BE-12C5-DBCE-1B085FF04E3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ABDABAB-A048-DA2D-5F9A-CD4CED50E0C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AA868854-0F67-D738-9ECF-F9BEA758C06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5739498-5A2C-59ED-EA66-7E26AB14739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25C919A0-B3FE-0171-5380-7CBC527E03A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900F90-4077-E95A-7163-655A95ABCA8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C3C278D7-584F-B5CF-DDAC-BD11F49CBD3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F3BA31ED-365D-92CD-4870-F140409C171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766749B5-D1CC-38F6-A8E2-8F61C82E9C4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51DDF5E-9BDE-18F0-F0CA-83342B3D9F2A}"/>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CA5C07C-74B8-236F-68E6-CBE804C45B3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5534017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Content Layouts</a:t>
            </a:r>
          </a:p>
        </p:txBody>
      </p:sp>
    </p:spTree>
    <p:extLst>
      <p:ext uri="{BB962C8B-B14F-4D97-AF65-F5344CB8AC3E}">
        <p14:creationId xmlns:p14="http://schemas.microsoft.com/office/powerpoint/2010/main" val="419744990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defRPr b="0" i="0"/>
            </a:lvl1pPr>
            <a:lvl2pPr>
              <a:defRPr b="0" i="0"/>
            </a:lvl2pPr>
            <a:lvl3pPr>
              <a:defRPr b="0" i="0"/>
            </a:lvl3pPr>
            <a:lvl4pPr>
              <a:defRPr b="0" i="0"/>
            </a:lvl4pPr>
            <a:lvl5pPr>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87200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1_Agenda">
    <p:spTree>
      <p:nvGrpSpPr>
        <p:cNvPr id="1" name=""/>
        <p:cNvGrpSpPr/>
        <p:nvPr/>
      </p:nvGrpSpPr>
      <p:grpSpPr>
        <a:xfrm>
          <a:off x="0" y="0"/>
          <a:ext cx="0" cy="0"/>
          <a:chOff x="0" y="0"/>
          <a:chExt cx="0" cy="0"/>
        </a:xfrm>
      </p:grpSpPr>
      <p:pic>
        <p:nvPicPr>
          <p:cNvPr id="4" name="Picture 3" descr="A black background with white text&#10;&#10;Description automatically generated">
            <a:extLst>
              <a:ext uri="{FF2B5EF4-FFF2-40B4-BE49-F238E27FC236}">
                <a16:creationId xmlns:a16="http://schemas.microsoft.com/office/drawing/2014/main" id="{1D2C5C6E-9CFE-6F32-E00D-697C601A0F87}"/>
              </a:ext>
            </a:extLst>
          </p:cNvPr>
          <p:cNvPicPr>
            <a:picLocks noChangeAspect="1"/>
          </p:cNvPicPr>
          <p:nvPr/>
        </p:nvPicPr>
        <p:blipFill rotWithShape="1">
          <a:blip r:embed="rId2">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buClr>
                <a:schemeClr val="bg1"/>
              </a:buClr>
              <a:defRPr b="0" i="0">
                <a:solidFill>
                  <a:srgbClr val="FFFFFF"/>
                </a:solidFill>
              </a:defRPr>
            </a:lvl1pPr>
            <a:lvl2pPr>
              <a:buClr>
                <a:schemeClr val="bg1"/>
              </a:buClr>
              <a:defRPr b="0" i="0">
                <a:solidFill>
                  <a:srgbClr val="FFFFFF"/>
                </a:solidFill>
              </a:defRPr>
            </a:lvl2pPr>
            <a:lvl3pPr>
              <a:buClr>
                <a:schemeClr val="bg1"/>
              </a:buClr>
              <a:defRPr b="0" i="0">
                <a:solidFill>
                  <a:srgbClr val="FFFFFF"/>
                </a:solidFill>
              </a:defRPr>
            </a:lvl3pPr>
            <a:lvl4pPr>
              <a:buClr>
                <a:schemeClr val="bg1"/>
              </a:buClr>
              <a:defRPr b="0" i="0">
                <a:solidFill>
                  <a:srgbClr val="FFFFFF"/>
                </a:solidFill>
              </a:defRPr>
            </a:lvl4pPr>
            <a:lvl5pPr>
              <a:buClr>
                <a:schemeClr val="bg1"/>
              </a:buClr>
              <a:defRPr b="0" i="0">
                <a:solidFill>
                  <a:srgbClr val="FFFFFF"/>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94212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1525292"/>
            <a:ext cx="10972800" cy="3317296"/>
          </a:xfrm>
        </p:spPr>
        <p:txBody>
          <a:bodyPr anchor="ctr">
            <a:noAutofit/>
          </a:bodyPr>
          <a:lstStyle>
            <a:lvl1pPr algn="ctr">
              <a:defRPr sz="4000" b="0" i="0" cap="none" baseline="0">
                <a:solidFill>
                  <a:srgbClr val="FF6600"/>
                </a:solidFill>
              </a:defRPr>
            </a:lvl1pPr>
          </a:lstStyle>
          <a:p>
            <a:r>
              <a:t>Add statement text here</a:t>
            </a:r>
          </a:p>
        </p:txBody>
      </p:sp>
    </p:spTree>
    <p:extLst>
      <p:ext uri="{BB962C8B-B14F-4D97-AF65-F5344CB8AC3E}">
        <p14:creationId xmlns:p14="http://schemas.microsoft.com/office/powerpoint/2010/main" val="822170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FCC5E9F-C07C-EA9E-EE61-DE76AAB915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506159" y="1419226"/>
            <a:ext cx="9558591" cy="4714874"/>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4466727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Tree>
    <p:extLst>
      <p:ext uri="{BB962C8B-B14F-4D97-AF65-F5344CB8AC3E}">
        <p14:creationId xmlns:p14="http://schemas.microsoft.com/office/powerpoint/2010/main" val="18752957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0" y="0"/>
            <a:ext cx="4354348"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47376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4354346" y="0"/>
            <a:ext cx="7837653"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10651090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7162908" y="0"/>
            <a:ext cx="5029091"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6197600" cy="480131"/>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1714500"/>
            <a:ext cx="6197600"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3914741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pic>
        <p:nvPicPr>
          <p:cNvPr id="3" name="Picture 2" descr="A black background with white text&#10;&#10;Description automatically generated">
            <a:extLst>
              <a:ext uri="{FF2B5EF4-FFF2-40B4-BE49-F238E27FC236}">
                <a16:creationId xmlns:a16="http://schemas.microsoft.com/office/drawing/2014/main" id="{CE124269-9A28-B0DD-48F2-674C5DC4C61D}"/>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Group 22">
            <a:extLst>
              <a:ext uri="{FF2B5EF4-FFF2-40B4-BE49-F238E27FC236}">
                <a16:creationId xmlns:a16="http://schemas.microsoft.com/office/drawing/2014/main" id="{4722003F-79B4-AB21-877A-5E3D7659A331}"/>
              </a:ext>
            </a:extLst>
          </p:cNvPr>
          <p:cNvGrpSpPr/>
          <p:nvPr/>
        </p:nvGrpSpPr>
        <p:grpSpPr>
          <a:xfrm>
            <a:off x="9639073" y="94590"/>
            <a:ext cx="1203437" cy="6132474"/>
            <a:chOff x="9753494" y="94590"/>
            <a:chExt cx="1203437" cy="6132474"/>
          </a:xfrm>
          <a:solidFill>
            <a:srgbClr val="595959"/>
          </a:solidFill>
        </p:grpSpPr>
        <p:sp>
          <p:nvSpPr>
            <p:cNvPr id="24" name="Rectangle 23">
              <a:extLst>
                <a:ext uri="{FF2B5EF4-FFF2-40B4-BE49-F238E27FC236}">
                  <a16:creationId xmlns:a16="http://schemas.microsoft.com/office/drawing/2014/main" id="{DFC17962-DF73-81EE-6A17-069CF853C52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A550CEDE-9477-4CF2-E834-8259E5FFF8B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5DA055D-6FF1-4000-737E-5A45FD8BE2B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98B59D35-D78D-037E-8CC9-F0F770DAAD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EA3C4B24-E2C2-B1BF-9B17-4B687FF206E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9407BB89-209F-35D2-3F6E-1F4AEA334B6D}"/>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F063282-C1E2-7A6B-79CF-73854CEB2E6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4F4FFE0A-B7F0-5ABD-2815-09D07626C74E}"/>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1B87ABFC-2BE3-7158-A188-F4E6FFEC7066}"/>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3929CC96-8509-29EC-A7A5-85E8CEFF3F9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7B76BCD0-BB1A-6007-2896-F2D0296D5CD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DEFB1203-67C0-E117-A848-2C8FC906E90B}"/>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F9D9706C-277E-3825-E2AB-71D3E886143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0B6B76D-65C3-8F2E-A586-72B2E7FB075D}"/>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887AB57-E140-81E6-9BCE-83888FA81E52}"/>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B6DB640-99B4-A6A2-EBF9-BB838A7693A9}"/>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0EC0100C-6A49-44B0-11F5-A38812627097}"/>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4" name="Title 3">
            <a:extLst>
              <a:ext uri="{FF2B5EF4-FFF2-40B4-BE49-F238E27FC236}">
                <a16:creationId xmlns:a16="http://schemas.microsoft.com/office/drawing/2014/main" id="{D37F26FB-674E-FE41-68BB-D4D727762667}"/>
              </a:ext>
            </a:extLst>
          </p:cNvPr>
          <p:cNvSpPr>
            <a:spLocks noGrp="1"/>
          </p:cNvSpPr>
          <p:nvPr>
            <p:ph type="title"/>
          </p:nvPr>
        </p:nvSpPr>
        <p:spPr>
          <a:xfrm>
            <a:off x="506159" y="246888"/>
            <a:ext cx="8529891" cy="869670"/>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82272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4176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506159" y="1419225"/>
            <a:ext cx="5533961" cy="4714876"/>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4" name="Content Placeholder 3"/>
          <p:cNvSpPr>
            <a:spLocks noGrp="1"/>
          </p:cNvSpPr>
          <p:nvPr>
            <p:ph sz="half" idx="2" hasCustomPrompt="1"/>
          </p:nvPr>
        </p:nvSpPr>
        <p:spPr>
          <a:xfrm>
            <a:off x="6172200" y="1419225"/>
            <a:ext cx="5410200" cy="4714876"/>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7267752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Content w Outline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266025-9E1B-4550-80B7-4233B95E453E}"/>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1" name="Rectangle 10">
            <a:extLst>
              <a:ext uri="{FF2B5EF4-FFF2-40B4-BE49-F238E27FC236}">
                <a16:creationId xmlns:a16="http://schemas.microsoft.com/office/drawing/2014/main" id="{7AC654FB-2923-4D8C-81B0-C376356E3083}"/>
              </a:ext>
            </a:extLst>
          </p:cNvPr>
          <p:cNvSpPr/>
          <p:nvPr/>
        </p:nvSpPr>
        <p:spPr>
          <a:xfrm>
            <a:off x="755737" y="1475752"/>
            <a:ext cx="10753030" cy="4313749"/>
          </a:xfrm>
          <a:prstGeom prst="rect">
            <a:avLst/>
          </a:prstGeom>
          <a:solidFill>
            <a:srgbClr val="FF6600"/>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DDA706AB-1841-43B8-B8CA-8AD6FD12B33A}"/>
              </a:ext>
            </a:extLst>
          </p:cNvPr>
          <p:cNvSpPr/>
          <p:nvPr/>
        </p:nvSpPr>
        <p:spPr>
          <a:xfrm>
            <a:off x="632815" y="1603565"/>
            <a:ext cx="10753344" cy="431596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765981" y="1861232"/>
            <a:ext cx="10431439" cy="3866747"/>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4333108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Only w Gray Bkg">
    <p:spTree>
      <p:nvGrpSpPr>
        <p:cNvPr id="1" name=""/>
        <p:cNvGrpSpPr/>
        <p:nvPr/>
      </p:nvGrpSpPr>
      <p:grpSpPr>
        <a:xfrm>
          <a:off x="0" y="0"/>
          <a:ext cx="0" cy="0"/>
          <a:chOff x="0" y="0"/>
          <a:chExt cx="0" cy="0"/>
        </a:xfrm>
      </p:grpSpPr>
      <p:sp>
        <p:nvSpPr>
          <p:cNvPr id="6" name="Rectangle 5"/>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7"/>
          <p:cNvSpPr>
            <a:spLocks noGrp="1"/>
          </p:cNvSpPr>
          <p:nvPr>
            <p:ph type="body" sz="quarter" idx="13" hasCustomPrompt="1"/>
          </p:nvPr>
        </p:nvSpPr>
        <p:spPr>
          <a:xfrm>
            <a:off x="525781" y="6333336"/>
            <a:ext cx="9658350" cy="239650"/>
          </a:xfrm>
        </p:spPr>
        <p:txBody>
          <a:bodyPr lIns="91440" rIns="91440" anchor="b">
            <a:normAutofit/>
          </a:bodyPr>
          <a:lstStyle>
            <a:lvl1pPr marL="0" indent="0">
              <a:lnSpc>
                <a:spcPct val="90000"/>
              </a:lnSpc>
              <a:spcBef>
                <a:spcPts val="0"/>
              </a:spcBef>
              <a:buNone/>
              <a:defRPr sz="600" b="0" i="0" baseline="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rPr dirty="0"/>
              <a:t>*Footnote/source info goes here. </a:t>
            </a:r>
          </a:p>
        </p:txBody>
      </p:sp>
    </p:spTree>
    <p:extLst>
      <p:ext uri="{BB962C8B-B14F-4D97-AF65-F5344CB8AC3E}">
        <p14:creationId xmlns:p14="http://schemas.microsoft.com/office/powerpoint/2010/main" val="8049819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7" name="Table Placeholder 6"/>
          <p:cNvSpPr>
            <a:spLocks noGrp="1"/>
          </p:cNvSpPr>
          <p:nvPr>
            <p:ph type="tbl" sz="quarter" idx="12"/>
          </p:nvPr>
        </p:nvSpPr>
        <p:spPr>
          <a:xfrm>
            <a:off x="609600" y="1524000"/>
            <a:ext cx="10972800" cy="4610099"/>
          </a:xfrm>
        </p:spPr>
        <p:txBody>
          <a:bodyPr rtlCol="0">
            <a:normAutofit/>
          </a:bodyPr>
          <a:lstStyle>
            <a:lvl1pPr>
              <a:buNone/>
              <a:defRPr b="0" i="0">
                <a:latin typeface="+mn-lt"/>
              </a:defRPr>
            </a:lvl1pPr>
          </a:lstStyle>
          <a:p>
            <a:pPr lvl="0"/>
            <a:r>
              <a:rPr lang="en-US"/>
              <a:t>Click icon to add table</a:t>
            </a:r>
            <a:endParaRPr/>
          </a:p>
        </p:txBody>
      </p:sp>
      <p:sp>
        <p:nvSpPr>
          <p:cNvPr id="11" name="Text Placeholder 7"/>
          <p:cNvSpPr>
            <a:spLocks noGrp="1"/>
          </p:cNvSpPr>
          <p:nvPr>
            <p:ph type="body" sz="quarter" idx="16"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7382665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Illustrative Background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1554641"/>
            <a:ext cx="10972800" cy="3748719"/>
          </a:xfrm>
          <a:prstGeom prst="rect">
            <a:avLst/>
          </a:prstGeom>
          <a:noFill/>
        </p:spPr>
        <p:txBody>
          <a:bodyPr wrap="square" rtlCol="0">
            <a:spAutoFit/>
          </a:bodyPr>
          <a:lstStyle/>
          <a:p>
            <a:pPr algn="ctr">
              <a:lnSpc>
                <a:spcPct val="90000"/>
              </a:lnSpc>
            </a:pPr>
            <a:r>
              <a:rPr sz="8800">
                <a:solidFill>
                  <a:srgbClr val="FFFFFF"/>
                </a:solidFill>
              </a:rPr>
              <a:t>Content Layouts </a:t>
            </a:r>
            <a:br>
              <a:rPr sz="8800">
                <a:solidFill>
                  <a:srgbClr val="FFFFFF"/>
                </a:solidFill>
              </a:rPr>
            </a:br>
            <a:r>
              <a:rPr sz="8800">
                <a:solidFill>
                  <a:srgbClr val="FFFFFF"/>
                </a:solidFill>
              </a:rPr>
              <a:t>With Illustrative Backgrounds</a:t>
            </a:r>
          </a:p>
        </p:txBody>
      </p:sp>
    </p:spTree>
    <p:extLst>
      <p:ext uri="{BB962C8B-B14F-4D97-AF65-F5344CB8AC3E}">
        <p14:creationId xmlns:p14="http://schemas.microsoft.com/office/powerpoint/2010/main" val="492242097"/>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w Illustration">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9" name="Picture 8"/>
          <p:cNvPicPr>
            <a:picLocks noChangeAspect="1"/>
          </p:cNvPicPr>
          <p:nvPr/>
        </p:nvPicPr>
        <p:blipFill>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0" y="1725837"/>
            <a:ext cx="6253708" cy="4598762"/>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153160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w Map">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282" name="Picture 3281" descr="A black and white image of a world map&#10;&#10;Description automatically generated with low confidence">
            <a:extLst>
              <a:ext uri="{FF2B5EF4-FFF2-40B4-BE49-F238E27FC236}">
                <a16:creationId xmlns:a16="http://schemas.microsoft.com/office/drawing/2014/main" id="{C5A3C60E-36A9-48A8-9533-08D59839BE3D}"/>
              </a:ext>
            </a:extLst>
          </p:cNvPr>
          <p:cNvPicPr>
            <a:picLocks noChangeAspect="1"/>
          </p:cNvPicPr>
          <p:nvPr/>
        </p:nvPicPr>
        <p:blipFill rotWithShape="1">
          <a:blip r:embed="rId2">
            <a:extLst>
              <a:ext uri="{28A0092B-C50C-407E-A947-70E740481C1C}">
                <a14:useLocalDpi xmlns:a14="http://schemas.microsoft.com/office/drawing/2010/main" val="0"/>
              </a:ext>
            </a:extLst>
          </a:blip>
          <a:srcRect b="-7"/>
          <a:stretch/>
        </p:blipFill>
        <p:spPr>
          <a:xfrm>
            <a:off x="0" y="1130021"/>
            <a:ext cx="12191999" cy="5194580"/>
          </a:xfrm>
          <a:prstGeom prst="rect">
            <a:avLst/>
          </a:prstGeom>
          <a:solidFill>
            <a:srgbClr val="EBEBEB"/>
          </a:solidFill>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hidden="1"/>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046238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w Big Block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6FEC5-18A7-48A1-A37D-E3EB265FDA63}"/>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6" name="Graphic 35">
            <a:extLst>
              <a:ext uri="{FF2B5EF4-FFF2-40B4-BE49-F238E27FC236}">
                <a16:creationId xmlns:a16="http://schemas.microsoft.com/office/drawing/2014/main" id="{7D52D2EF-121D-48A6-8FB5-914013177D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
          <a:stretch/>
        </p:blipFill>
        <p:spPr>
          <a:xfrm>
            <a:off x="0" y="1130772"/>
            <a:ext cx="12192000"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664178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w Wire Globe">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9" name="Picture 18" descr="A picture containing web, outdoor object&#10;&#10;Description automatically generated">
            <a:extLst>
              <a:ext uri="{FF2B5EF4-FFF2-40B4-BE49-F238E27FC236}">
                <a16:creationId xmlns:a16="http://schemas.microsoft.com/office/drawing/2014/main" id="{7DF020C5-9200-41B0-856A-631F6CEAD928}"/>
              </a:ext>
            </a:extLst>
          </p:cNvPr>
          <p:cNvPicPr>
            <a:picLocks noChangeAspect="1"/>
          </p:cNvPicPr>
          <p:nvPr/>
        </p:nvPicPr>
        <p:blipFill rotWithShape="1">
          <a:blip r:embed="rId2">
            <a:extLst>
              <a:ext uri="{28A0092B-C50C-407E-A947-70E740481C1C}">
                <a14:useLocalDpi xmlns:a14="http://schemas.microsoft.com/office/drawing/2010/main" val="0"/>
              </a:ext>
            </a:extLst>
          </a:blip>
          <a:srcRect r="11" b="2"/>
          <a:stretch/>
        </p:blipFill>
        <p:spPr>
          <a:xfrm>
            <a:off x="7642989" y="1130018"/>
            <a:ext cx="4549011" cy="5194581"/>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07171410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w Rectangular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0" name="Picture 9" descr="Diagram&#10;&#10;Description automatically generated">
            <a:extLst>
              <a:ext uri="{FF2B5EF4-FFF2-40B4-BE49-F238E27FC236}">
                <a16:creationId xmlns:a16="http://schemas.microsoft.com/office/drawing/2014/main" id="{B6596A50-2CBB-4E6C-985C-F16CB820F7F1}"/>
              </a:ext>
            </a:extLst>
          </p:cNvPr>
          <p:cNvPicPr>
            <a:picLocks noChangeAspect="1"/>
          </p:cNvPicPr>
          <p:nvPr/>
        </p:nvPicPr>
        <p:blipFill>
          <a:blip r:embed="rId2">
            <a:extLst>
              <a:ext uri="{28A0092B-C50C-407E-A947-70E740481C1C}">
                <a14:useLocalDpi xmlns:a14="http://schemas.microsoft.com/office/drawing/2010/main" val="0"/>
              </a:ext>
            </a:extLst>
          </a:blip>
          <a:srcRect t="16477" b="7777"/>
          <a:stretch/>
        </p:blipFill>
        <p:spPr>
          <a:xfrm>
            <a:off x="592" y="1130021"/>
            <a:ext cx="12190815"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solidFill>
            <a:srgbClr val="EBEBEB"/>
          </a:solidFill>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9810992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Char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Chart Layouts</a:t>
            </a:r>
          </a:p>
        </p:txBody>
      </p:sp>
    </p:spTree>
    <p:extLst>
      <p:ext uri="{BB962C8B-B14F-4D97-AF65-F5344CB8AC3E}">
        <p14:creationId xmlns:p14="http://schemas.microsoft.com/office/powerpoint/2010/main" val="2763861518"/>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hart w Heade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975D68D-D158-2145-6100-0E9E135FC1E0}"/>
              </a:ext>
            </a:extLst>
          </p:cNvPr>
          <p:cNvSpPr/>
          <p:nvPr/>
        </p:nvSpPr>
        <p:spPr>
          <a:xfrm>
            <a:off x="0" y="1130021"/>
            <a:ext cx="12192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19225"/>
            <a:ext cx="10972800" cy="406400"/>
          </a:xfrm>
          <a:solidFill>
            <a:srgbClr val="EBEBEB"/>
          </a:solidFill>
          <a:effectLst>
            <a:outerShdw dist="10160" dir="5400000" algn="t" rotWithShape="0">
              <a:prstClr val="black">
                <a:alpha val="40000"/>
              </a:prstClr>
            </a:outerShdw>
          </a:effectLst>
        </p:spPr>
        <p:txBody>
          <a:bodyPr lIns="0" anchor="ctr">
            <a:noAutofit/>
          </a:bodyPr>
          <a:lstStyle>
            <a:lvl1pPr marL="0" indent="0" algn="l">
              <a:lnSpc>
                <a:spcPct val="100000"/>
              </a:lnSpc>
              <a:spcBef>
                <a:spcPts val="0"/>
              </a:spcBef>
              <a:buNone/>
              <a:defRPr sz="18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rPr dirty="0"/>
              <a:t>Chart Header (1</a:t>
            </a:r>
            <a:r>
              <a:rPr lang="en-US" dirty="0"/>
              <a:t>8</a:t>
            </a:r>
            <a:r>
              <a:rPr dirty="0"/>
              <a:t> pt)</a:t>
            </a:r>
          </a:p>
        </p:txBody>
      </p:sp>
      <p:sp>
        <p:nvSpPr>
          <p:cNvPr id="4" name="Content Placeholder 3"/>
          <p:cNvSpPr>
            <a:spLocks noGrp="1"/>
          </p:cNvSpPr>
          <p:nvPr>
            <p:ph sz="quarter" idx="32" hasCustomPrompt="1"/>
          </p:nvPr>
        </p:nvSpPr>
        <p:spPr>
          <a:xfrm>
            <a:off x="506159" y="2012950"/>
            <a:ext cx="11076241"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0" name="Text Placeholder 7"/>
          <p:cNvSpPr>
            <a:spLocks noGrp="1"/>
          </p:cNvSpPr>
          <p:nvPr>
            <p:ph type="body" sz="quarter" idx="13" hasCustomPrompt="1"/>
          </p:nvPr>
        </p:nvSpPr>
        <p:spPr>
          <a:xfrm>
            <a:off x="508000" y="6333336"/>
            <a:ext cx="9676131"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9245722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hart or Table w Text">
    <p:spTree>
      <p:nvGrpSpPr>
        <p:cNvPr id="1" name=""/>
        <p:cNvGrpSpPr/>
        <p:nvPr/>
      </p:nvGrpSpPr>
      <p:grpSpPr>
        <a:xfrm>
          <a:off x="0" y="0"/>
          <a:ext cx="0" cy="0"/>
          <a:chOff x="0" y="0"/>
          <a:chExt cx="0" cy="0"/>
        </a:xfrm>
      </p:grpSpPr>
      <p:sp>
        <p:nvSpPr>
          <p:cNvPr id="13" name="Rectangle 12"/>
          <p:cNvSpPr/>
          <p:nvPr/>
        </p:nvSpPr>
        <p:spPr>
          <a:xfrm>
            <a:off x="1" y="1130021"/>
            <a:ext cx="7632192"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6721772" cy="406400"/>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506159" y="2021686"/>
            <a:ext cx="6825213" cy="413447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7" name="Text Placeholder 4"/>
          <p:cNvSpPr>
            <a:spLocks noGrp="1"/>
          </p:cNvSpPr>
          <p:nvPr>
            <p:ph type="body" sz="quarter" idx="33" hasCustomPrompt="1"/>
          </p:nvPr>
        </p:nvSpPr>
        <p:spPr>
          <a:xfrm>
            <a:off x="8145128" y="2021686"/>
            <a:ext cx="3538873" cy="4134471"/>
          </a:xfrm>
        </p:spPr>
        <p:txBody>
          <a:bodyPr/>
          <a:lstStyle>
            <a:lvl1pPr marL="0" indent="0">
              <a:buFont typeface="Arial" panose="020B0604020202020204" pitchFamily="34" charset="0"/>
              <a:buChar char="​"/>
              <a:defRPr b="0" i="0"/>
            </a:lvl1pPr>
            <a:lvl2pPr marL="228600">
              <a:defRPr b="0" i="0"/>
            </a:lvl2pPr>
            <a:lvl3pPr marL="548640" indent="-228600">
              <a:defRPr b="0" i="0"/>
            </a:lvl3pPr>
            <a:lvl4pPr marL="868680">
              <a:defRPr b="0" i="0"/>
            </a:lvl4pPr>
            <a:lvl5pPr marL="1188720">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7625656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ide by Side Chart and Text">
    <p:spTree>
      <p:nvGrpSpPr>
        <p:cNvPr id="1" name=""/>
        <p:cNvGrpSpPr/>
        <p:nvPr/>
      </p:nvGrpSpPr>
      <p:grpSpPr>
        <a:xfrm>
          <a:off x="0" y="0"/>
          <a:ext cx="0" cy="0"/>
          <a:chOff x="0" y="0"/>
          <a:chExt cx="0" cy="0"/>
        </a:xfrm>
      </p:grpSpPr>
      <p:sp>
        <p:nvSpPr>
          <p:cNvPr id="24" name="Rectangle 23"/>
          <p:cNvSpPr/>
          <p:nvPr/>
        </p:nvSpPr>
        <p:spPr>
          <a:xfrm>
            <a:off x="1" y="1130021"/>
            <a:ext cx="6110855"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6</a:t>
            </a:r>
            <a:r>
              <a:rPr dirty="0"/>
              <a:t> pt)</a:t>
            </a:r>
          </a:p>
        </p:txBody>
      </p:sp>
      <p:sp>
        <p:nvSpPr>
          <p:cNvPr id="4" name="Content Placeholder 3"/>
          <p:cNvSpPr>
            <a:spLocks noGrp="1"/>
          </p:cNvSpPr>
          <p:nvPr>
            <p:ph sz="quarter" idx="32" hasCustomPrompt="1"/>
          </p:nvPr>
        </p:nvSpPr>
        <p:spPr>
          <a:xfrm>
            <a:off x="500980" y="2012950"/>
            <a:ext cx="5096258"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3" hasCustomPrompt="1"/>
          </p:nvPr>
        </p:nvSpPr>
        <p:spPr>
          <a:xfrm>
            <a:off x="6587744" y="2012950"/>
            <a:ext cx="5096256" cy="4121148"/>
          </a:xfrm>
        </p:spPr>
        <p:txBody>
          <a:bodyPr/>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059722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ide by Side Charts on Gray Bkg">
    <p:spTree>
      <p:nvGrpSpPr>
        <p:cNvPr id="1" name=""/>
        <p:cNvGrpSpPr/>
        <p:nvPr/>
      </p:nvGrpSpPr>
      <p:grpSpPr>
        <a:xfrm>
          <a:off x="0" y="0"/>
          <a:ext cx="0" cy="0"/>
          <a:chOff x="0" y="0"/>
          <a:chExt cx="0" cy="0"/>
        </a:xfrm>
      </p:grpSpPr>
      <p:sp>
        <p:nvSpPr>
          <p:cNvPr id="33" name="Rectangle 32"/>
          <p:cNvSpPr/>
          <p:nvPr/>
        </p:nvSpPr>
        <p:spPr>
          <a:xfrm>
            <a:off x="6096000" y="1130021"/>
            <a:ext cx="6096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4" name="Rectangle 23"/>
          <p:cNvSpPr/>
          <p:nvPr/>
        </p:nvSpPr>
        <p:spPr>
          <a:xfrm>
            <a:off x="0" y="1130021"/>
            <a:ext cx="6096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20114"/>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10" name="Content Placeholder 9"/>
          <p:cNvSpPr>
            <a:spLocks noGrp="1"/>
          </p:cNvSpPr>
          <p:nvPr>
            <p:ph sz="quarter" idx="18" hasCustomPrompt="1"/>
          </p:nvPr>
        </p:nvSpPr>
        <p:spPr>
          <a:xfrm>
            <a:off x="500980" y="2012950"/>
            <a:ext cx="5096258" cy="4121151"/>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23" name="Text Placeholder 13"/>
          <p:cNvSpPr>
            <a:spLocks noGrp="1"/>
          </p:cNvSpPr>
          <p:nvPr>
            <p:ph type="body" sz="quarter" idx="19" hasCustomPrompt="1"/>
          </p:nvPr>
        </p:nvSpPr>
        <p:spPr>
          <a:xfrm>
            <a:off x="6477000" y="1420114"/>
            <a:ext cx="520700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4" name="Content Placeholder 3"/>
          <p:cNvSpPr>
            <a:spLocks noGrp="1"/>
          </p:cNvSpPr>
          <p:nvPr>
            <p:ph sz="quarter" idx="17" hasCustomPrompt="1"/>
          </p:nvPr>
        </p:nvSpPr>
        <p:spPr>
          <a:xfrm>
            <a:off x="6400800" y="2012950"/>
            <a:ext cx="5283200" cy="4121150"/>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4"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1214013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w Illustration Bkg">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2" name="Picture 11"/>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l="36016" t="-1189" r="-2466" b="1189"/>
          <a:stretch/>
        </p:blipFill>
        <p:spPr>
          <a:xfrm>
            <a:off x="7673" y="1725837"/>
            <a:ext cx="4155554" cy="4598762"/>
          </a:xfrm>
          <a:prstGeom prst="rect">
            <a:avLst/>
          </a:prstGeom>
        </p:spPr>
      </p:pic>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3393440" y="1420115"/>
            <a:ext cx="829056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3280229" y="2012950"/>
            <a:ext cx="8403771" cy="412115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40941414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Boxed Tex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Boxed Text Layouts</a:t>
            </a:r>
          </a:p>
        </p:txBody>
      </p:sp>
    </p:spTree>
    <p:extLst>
      <p:ext uri="{BB962C8B-B14F-4D97-AF65-F5344CB8AC3E}">
        <p14:creationId xmlns:p14="http://schemas.microsoft.com/office/powerpoint/2010/main" val="2344131438"/>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74A9FBB-76DB-4F80-915D-6F321B85EC5D}"/>
              </a:ext>
            </a:extLst>
          </p:cNvPr>
          <p:cNvSpPr/>
          <p:nvPr/>
        </p:nvSpPr>
        <p:spPr>
          <a:xfrm>
            <a:off x="0" y="1130021"/>
            <a:ext cx="12192000" cy="5194579"/>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609600" y="1714500"/>
            <a:ext cx="535567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8" name="Text Placeholder 7"/>
          <p:cNvSpPr>
            <a:spLocks noGrp="1"/>
          </p:cNvSpPr>
          <p:nvPr>
            <p:ph type="body" sz="quarter" idx="49" hasCustomPrompt="1"/>
          </p:nvPr>
        </p:nvSpPr>
        <p:spPr>
          <a:xfrm>
            <a:off x="609600" y="2268498"/>
            <a:ext cx="5355679"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31" name="Text Placeholder 13"/>
          <p:cNvSpPr>
            <a:spLocks noGrp="1"/>
          </p:cNvSpPr>
          <p:nvPr>
            <p:ph type="body" sz="quarter" idx="48" hasCustomPrompt="1"/>
          </p:nvPr>
        </p:nvSpPr>
        <p:spPr>
          <a:xfrm>
            <a:off x="6226720" y="1714500"/>
            <a:ext cx="535568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5" name="Text Placeholder 7"/>
          <p:cNvSpPr>
            <a:spLocks noGrp="1"/>
          </p:cNvSpPr>
          <p:nvPr>
            <p:ph type="body" sz="quarter" idx="50" hasCustomPrompt="1"/>
          </p:nvPr>
        </p:nvSpPr>
        <p:spPr>
          <a:xfrm>
            <a:off x="6226720" y="2268498"/>
            <a:ext cx="5355681"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2791039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3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35E1FE-0BE3-4491-ABDE-9729AAEE37AB}"/>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609600"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6" name="Text Placeholder 7"/>
          <p:cNvSpPr>
            <a:spLocks noGrp="1"/>
          </p:cNvSpPr>
          <p:nvPr>
            <p:ph type="body" sz="quarter" idx="50" hasCustomPrompt="1"/>
          </p:nvPr>
        </p:nvSpPr>
        <p:spPr>
          <a:xfrm>
            <a:off x="609600"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42" name="Text Placeholder 13"/>
          <p:cNvSpPr>
            <a:spLocks noGrp="1"/>
          </p:cNvSpPr>
          <p:nvPr>
            <p:ph type="body" sz="quarter" idx="53" hasCustomPrompt="1"/>
          </p:nvPr>
        </p:nvSpPr>
        <p:spPr>
          <a:xfrm>
            <a:off x="4354347"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9" name="Text Placeholder 7"/>
          <p:cNvSpPr>
            <a:spLocks noGrp="1"/>
          </p:cNvSpPr>
          <p:nvPr>
            <p:ph type="body" sz="quarter" idx="51" hasCustomPrompt="1"/>
          </p:nvPr>
        </p:nvSpPr>
        <p:spPr>
          <a:xfrm>
            <a:off x="4354347"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099094"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40" name="Text Placeholder 7"/>
          <p:cNvSpPr>
            <a:spLocks noGrp="1"/>
          </p:cNvSpPr>
          <p:nvPr>
            <p:ph type="body" sz="quarter" idx="52" hasCustomPrompt="1"/>
          </p:nvPr>
        </p:nvSpPr>
        <p:spPr>
          <a:xfrm>
            <a:off x="8099094"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3681288806"/>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609599"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3" name="Text Placeholder 7"/>
          <p:cNvSpPr>
            <a:spLocks noGrp="1"/>
          </p:cNvSpPr>
          <p:nvPr>
            <p:ph type="body" sz="quarter" idx="50" hasCustomPrompt="1"/>
          </p:nvPr>
        </p:nvSpPr>
        <p:spPr bwMode="white">
          <a:xfrm>
            <a:off x="609599"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dirty="0"/>
              <a:t>Second level</a:t>
            </a:r>
          </a:p>
          <a:p>
            <a:pPr lvl="2"/>
            <a:r>
              <a:rPr dirty="0"/>
              <a:t>Third level</a:t>
            </a:r>
          </a:p>
        </p:txBody>
      </p:sp>
      <p:sp>
        <p:nvSpPr>
          <p:cNvPr id="75" name="Text Placeholder 13"/>
          <p:cNvSpPr>
            <a:spLocks noGrp="1"/>
          </p:cNvSpPr>
          <p:nvPr>
            <p:ph type="body" sz="quarter" idx="54" hasCustomPrompt="1"/>
          </p:nvPr>
        </p:nvSpPr>
        <p:spPr>
          <a:xfrm>
            <a:off x="3397188" y="1714500"/>
            <a:ext cx="256809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8" name="Text Placeholder 7"/>
          <p:cNvSpPr>
            <a:spLocks noGrp="1"/>
          </p:cNvSpPr>
          <p:nvPr>
            <p:ph type="body" sz="quarter" idx="57" hasCustomPrompt="1"/>
          </p:nvPr>
        </p:nvSpPr>
        <p:spPr bwMode="white">
          <a:xfrm>
            <a:off x="3397188" y="2268498"/>
            <a:ext cx="2568091"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226721" y="1714500"/>
            <a:ext cx="2547118"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9" name="Text Placeholder 7"/>
          <p:cNvSpPr>
            <a:spLocks noGrp="1"/>
          </p:cNvSpPr>
          <p:nvPr>
            <p:ph type="body" sz="quarter" idx="58" hasCustomPrompt="1"/>
          </p:nvPr>
        </p:nvSpPr>
        <p:spPr bwMode="white">
          <a:xfrm>
            <a:off x="6226721" y="2268498"/>
            <a:ext cx="2547118"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035281"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80" name="Text Placeholder 7"/>
          <p:cNvSpPr>
            <a:spLocks noGrp="1"/>
          </p:cNvSpPr>
          <p:nvPr>
            <p:ph type="body" sz="quarter" idx="59" hasCustomPrompt="1"/>
          </p:nvPr>
        </p:nvSpPr>
        <p:spPr bwMode="white">
          <a:xfrm>
            <a:off x="9035281"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1802720795"/>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599"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4A3C0D89-FF68-988D-2B9A-807BF12E8BE1}"/>
              </a:ext>
            </a:extLst>
          </p:cNvPr>
          <p:cNvSpPr>
            <a:spLocks noGrp="1"/>
          </p:cNvSpPr>
          <p:nvPr>
            <p:ph type="body" sz="quarter" idx="51" hasCustomPrompt="1"/>
          </p:nvPr>
        </p:nvSpPr>
        <p:spPr bwMode="white">
          <a:xfrm>
            <a:off x="6226721"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4244448822"/>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EA7E3BB6-56E7-BD54-461B-295C33572EAC}"/>
              </a:ext>
            </a:extLst>
          </p:cNvPr>
          <p:cNvSpPr>
            <a:spLocks noGrp="1"/>
          </p:cNvSpPr>
          <p:nvPr>
            <p:ph type="body" sz="quarter" idx="51" hasCustomPrompt="1"/>
          </p:nvPr>
        </p:nvSpPr>
        <p:spPr bwMode="white">
          <a:xfrm>
            <a:off x="4354347"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539DCB74-3452-4F98-7DEE-0EA00029CE7C}"/>
              </a:ext>
            </a:extLst>
          </p:cNvPr>
          <p:cNvSpPr>
            <a:spLocks noGrp="1"/>
          </p:cNvSpPr>
          <p:nvPr>
            <p:ph type="body" sz="quarter" idx="52" hasCustomPrompt="1"/>
          </p:nvPr>
        </p:nvSpPr>
        <p:spPr bwMode="white">
          <a:xfrm>
            <a:off x="8099094"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250775835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C1333B91-3224-0A61-3CCF-44FD884AB3D1}"/>
              </a:ext>
            </a:extLst>
          </p:cNvPr>
          <p:cNvSpPr>
            <a:spLocks noGrp="1"/>
          </p:cNvSpPr>
          <p:nvPr>
            <p:ph type="body" sz="quarter" idx="51" hasCustomPrompt="1"/>
          </p:nvPr>
        </p:nvSpPr>
        <p:spPr bwMode="white">
          <a:xfrm>
            <a:off x="3428647"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82EC86C7-459F-8A92-8B20-4553E6F786E4}"/>
              </a:ext>
            </a:extLst>
          </p:cNvPr>
          <p:cNvSpPr>
            <a:spLocks noGrp="1"/>
          </p:cNvSpPr>
          <p:nvPr>
            <p:ph type="body" sz="quarter" idx="52" hasCustomPrompt="1"/>
          </p:nvPr>
        </p:nvSpPr>
        <p:spPr bwMode="white">
          <a:xfrm>
            <a:off x="6247694"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5" name="Text Placeholder 7">
            <a:extLst>
              <a:ext uri="{FF2B5EF4-FFF2-40B4-BE49-F238E27FC236}">
                <a16:creationId xmlns:a16="http://schemas.microsoft.com/office/drawing/2014/main" id="{58FB8842-F58B-397D-95C1-7BFC897A8DE5}"/>
              </a:ext>
            </a:extLst>
          </p:cNvPr>
          <p:cNvSpPr>
            <a:spLocks noGrp="1"/>
          </p:cNvSpPr>
          <p:nvPr>
            <p:ph type="body" sz="quarter" idx="53" hasCustomPrompt="1"/>
          </p:nvPr>
        </p:nvSpPr>
        <p:spPr bwMode="white">
          <a:xfrm>
            <a:off x="906674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336834671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3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8" name="Text Placeholder 13"/>
          <p:cNvSpPr>
            <a:spLocks noGrp="1"/>
          </p:cNvSpPr>
          <p:nvPr>
            <p:ph type="body" sz="quarter" idx="24" hasCustomPrompt="1"/>
          </p:nvPr>
        </p:nvSpPr>
        <p:spPr>
          <a:xfrm>
            <a:off x="4354347"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8099094" y="2644879"/>
            <a:ext cx="3483305"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9048929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4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521" y="2037079"/>
            <a:ext cx="5355758"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6226721" y="2037079"/>
            <a:ext cx="5355679"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521" y="3863280"/>
            <a:ext cx="5355758"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6226721" y="3863280"/>
            <a:ext cx="5355679"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027680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8" name="Text Placeholder 13"/>
          <p:cNvSpPr>
            <a:spLocks noGrp="1"/>
          </p:cNvSpPr>
          <p:nvPr>
            <p:ph type="body" sz="quarter" idx="24" hasCustomPrompt="1"/>
          </p:nvPr>
        </p:nvSpPr>
        <p:spPr>
          <a:xfrm>
            <a:off x="4354347"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8097245" y="20370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601"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6" name="Text Placeholder 13"/>
          <p:cNvSpPr>
            <a:spLocks noGrp="1"/>
          </p:cNvSpPr>
          <p:nvPr>
            <p:ph type="body" sz="quarter" idx="29" hasCustomPrompt="1"/>
          </p:nvPr>
        </p:nvSpPr>
        <p:spPr>
          <a:xfrm>
            <a:off x="4354347"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8097245" y="38632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668638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Specialty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Specialty Layouts</a:t>
            </a:r>
          </a:p>
        </p:txBody>
      </p:sp>
    </p:spTree>
    <p:extLst>
      <p:ext uri="{BB962C8B-B14F-4D97-AF65-F5344CB8AC3E}">
        <p14:creationId xmlns:p14="http://schemas.microsoft.com/office/powerpoint/2010/main" val="2467116075"/>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Quote B (Fiserv-Centric)">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37E1B7-00D9-F0DD-D1C1-48A3C9A98B64}"/>
              </a:ext>
            </a:extLst>
          </p:cNvPr>
          <p:cNvSpPr/>
          <p:nvPr/>
        </p:nvSpPr>
        <p:spPr>
          <a:xfrm>
            <a:off x="0" y="0"/>
            <a:ext cx="12192000" cy="6324600"/>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chemeClr val="tx1"/>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rPr dirty="0"/>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000000"/>
              </a:buClr>
              <a:buFont typeface="Arial" panose="020B0604020202020204" pitchFamily="34" charset="0"/>
              <a:buChar char="–"/>
              <a:defRPr sz="2000" b="0" i="0">
                <a:solidFill>
                  <a:schemeClr val="tx1"/>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grpSp>
        <p:nvGrpSpPr>
          <p:cNvPr id="4" name="Group 3">
            <a:extLst>
              <a:ext uri="{FF2B5EF4-FFF2-40B4-BE49-F238E27FC236}">
                <a16:creationId xmlns:a16="http://schemas.microsoft.com/office/drawing/2014/main" id="{EB8A0B67-689D-6FD1-3271-CFC3CC163B83}"/>
              </a:ext>
            </a:extLst>
          </p:cNvPr>
          <p:cNvGrpSpPr/>
          <p:nvPr/>
        </p:nvGrpSpPr>
        <p:grpSpPr>
          <a:xfrm>
            <a:off x="321471" y="1531917"/>
            <a:ext cx="934831" cy="737514"/>
            <a:chOff x="321471" y="1531917"/>
            <a:chExt cx="934831" cy="737514"/>
          </a:xfrm>
        </p:grpSpPr>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2" name="Rectangle 1">
              <a:extLst>
                <a:ext uri="{FF2B5EF4-FFF2-40B4-BE49-F238E27FC236}">
                  <a16:creationId xmlns:a16="http://schemas.microsoft.com/office/drawing/2014/main" id="{A0125819-8A68-B7E4-ECDE-5B96BEBCCFD3}"/>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3" name="Rectangle 2">
              <a:extLst>
                <a:ext uri="{FF2B5EF4-FFF2-40B4-BE49-F238E27FC236}">
                  <a16:creationId xmlns:a16="http://schemas.microsoft.com/office/drawing/2014/main" id="{06E6F4B5-E3F5-CCCB-E725-E3FF411C580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grpSp>
        <p:nvGrpSpPr>
          <p:cNvPr id="5" name="Group 4">
            <a:extLst>
              <a:ext uri="{FF2B5EF4-FFF2-40B4-BE49-F238E27FC236}">
                <a16:creationId xmlns:a16="http://schemas.microsoft.com/office/drawing/2014/main" id="{7AFF4C4D-34E3-B215-EB56-22792F5A9704}"/>
              </a:ext>
            </a:extLst>
          </p:cNvPr>
          <p:cNvGrpSpPr/>
          <p:nvPr/>
        </p:nvGrpSpPr>
        <p:grpSpPr>
          <a:xfrm rot="10800000">
            <a:off x="10835869" y="4233611"/>
            <a:ext cx="934831" cy="737514"/>
            <a:chOff x="321471" y="1531917"/>
            <a:chExt cx="934831" cy="737514"/>
          </a:xfrm>
        </p:grpSpPr>
        <p:grpSp>
          <p:nvGrpSpPr>
            <p:cNvPr id="6" name="Group 5">
              <a:extLst>
                <a:ext uri="{FF2B5EF4-FFF2-40B4-BE49-F238E27FC236}">
                  <a16:creationId xmlns:a16="http://schemas.microsoft.com/office/drawing/2014/main" id="{10120AC2-A6C8-DBF0-770A-7FA6EFC9AA0A}"/>
                </a:ext>
              </a:extLst>
            </p:cNvPr>
            <p:cNvGrpSpPr/>
            <p:nvPr/>
          </p:nvGrpSpPr>
          <p:grpSpPr bwMode="ltGray">
            <a:xfrm>
              <a:off x="321471" y="1531917"/>
              <a:ext cx="934831" cy="737514"/>
              <a:chOff x="3175" y="1360488"/>
              <a:chExt cx="2752724" cy="2171700"/>
            </a:xfrm>
            <a:noFill/>
          </p:grpSpPr>
          <p:sp>
            <p:nvSpPr>
              <p:cNvPr id="9" name="Freeform 24">
                <a:extLst>
                  <a:ext uri="{FF2B5EF4-FFF2-40B4-BE49-F238E27FC236}">
                    <a16:creationId xmlns:a16="http://schemas.microsoft.com/office/drawing/2014/main" id="{AD97A36E-E4AF-6838-639F-0F6CFDE47736}"/>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10" name="Freeform 27">
                <a:extLst>
                  <a:ext uri="{FF2B5EF4-FFF2-40B4-BE49-F238E27FC236}">
                    <a16:creationId xmlns:a16="http://schemas.microsoft.com/office/drawing/2014/main" id="{0198D76A-5FDB-5830-C1F5-3AAA8B404FD3}"/>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7" name="Rectangle 6">
              <a:extLst>
                <a:ext uri="{FF2B5EF4-FFF2-40B4-BE49-F238E27FC236}">
                  <a16:creationId xmlns:a16="http://schemas.microsoft.com/office/drawing/2014/main" id="{A246F691-9C78-0C3C-41C8-C1CBB3C6277D}"/>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8" name="Rectangle 7">
              <a:extLst>
                <a:ext uri="{FF2B5EF4-FFF2-40B4-BE49-F238E27FC236}">
                  <a16:creationId xmlns:a16="http://schemas.microsoft.com/office/drawing/2014/main" id="{25B9E253-2EB2-9D26-9AE0-B1F68C83BE9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spTree>
    <p:extLst>
      <p:ext uri="{BB962C8B-B14F-4D97-AF65-F5344CB8AC3E}">
        <p14:creationId xmlns:p14="http://schemas.microsoft.com/office/powerpoint/2010/main" val="44714775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Boxes w Blue Filled Quote">
    <p:spTree>
      <p:nvGrpSpPr>
        <p:cNvPr id="1" name=""/>
        <p:cNvGrpSpPr/>
        <p:nvPr/>
      </p:nvGrpSpPr>
      <p:grpSpPr>
        <a:xfrm>
          <a:off x="0" y="0"/>
          <a:ext cx="0" cy="0"/>
          <a:chOff x="0" y="0"/>
          <a:chExt cx="0" cy="0"/>
        </a:xfrm>
      </p:grpSpPr>
      <p:sp>
        <p:nvSpPr>
          <p:cNvPr id="17" name="Rectangle 16"/>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7" name="Rectangle 6"/>
          <p:cNvSpPr/>
          <p:nvPr/>
        </p:nvSpPr>
        <p:spPr>
          <a:xfrm>
            <a:off x="7911253" y="1130021"/>
            <a:ext cx="4280747" cy="51945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711200" y="1418944"/>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1" name="Content Placeholder 10"/>
          <p:cNvSpPr>
            <a:spLocks noGrp="1"/>
          </p:cNvSpPr>
          <p:nvPr>
            <p:ph sz="quarter" idx="13" hasCustomPrompt="1"/>
          </p:nvPr>
        </p:nvSpPr>
        <p:spPr>
          <a:xfrm>
            <a:off x="711200" y="1930994"/>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13"/>
          <p:cNvSpPr>
            <a:spLocks noGrp="1"/>
          </p:cNvSpPr>
          <p:nvPr>
            <p:ph type="body" sz="quarter" idx="16" hasCustomPrompt="1"/>
          </p:nvPr>
        </p:nvSpPr>
        <p:spPr>
          <a:xfrm>
            <a:off x="711200" y="3773257"/>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3" name="Content Placeholder 10"/>
          <p:cNvSpPr>
            <a:spLocks noGrp="1"/>
          </p:cNvSpPr>
          <p:nvPr>
            <p:ph sz="quarter" idx="15" hasCustomPrompt="1"/>
          </p:nvPr>
        </p:nvSpPr>
        <p:spPr>
          <a:xfrm>
            <a:off x="711200" y="4285308"/>
            <a:ext cx="6742176" cy="1737360"/>
          </a:xfrm>
        </p:spPr>
        <p:txBody>
          <a:bodyPr>
            <a:noAutofit/>
          </a:bodyPr>
          <a:lstStyle>
            <a:lvl1pPr>
              <a:defRPr sz="1800" b="0" i="0"/>
            </a:lvl1pPr>
            <a:lvl2pPr>
              <a:defRPr sz="1600" b="0" i="0"/>
            </a:lvl2pPr>
            <a:lvl3pPr>
              <a:defRPr sz="1400" b="0" i="0"/>
            </a:lvl3pPr>
            <a:lvl4pPr>
              <a:defRPr sz="1200" b="0" i="0"/>
            </a:lvl4pPr>
            <a:lvl5pPr>
              <a:defRPr sz="1200" b="0" i="0" baseline="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5" name="Text Placeholder 13"/>
          <p:cNvSpPr>
            <a:spLocks noGrp="1"/>
          </p:cNvSpPr>
          <p:nvPr>
            <p:ph type="body" sz="quarter" idx="17" hasCustomPrompt="1"/>
          </p:nvPr>
        </p:nvSpPr>
        <p:spPr bwMode="white">
          <a:xfrm>
            <a:off x="8152005" y="2125492"/>
            <a:ext cx="3430395" cy="2817065"/>
          </a:xfrm>
        </p:spPr>
        <p:txBody>
          <a:bodyPr>
            <a:noAutofit/>
          </a:bodyPr>
          <a:lstStyle>
            <a:lvl1pPr marL="0" indent="0">
              <a:lnSpc>
                <a:spcPct val="100000"/>
              </a:lnSpc>
              <a:spcBef>
                <a:spcPts val="1000"/>
              </a:spcBef>
              <a:buNone/>
              <a:defRPr sz="1800" b="0" i="0">
                <a:solidFill>
                  <a:srgbClr val="FFFFFF"/>
                </a:solidFill>
              </a:defRPr>
            </a:lvl1pPr>
            <a:lvl2pPr marL="0" indent="0">
              <a:lnSpc>
                <a:spcPct val="100000"/>
              </a:lnSpc>
              <a:spcBef>
                <a:spcPts val="1000"/>
              </a:spcBef>
              <a:buNone/>
              <a:defRPr sz="1800">
                <a:solidFill>
                  <a:srgbClr val="FFFFFF"/>
                </a:solidFill>
              </a:defRPr>
            </a:lvl2pPr>
            <a:lvl3pPr marL="0" indent="0">
              <a:lnSpc>
                <a:spcPct val="100000"/>
              </a:lnSpc>
              <a:spcBef>
                <a:spcPts val="1000"/>
              </a:spcBef>
              <a:buNone/>
              <a:defRPr sz="1800">
                <a:solidFill>
                  <a:srgbClr val="FFFFFF"/>
                </a:solidFill>
              </a:defRPr>
            </a:lvl3pPr>
            <a:lvl4pPr marL="0" indent="0">
              <a:lnSpc>
                <a:spcPct val="100000"/>
              </a:lnSpc>
              <a:spcBef>
                <a:spcPts val="1000"/>
              </a:spcBef>
              <a:buNone/>
              <a:defRPr sz="1800">
                <a:solidFill>
                  <a:srgbClr val="FFFFFF"/>
                </a:solidFill>
              </a:defRPr>
            </a:lvl4pPr>
            <a:lvl5pPr marL="0" indent="0">
              <a:lnSpc>
                <a:spcPct val="100000"/>
              </a:lnSpc>
              <a:spcBef>
                <a:spcPts val="1000"/>
              </a:spcBef>
              <a:buNone/>
              <a:defRPr sz="1800">
                <a:solidFill>
                  <a:srgbClr val="FFFFFF"/>
                </a:solidFill>
              </a:defRPr>
            </a:lvl5pPr>
            <a:lvl6pPr marL="0" indent="0">
              <a:lnSpc>
                <a:spcPct val="100000"/>
              </a:lnSpc>
              <a:spcBef>
                <a:spcPts val="1000"/>
              </a:spcBef>
              <a:buNone/>
              <a:defRPr sz="1800">
                <a:solidFill>
                  <a:srgbClr val="FFFFFF"/>
                </a:solidFill>
              </a:defRPr>
            </a:lvl6pPr>
            <a:lvl7pPr marL="0" indent="0">
              <a:lnSpc>
                <a:spcPct val="100000"/>
              </a:lnSpc>
              <a:spcBef>
                <a:spcPts val="1000"/>
              </a:spcBef>
              <a:buNone/>
              <a:defRPr sz="1800">
                <a:solidFill>
                  <a:srgbClr val="FFFFFF"/>
                </a:solidFill>
              </a:defRPr>
            </a:lvl7pPr>
            <a:lvl8pPr marL="0" indent="0">
              <a:lnSpc>
                <a:spcPct val="100000"/>
              </a:lnSpc>
              <a:spcBef>
                <a:spcPts val="1000"/>
              </a:spcBef>
              <a:buNone/>
              <a:defRPr sz="1800">
                <a:solidFill>
                  <a:srgbClr val="FFFFFF"/>
                </a:solidFill>
              </a:defRPr>
            </a:lvl8pPr>
            <a:lvl9pPr marL="0" indent="0">
              <a:lnSpc>
                <a:spcPct val="100000"/>
              </a:lnSpc>
              <a:spcBef>
                <a:spcPts val="1000"/>
              </a:spcBef>
              <a:buNone/>
              <a:defRPr sz="1800">
                <a:solidFill>
                  <a:srgbClr val="FFFFFF"/>
                </a:solidFill>
              </a:defRPr>
            </a:lvl9pPr>
          </a:lstStyle>
          <a:p>
            <a:pPr lvl="0"/>
            <a:r>
              <a:t>Add quotation text  here; there is no need for additional quotation marks</a:t>
            </a:r>
          </a:p>
        </p:txBody>
      </p:sp>
      <p:sp>
        <p:nvSpPr>
          <p:cNvPr id="16" name="Text Placeholder 13"/>
          <p:cNvSpPr>
            <a:spLocks noGrp="1"/>
          </p:cNvSpPr>
          <p:nvPr>
            <p:ph type="body" sz="quarter" idx="18" hasCustomPrompt="1"/>
          </p:nvPr>
        </p:nvSpPr>
        <p:spPr bwMode="white">
          <a:xfrm>
            <a:off x="8152005" y="5110666"/>
            <a:ext cx="3430395" cy="290314"/>
          </a:xfrm>
        </p:spPr>
        <p:txBody>
          <a:bodyPr>
            <a:noAutofit/>
          </a:bodyPr>
          <a:lstStyle>
            <a:lvl1pPr marL="182880" indent="-182880" algn="r">
              <a:lnSpc>
                <a:spcPct val="100000"/>
              </a:lnSpc>
              <a:spcBef>
                <a:spcPts val="0"/>
              </a:spcBef>
              <a:buClr>
                <a:srgbClr val="FFFFFF"/>
              </a:buClr>
              <a:buFont typeface="Arial" panose="020B0604020202020204" pitchFamily="34" charset="0"/>
              <a:buChar char="–"/>
              <a:defRPr sz="1400" b="0" i="0">
                <a:solidFill>
                  <a:srgbClr val="FFFFFF"/>
                </a:solidFill>
              </a:defRPr>
            </a:lvl1pPr>
            <a:lvl2pPr marL="182880" indent="-182880" algn="r">
              <a:lnSpc>
                <a:spcPct val="100000"/>
              </a:lnSpc>
              <a:spcBef>
                <a:spcPts val="0"/>
              </a:spcBef>
              <a:buFont typeface="Arial" panose="020B0604020202020204" pitchFamily="34" charset="0"/>
              <a:buChar char="–"/>
              <a:defRPr sz="1400">
                <a:solidFill>
                  <a:srgbClr val="FFFFFF"/>
                </a:solidFill>
              </a:defRPr>
            </a:lvl2pPr>
            <a:lvl3pPr marL="182880" indent="-182880" algn="r">
              <a:lnSpc>
                <a:spcPct val="100000"/>
              </a:lnSpc>
              <a:spcBef>
                <a:spcPts val="0"/>
              </a:spcBef>
              <a:buFont typeface="Arial" panose="020B0604020202020204" pitchFamily="34" charset="0"/>
              <a:buChar char="–"/>
              <a:defRPr sz="1400">
                <a:solidFill>
                  <a:srgbClr val="FFFFFF"/>
                </a:solidFill>
              </a:defRPr>
            </a:lvl3pPr>
            <a:lvl4pPr marL="182880" indent="-182880" algn="r">
              <a:lnSpc>
                <a:spcPct val="100000"/>
              </a:lnSpc>
              <a:spcBef>
                <a:spcPts val="0"/>
              </a:spcBef>
              <a:buFont typeface="Arial" panose="020B0604020202020204" pitchFamily="34" charset="0"/>
              <a:buChar char="–"/>
              <a:defRPr sz="1400">
                <a:solidFill>
                  <a:srgbClr val="FFFFFF"/>
                </a:solidFill>
              </a:defRPr>
            </a:lvl4pPr>
            <a:lvl5pPr marL="182880" indent="-182880" algn="r">
              <a:lnSpc>
                <a:spcPct val="100000"/>
              </a:lnSpc>
              <a:spcBef>
                <a:spcPts val="0"/>
              </a:spcBef>
              <a:buFont typeface="Arial" panose="020B0604020202020204" pitchFamily="34" charset="0"/>
              <a:buChar char="–"/>
              <a:defRPr sz="1400">
                <a:solidFill>
                  <a:srgbClr val="FFFFFF"/>
                </a:solidFill>
              </a:defRPr>
            </a:lvl5pPr>
            <a:lvl6pPr marL="285750" indent="-285750" algn="r">
              <a:lnSpc>
                <a:spcPct val="100000"/>
              </a:lnSpc>
              <a:spcBef>
                <a:spcPts val="0"/>
              </a:spcBef>
              <a:buFont typeface="Arial" panose="020B0604020202020204" pitchFamily="34" charset="0"/>
              <a:buChar char="–"/>
              <a:defRPr sz="1400">
                <a:solidFill>
                  <a:srgbClr val="FFFFFF"/>
                </a:solidFill>
              </a:defRPr>
            </a:lvl6pPr>
            <a:lvl7pPr marL="182880" indent="-182880" algn="r">
              <a:lnSpc>
                <a:spcPct val="100000"/>
              </a:lnSpc>
              <a:spcBef>
                <a:spcPts val="0"/>
              </a:spcBef>
              <a:buFont typeface="Arial" panose="020B0604020202020204" pitchFamily="34" charset="0"/>
              <a:buChar char="–"/>
              <a:defRPr sz="1400">
                <a:solidFill>
                  <a:srgbClr val="FFFFFF"/>
                </a:solidFill>
              </a:defRPr>
            </a:lvl7pPr>
            <a:lvl8pPr marL="182880" indent="-182880" algn="r">
              <a:lnSpc>
                <a:spcPct val="100000"/>
              </a:lnSpc>
              <a:spcBef>
                <a:spcPts val="0"/>
              </a:spcBef>
              <a:buFont typeface="Arial" panose="020B0604020202020204" pitchFamily="34" charset="0"/>
              <a:buChar char="–"/>
              <a:defRPr sz="1400">
                <a:solidFill>
                  <a:srgbClr val="FFFFFF"/>
                </a:solidFill>
              </a:defRPr>
            </a:lvl8pPr>
            <a:lvl9pPr marL="182880" indent="-182880" algn="r">
              <a:lnSpc>
                <a:spcPct val="100000"/>
              </a:lnSpc>
              <a:spcBef>
                <a:spcPts val="0"/>
              </a:spcBef>
              <a:buFont typeface="Arial" panose="020B0604020202020204" pitchFamily="34" charset="0"/>
              <a:buChar char="–"/>
              <a:defRPr sz="1400">
                <a:solidFill>
                  <a:srgbClr val="FFFFFF"/>
                </a:solidFill>
              </a:defRPr>
            </a:lvl9pPr>
          </a:lstStyle>
          <a:p>
            <a:pPr lvl="0"/>
            <a:r>
              <a:t>Quote attribution / source</a:t>
            </a:r>
          </a:p>
        </p:txBody>
      </p:sp>
      <p:pic>
        <p:nvPicPr>
          <p:cNvPr id="18" name="Picture 17"/>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a:off x="10890586" y="5569090"/>
            <a:ext cx="844214" cy="669000"/>
          </a:xfrm>
          <a:prstGeom prst="rect">
            <a:avLst/>
          </a:prstGeom>
        </p:spPr>
      </p:pic>
      <p:pic>
        <p:nvPicPr>
          <p:cNvPr id="19" name="Picture 18"/>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rot="10800000">
            <a:off x="8152005" y="1320037"/>
            <a:ext cx="844214" cy="669000"/>
          </a:xfrm>
          <a:prstGeom prst="rect">
            <a:avLst/>
          </a:prstGeom>
        </p:spPr>
      </p:pic>
    </p:spTree>
    <p:extLst>
      <p:ext uri="{BB962C8B-B14F-4D97-AF65-F5344CB8AC3E}">
        <p14:creationId xmlns:p14="http://schemas.microsoft.com/office/powerpoint/2010/main" val="29425675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Arrow">
    <p:spTree>
      <p:nvGrpSpPr>
        <p:cNvPr id="1" name=""/>
        <p:cNvGrpSpPr/>
        <p:nvPr/>
      </p:nvGrpSpPr>
      <p:grpSpPr>
        <a:xfrm>
          <a:off x="0" y="0"/>
          <a:ext cx="0" cy="0"/>
          <a:chOff x="0" y="0"/>
          <a:chExt cx="0" cy="0"/>
        </a:xfrm>
      </p:grpSpPr>
      <p:sp>
        <p:nvSpPr>
          <p:cNvPr id="11" name="Rectangle 10"/>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4" name="Rectangle 13"/>
          <p:cNvSpPr/>
          <p:nvPr/>
        </p:nvSpPr>
        <p:spPr bwMode="ltGray">
          <a:xfrm>
            <a:off x="2987589" y="2059460"/>
            <a:ext cx="9204411" cy="3517557"/>
          </a:xfrm>
          <a:prstGeom prst="rect">
            <a:avLst/>
          </a:prstGeom>
          <a:solidFill>
            <a:srgbClr val="66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a:latin typeface="+mn-lt"/>
            </a:endParaRPr>
          </a:p>
        </p:txBody>
      </p:sp>
      <p:sp>
        <p:nvSpPr>
          <p:cNvPr id="15" name="Pentagon 7"/>
          <p:cNvSpPr/>
          <p:nvPr/>
        </p:nvSpPr>
        <p:spPr bwMode="white">
          <a:xfrm>
            <a:off x="0" y="1611223"/>
            <a:ext cx="4668109" cy="4263560"/>
          </a:xfrm>
          <a:prstGeom prst="homePlate">
            <a:avLst>
              <a:gd name="adj" fmla="val 3521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217337" y="3074978"/>
            <a:ext cx="3602684" cy="1336051"/>
          </a:xfrm>
        </p:spPr>
        <p:txBody>
          <a:bodyPr anchor="ctr">
            <a:noAutofit/>
          </a:bodyPr>
          <a:lstStyle>
            <a:lvl1pPr marL="0" indent="0" algn="ctr">
              <a:lnSpc>
                <a:spcPct val="100000"/>
              </a:lnSpc>
              <a:spcBef>
                <a:spcPts val="0"/>
              </a:spcBef>
              <a:buNone/>
              <a:defRPr sz="2400" b="0" i="0">
                <a:solidFill>
                  <a:srgbClr val="000000"/>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Header Text</a:t>
            </a:r>
          </a:p>
        </p:txBody>
      </p:sp>
      <p:sp>
        <p:nvSpPr>
          <p:cNvPr id="18" name="Text Placeholder 17"/>
          <p:cNvSpPr>
            <a:spLocks noGrp="1"/>
          </p:cNvSpPr>
          <p:nvPr>
            <p:ph type="body" sz="quarter" idx="15" hasCustomPrompt="1"/>
          </p:nvPr>
        </p:nvSpPr>
        <p:spPr>
          <a:xfrm>
            <a:off x="4909167" y="2223140"/>
            <a:ext cx="7041776" cy="3190194"/>
          </a:xfrm>
        </p:spPr>
        <p:txBody>
          <a:bodyPr anchor="ctr">
            <a:noAutofit/>
          </a:bodyPr>
          <a:lstStyle>
            <a:lvl1pPr>
              <a:buClr>
                <a:srgbClr val="FFFFFF"/>
              </a:buClr>
              <a:defRPr b="0" i="0">
                <a:solidFill>
                  <a:srgbClr val="FFFFFF"/>
                </a:solidFill>
                <a:latin typeface="+mn-lt"/>
              </a:defRPr>
            </a:lvl1pPr>
            <a:lvl2pPr>
              <a:buClr>
                <a:srgbClr val="FFFFFF"/>
              </a:buClr>
              <a:defRPr b="0" i="0">
                <a:solidFill>
                  <a:srgbClr val="FFFFFF"/>
                </a:solidFill>
                <a:latin typeface="+mn-lt"/>
              </a:defRPr>
            </a:lvl2pPr>
            <a:lvl3pPr>
              <a:buClr>
                <a:srgbClr val="FFFFFF"/>
              </a:buClr>
              <a:defRPr b="0" i="0">
                <a:solidFill>
                  <a:srgbClr val="FFFFFF"/>
                </a:solidFill>
                <a:latin typeface="+mn-lt"/>
              </a:defRPr>
            </a:lvl3pPr>
            <a:lvl4pPr>
              <a:buClr>
                <a:srgbClr val="FFFFFF"/>
              </a:buClr>
              <a:defRPr b="0" i="0">
                <a:solidFill>
                  <a:srgbClr val="FFFFFF"/>
                </a:solidFill>
                <a:latin typeface="+mn-lt"/>
              </a:defRPr>
            </a:lvl4pPr>
            <a:lvl5pPr>
              <a:buClr>
                <a:srgbClr val="FFFFFF"/>
              </a:buClr>
              <a:defRPr b="0" i="0">
                <a:solidFill>
                  <a:srgbClr val="FFFFFF"/>
                </a:solidFill>
                <a:latin typeface="+mn-lt"/>
              </a:defRPr>
            </a:lvl5pPr>
            <a:lvl6pPr>
              <a:buClr>
                <a:srgbClr val="FFFFFF"/>
              </a:buClr>
              <a:defRPr>
                <a:solidFill>
                  <a:schemeClr val="bg1"/>
                </a:solidFill>
              </a:defRPr>
            </a:lvl6pPr>
            <a:lvl7pPr>
              <a:buClr>
                <a:srgbClr val="FFFFFF"/>
              </a:buClr>
              <a:defRPr>
                <a:solidFill>
                  <a:schemeClr val="bg1"/>
                </a:solidFill>
              </a:defRPr>
            </a:lvl7pPr>
            <a:lvl8pPr>
              <a:buClr>
                <a:srgbClr val="FFFFFF"/>
              </a:buClr>
              <a:defRPr>
                <a:solidFill>
                  <a:schemeClr val="bg1"/>
                </a:solidFill>
              </a:defRPr>
            </a:lvl8pPr>
            <a:lvl9pPr>
              <a:buClr>
                <a:srgbClr val="FFFFFF"/>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49923814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2-Headed Arrow">
    <p:spTree>
      <p:nvGrpSpPr>
        <p:cNvPr id="1" name=""/>
        <p:cNvGrpSpPr/>
        <p:nvPr/>
      </p:nvGrpSpPr>
      <p:grpSpPr>
        <a:xfrm>
          <a:off x="0" y="0"/>
          <a:ext cx="0" cy="0"/>
          <a:chOff x="0" y="0"/>
          <a:chExt cx="0" cy="0"/>
        </a:xfrm>
      </p:grpSpPr>
      <p:sp>
        <p:nvSpPr>
          <p:cNvPr id="6" name="Trapezoid 5">
            <a:extLst>
              <a:ext uri="{FF2B5EF4-FFF2-40B4-BE49-F238E27FC236}">
                <a16:creationId xmlns:a16="http://schemas.microsoft.com/office/drawing/2014/main" id="{4E885DC1-92D7-4F25-80C2-96DD7F7892F1}"/>
              </a:ext>
            </a:extLst>
          </p:cNvPr>
          <p:cNvSpPr/>
          <p:nvPr/>
        </p:nvSpPr>
        <p:spPr>
          <a:xfrm>
            <a:off x="3044040" y="3740447"/>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27" name="Trapezoid 26">
            <a:extLst>
              <a:ext uri="{FF2B5EF4-FFF2-40B4-BE49-F238E27FC236}">
                <a16:creationId xmlns:a16="http://schemas.microsoft.com/office/drawing/2014/main" id="{A3CEAAA8-5914-4C09-B843-C9240DF0006E}"/>
              </a:ext>
            </a:extLst>
          </p:cNvPr>
          <p:cNvSpPr/>
          <p:nvPr/>
        </p:nvSpPr>
        <p:spPr>
          <a:xfrm flipV="1">
            <a:off x="3044040" y="2210073"/>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19" name="Pentagon 8"/>
          <p:cNvSpPr/>
          <p:nvPr/>
        </p:nvSpPr>
        <p:spPr bwMode="ltGray">
          <a:xfrm>
            <a:off x="203200" y="1822598"/>
            <a:ext cx="4064000" cy="3703092"/>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0" name="Pentagon 1"/>
          <p:cNvSpPr/>
          <p:nvPr/>
        </p:nvSpPr>
        <p:spPr bwMode="ltGray">
          <a:xfrm>
            <a:off x="1" y="1818445"/>
            <a:ext cx="4064000" cy="3703092"/>
          </a:xfrm>
          <a:prstGeom prst="homePlate">
            <a:avLst>
              <a:gd name="adj" fmla="val 44598"/>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nvGrpSpPr>
          <p:cNvPr id="21" name="Group 20"/>
          <p:cNvGrpSpPr/>
          <p:nvPr>
            <p:custDataLst>
              <p:tags r:id="rId1"/>
            </p:custDataLst>
          </p:nvPr>
        </p:nvGrpSpPr>
        <p:grpSpPr bwMode="ltGray">
          <a:xfrm flipH="1">
            <a:off x="7924802" y="1822599"/>
            <a:ext cx="4267199" cy="3707245"/>
            <a:chOff x="0" y="1818445"/>
            <a:chExt cx="3200399" cy="3707245"/>
          </a:xfrm>
          <a:solidFill>
            <a:srgbClr val="6699CC"/>
          </a:solidFill>
        </p:grpSpPr>
        <p:sp>
          <p:nvSpPr>
            <p:cNvPr id="22" name="Pentagon 11"/>
            <p:cNvSpPr/>
            <p:nvPr/>
          </p:nvSpPr>
          <p:spPr bwMode="ltGray">
            <a:xfrm>
              <a:off x="152399" y="1822598"/>
              <a:ext cx="3048000" cy="370309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3" name="Pentagon 12"/>
            <p:cNvSpPr/>
            <p:nvPr/>
          </p:nvSpPr>
          <p:spPr bwMode="ltGray">
            <a:xfrm>
              <a:off x="0" y="1818445"/>
              <a:ext cx="3048000" cy="3703092"/>
            </a:xfrm>
            <a:prstGeom prst="homePlate">
              <a:avLst>
                <a:gd name="adj" fmla="val 4459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355601"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3558950" y="236587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389708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99672"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3288661879"/>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 xmlns:a16="http://schemas.microsoft.com/office/drawing/2014/main">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Device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Devices</a:t>
            </a:r>
          </a:p>
        </p:txBody>
      </p:sp>
    </p:spTree>
    <p:extLst>
      <p:ext uri="{BB962C8B-B14F-4D97-AF65-F5344CB8AC3E}">
        <p14:creationId xmlns:p14="http://schemas.microsoft.com/office/powerpoint/2010/main" val="1201168972"/>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Monito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B3ECD71-1D57-4155-AB09-F38A0FEB52CB}"/>
              </a:ext>
            </a:extLst>
          </p:cNvPr>
          <p:cNvSpPr/>
          <p:nvPr/>
        </p:nvSpPr>
        <p:spPr>
          <a:xfrm>
            <a:off x="-2" y="1131560"/>
            <a:ext cx="12192002" cy="172267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solidFill>
                <a:schemeClr val="bg2"/>
              </a:solidFill>
            </a:endParaRPr>
          </a:p>
        </p:txBody>
      </p:sp>
      <p:cxnSp>
        <p:nvCxnSpPr>
          <p:cNvPr id="9" name="Straight Connector 8">
            <a:extLst>
              <a:ext uri="{FF2B5EF4-FFF2-40B4-BE49-F238E27FC236}">
                <a16:creationId xmlns:a16="http://schemas.microsoft.com/office/drawing/2014/main" id="{19087B3E-8C28-46D5-87EC-CFFEC1A53583}"/>
              </a:ext>
            </a:extLst>
          </p:cNvPr>
          <p:cNvCxnSpPr>
            <a:cxnSpLocks/>
          </p:cNvCxnSpPr>
          <p:nvPr/>
        </p:nvCxnSpPr>
        <p:spPr>
          <a:xfrm>
            <a:off x="-9427" y="2854236"/>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0F50E2-601C-4B05-B93F-BEA0C4CA1D5E}"/>
              </a:ext>
            </a:extLst>
          </p:cNvPr>
          <p:cNvSpPr>
            <a:spLocks noGrp="1"/>
          </p:cNvSpPr>
          <p:nvPr>
            <p:ph type="title"/>
          </p:nvPr>
        </p:nvSpPr>
        <p:spPr/>
        <p:txBody>
          <a:bodyPr/>
          <a:lstStyle/>
          <a:p>
            <a:r>
              <a:rPr lang="en-US"/>
              <a:t>Click to edit Master title style</a:t>
            </a:r>
            <a:endParaRPr/>
          </a:p>
        </p:txBody>
      </p:sp>
      <p:sp>
        <p:nvSpPr>
          <p:cNvPr id="12" name="Text Placeholder 11">
            <a:extLst>
              <a:ext uri="{FF2B5EF4-FFF2-40B4-BE49-F238E27FC236}">
                <a16:creationId xmlns:a16="http://schemas.microsoft.com/office/drawing/2014/main" id="{16688F01-24F3-4078-ADFB-AE546DC21627}"/>
              </a:ext>
            </a:extLst>
          </p:cNvPr>
          <p:cNvSpPr>
            <a:spLocks noGrp="1"/>
          </p:cNvSpPr>
          <p:nvPr>
            <p:ph type="body" sz="quarter" idx="13" hasCustomPrompt="1"/>
          </p:nvPr>
        </p:nvSpPr>
        <p:spPr>
          <a:xfrm>
            <a:off x="457201" y="3150187"/>
            <a:ext cx="4170217" cy="27404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
        <p:nvSpPr>
          <p:cNvPr id="14" name="Text Placeholder 11">
            <a:extLst>
              <a:ext uri="{FF2B5EF4-FFF2-40B4-BE49-F238E27FC236}">
                <a16:creationId xmlns:a16="http://schemas.microsoft.com/office/drawing/2014/main" id="{AD3A2F10-3FDB-448A-AB8E-37A9BE106D0A}"/>
              </a:ext>
            </a:extLst>
          </p:cNvPr>
          <p:cNvSpPr>
            <a:spLocks noGrp="1"/>
          </p:cNvSpPr>
          <p:nvPr>
            <p:ph type="body" sz="quarter" idx="14" hasCustomPrompt="1"/>
          </p:nvPr>
        </p:nvSpPr>
        <p:spPr>
          <a:xfrm>
            <a:off x="457201" y="1761115"/>
            <a:ext cx="4167194" cy="369332"/>
          </a:xfrm>
        </p:spPr>
        <p:txBody>
          <a:bodyPr>
            <a:normAutofit/>
          </a:bodyPr>
          <a:lstStyle>
            <a:lvl1pPr marL="0" indent="0">
              <a:spcBef>
                <a:spcPts val="0"/>
              </a:spcBef>
              <a:buNone/>
              <a:defRPr sz="240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Header Text</a:t>
            </a:r>
          </a:p>
          <a:p>
            <a:pPr lvl="1"/>
            <a:r>
              <a:t>Second level</a:t>
            </a:r>
          </a:p>
        </p:txBody>
      </p:sp>
      <p:sp>
        <p:nvSpPr>
          <p:cNvPr id="16" name="Rectangle 15">
            <a:extLst>
              <a:ext uri="{FF2B5EF4-FFF2-40B4-BE49-F238E27FC236}">
                <a16:creationId xmlns:a16="http://schemas.microsoft.com/office/drawing/2014/main" id="{E3AC5B21-6032-4E75-A886-0490BD0672FF}"/>
              </a:ext>
            </a:extLst>
          </p:cNvPr>
          <p:cNvSpPr/>
          <p:nvPr/>
        </p:nvSpPr>
        <p:spPr>
          <a:xfrm>
            <a:off x="5724525" y="1590675"/>
            <a:ext cx="5791200" cy="3609975"/>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1" name="Monitor" descr="A screen shot of a computer&#10;&#10;Description automatically generated">
            <a:extLst>
              <a:ext uri="{FF2B5EF4-FFF2-40B4-BE49-F238E27FC236}">
                <a16:creationId xmlns:a16="http://schemas.microsoft.com/office/drawing/2014/main" id="{A20BA736-4B6D-4F91-9D32-0E187B681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15" name="Picture Placeholder 14">
            <a:extLst>
              <a:ext uri="{FF2B5EF4-FFF2-40B4-BE49-F238E27FC236}">
                <a16:creationId xmlns:a16="http://schemas.microsoft.com/office/drawing/2014/main" id="{E96629E9-FA44-48F3-92B3-67A8727BA771}"/>
              </a:ext>
            </a:extLst>
          </p:cNvPr>
          <p:cNvSpPr>
            <a:spLocks noGrp="1"/>
          </p:cNvSpPr>
          <p:nvPr>
            <p:ph type="pic" sz="quarter" idx="15"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spTree>
    <p:extLst>
      <p:ext uri="{BB962C8B-B14F-4D97-AF65-F5344CB8AC3E}">
        <p14:creationId xmlns:p14="http://schemas.microsoft.com/office/powerpoint/2010/main" val="63722009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pic>
        <p:nvPicPr>
          <p:cNvPr id="3" name="Monitor" descr="A screen shot of a computer&#10;&#10;Description automatically generated">
            <a:extLst>
              <a:ext uri="{FF2B5EF4-FFF2-40B4-BE49-F238E27FC236}">
                <a16:creationId xmlns:a16="http://schemas.microsoft.com/office/drawing/2014/main" id="{96ADF39E-3081-A20B-8F14-7AFD9E4CC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4" name="Picture Placeholder 14">
            <a:extLst>
              <a:ext uri="{FF2B5EF4-FFF2-40B4-BE49-F238E27FC236}">
                <a16:creationId xmlns:a16="http://schemas.microsoft.com/office/drawing/2014/main" id="{06FF1876-9E63-8682-09F6-12D2F7DC2D5A}"/>
              </a:ext>
            </a:extLst>
          </p:cNvPr>
          <p:cNvSpPr>
            <a:spLocks noGrp="1"/>
          </p:cNvSpPr>
          <p:nvPr>
            <p:ph type="pic" sz="quarter" idx="16"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063" y="3347389"/>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5247659" y="3488994"/>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5" name="Picture Placeholder 14">
            <a:extLst>
              <a:ext uri="{FF2B5EF4-FFF2-40B4-BE49-F238E27FC236}">
                <a16:creationId xmlns:a16="http://schemas.microsoft.com/office/drawing/2014/main" id="{4111C92F-8A80-DD01-09B7-954A5390EE58}"/>
              </a:ext>
            </a:extLst>
          </p:cNvPr>
          <p:cNvSpPr>
            <a:spLocks noGrp="1"/>
          </p:cNvSpPr>
          <p:nvPr>
            <p:ph type="pic" sz="quarter" idx="14" hasCustomPrompt="1"/>
          </p:nvPr>
        </p:nvSpPr>
        <p:spPr>
          <a:xfrm>
            <a:off x="5774034" y="1631155"/>
            <a:ext cx="5698830" cy="3531873"/>
          </a:xfrm>
          <a:custGeom>
            <a:avLst/>
            <a:gdLst>
              <a:gd name="connsiteX0" fmla="*/ 2570881 w 5698830"/>
              <a:gd name="connsiteY0" fmla="*/ 0 h 3531873"/>
              <a:gd name="connsiteX1" fmla="*/ 5698830 w 5698830"/>
              <a:gd name="connsiteY1" fmla="*/ 0 h 3531873"/>
              <a:gd name="connsiteX2" fmla="*/ 5698830 w 5698830"/>
              <a:gd name="connsiteY2" fmla="*/ 3531871 h 3531873"/>
              <a:gd name="connsiteX3" fmla="*/ 2997994 w 5698830"/>
              <a:gd name="connsiteY3" fmla="*/ 3531871 h 3531873"/>
              <a:gd name="connsiteX4" fmla="*/ 2997994 w 5698830"/>
              <a:gd name="connsiteY4" fmla="*/ 3531873 h 3531873"/>
              <a:gd name="connsiteX5" fmla="*/ 754856 w 5698830"/>
              <a:gd name="connsiteY5" fmla="*/ 3531873 h 3531873"/>
              <a:gd name="connsiteX6" fmla="*/ 754856 w 5698830"/>
              <a:gd name="connsiteY6" fmla="*/ 1894960 h 3531873"/>
              <a:gd name="connsiteX7" fmla="*/ 579161 w 5698830"/>
              <a:gd name="connsiteY7" fmla="*/ 1719265 h 3531873"/>
              <a:gd name="connsiteX8" fmla="*/ 0 w 5698830"/>
              <a:gd name="connsiteY8" fmla="*/ 1719265 h 3531873"/>
              <a:gd name="connsiteX9" fmla="*/ 0 w 5698830"/>
              <a:gd name="connsiteY9" fmla="*/ 1 h 3531873"/>
              <a:gd name="connsiteX10" fmla="*/ 2570881 w 5698830"/>
              <a:gd name="connsiteY10" fmla="*/ 1 h 353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98830" h="3531873">
                <a:moveTo>
                  <a:pt x="2570881" y="0"/>
                </a:moveTo>
                <a:lnTo>
                  <a:pt x="5698830" y="0"/>
                </a:lnTo>
                <a:lnTo>
                  <a:pt x="5698830" y="3531871"/>
                </a:lnTo>
                <a:lnTo>
                  <a:pt x="2997994" y="3531871"/>
                </a:lnTo>
                <a:lnTo>
                  <a:pt x="2997994" y="3531873"/>
                </a:lnTo>
                <a:lnTo>
                  <a:pt x="754856" y="3531873"/>
                </a:lnTo>
                <a:lnTo>
                  <a:pt x="754856" y="1894960"/>
                </a:lnTo>
                <a:cubicBezTo>
                  <a:pt x="754856" y="1797926"/>
                  <a:pt x="676195" y="1719265"/>
                  <a:pt x="579161" y="1719265"/>
                </a:cubicBezTo>
                <a:lnTo>
                  <a:pt x="0" y="1719265"/>
                </a:lnTo>
                <a:lnTo>
                  <a:pt x="0" y="1"/>
                </a:lnTo>
                <a:lnTo>
                  <a:pt x="2570881" y="1"/>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324272538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6" name="Tablet Fill Rectangle 15">
            <a:extLst>
              <a:ext uri="{FF2B5EF4-FFF2-40B4-BE49-F238E27FC236}">
                <a16:creationId xmlns:a16="http://schemas.microsoft.com/office/drawing/2014/main" id="{E4D87BDE-55C4-46ED-ACB1-EDCDC424D980}"/>
              </a:ext>
            </a:extLst>
          </p:cNvPr>
          <p:cNvSpPr/>
          <p:nvPr/>
        </p:nvSpPr>
        <p:spPr>
          <a:xfrm>
            <a:off x="8610601"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0" name="Tablet" descr="Graphical user interface&#10;&#10;Description automatically generated">
            <a:extLst>
              <a:ext uri="{FF2B5EF4-FFF2-40B4-BE49-F238E27FC236}">
                <a16:creationId xmlns:a16="http://schemas.microsoft.com/office/drawing/2014/main" id="{22E68041-471E-40E1-8361-27648AF65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4053" y="1288008"/>
            <a:ext cx="3691259" cy="4932217"/>
          </a:xfrm>
          <a:prstGeom prst="rect">
            <a:avLst/>
          </a:prstGeom>
        </p:spPr>
      </p:pic>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8922" y="3468832"/>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8148518"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Picture Placeholder 20">
            <a:extLst>
              <a:ext uri="{FF2B5EF4-FFF2-40B4-BE49-F238E27FC236}">
                <a16:creationId xmlns:a16="http://schemas.microsoft.com/office/drawing/2014/main" id="{FADC6A4C-A326-46AE-8C46-7EDDEB9B3C3B}"/>
              </a:ext>
            </a:extLst>
          </p:cNvPr>
          <p:cNvSpPr>
            <a:spLocks noGrp="1"/>
          </p:cNvSpPr>
          <p:nvPr>
            <p:ph type="pic" sz="quarter" idx="14" hasCustomPrompt="1"/>
          </p:nvPr>
        </p:nvSpPr>
        <p:spPr>
          <a:xfrm>
            <a:off x="8674893"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97092968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Phone and Table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F04D-00DC-4E12-8CB5-DF5B44DF25EA}"/>
              </a:ext>
            </a:extLst>
          </p:cNvPr>
          <p:cNvSpPr>
            <a:spLocks noGrp="1"/>
          </p:cNvSpPr>
          <p:nvPr>
            <p:ph type="title"/>
          </p:nvPr>
        </p:nvSpPr>
        <p:spPr/>
        <p:txBody>
          <a:bodyPr/>
          <a:lstStyle/>
          <a:p>
            <a:r>
              <a:rPr lang="en-US"/>
              <a:t>Click to edit Master title style</a:t>
            </a:r>
            <a:endParaRPr/>
          </a:p>
        </p:txBody>
      </p:sp>
      <p:cxnSp>
        <p:nvCxnSpPr>
          <p:cNvPr id="6" name="Straight Connector 5">
            <a:extLst>
              <a:ext uri="{FF2B5EF4-FFF2-40B4-BE49-F238E27FC236}">
                <a16:creationId xmlns:a16="http://schemas.microsoft.com/office/drawing/2014/main" id="{E663CCDD-A126-4F5E-9E57-592AEB54997F}"/>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3909F94E-5FE1-48E2-8571-AF608BB07361}"/>
              </a:ext>
            </a:extLst>
          </p:cNvPr>
          <p:cNvSpPr>
            <a:spLocks noGrp="1"/>
          </p:cNvSpPr>
          <p:nvPr>
            <p:ph type="body" sz="quarter" idx="13" hasCustomPrompt="1"/>
          </p:nvPr>
        </p:nvSpPr>
        <p:spPr>
          <a:xfrm>
            <a:off x="4514464" y="171745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5" name="Text Placeholder 12">
            <a:extLst>
              <a:ext uri="{FF2B5EF4-FFF2-40B4-BE49-F238E27FC236}">
                <a16:creationId xmlns:a16="http://schemas.microsoft.com/office/drawing/2014/main" id="{00D5347C-18F4-4F36-8AD9-DD78FAD0504B}"/>
              </a:ext>
            </a:extLst>
          </p:cNvPr>
          <p:cNvSpPr>
            <a:spLocks noGrp="1"/>
          </p:cNvSpPr>
          <p:nvPr>
            <p:ph type="body" sz="quarter" idx="14" hasCustomPrompt="1"/>
          </p:nvPr>
        </p:nvSpPr>
        <p:spPr>
          <a:xfrm>
            <a:off x="6400720" y="1715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16" name="Text Placeholder 12">
            <a:extLst>
              <a:ext uri="{FF2B5EF4-FFF2-40B4-BE49-F238E27FC236}">
                <a16:creationId xmlns:a16="http://schemas.microsoft.com/office/drawing/2014/main" id="{3FDD05B7-59E6-407C-91C1-79D113DE5FCD}"/>
              </a:ext>
            </a:extLst>
          </p:cNvPr>
          <p:cNvSpPr>
            <a:spLocks noGrp="1"/>
          </p:cNvSpPr>
          <p:nvPr>
            <p:ph type="body" sz="quarter" idx="15" hasCustomPrompt="1"/>
          </p:nvPr>
        </p:nvSpPr>
        <p:spPr>
          <a:xfrm>
            <a:off x="4514464" y="2781946"/>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7" name="Text Placeholder 12">
            <a:extLst>
              <a:ext uri="{FF2B5EF4-FFF2-40B4-BE49-F238E27FC236}">
                <a16:creationId xmlns:a16="http://schemas.microsoft.com/office/drawing/2014/main" id="{6DBE2B37-3CD2-4CD8-88D2-EE74238EC6A5}"/>
              </a:ext>
            </a:extLst>
          </p:cNvPr>
          <p:cNvSpPr>
            <a:spLocks noGrp="1"/>
          </p:cNvSpPr>
          <p:nvPr>
            <p:ph type="body" sz="quarter" idx="16" hasCustomPrompt="1"/>
          </p:nvPr>
        </p:nvSpPr>
        <p:spPr>
          <a:xfrm>
            <a:off x="4514464" y="3846440"/>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8" name="Text Placeholder 12">
            <a:extLst>
              <a:ext uri="{FF2B5EF4-FFF2-40B4-BE49-F238E27FC236}">
                <a16:creationId xmlns:a16="http://schemas.microsoft.com/office/drawing/2014/main" id="{0682D007-4809-43B9-BA47-DB26E41E7485}"/>
              </a:ext>
            </a:extLst>
          </p:cNvPr>
          <p:cNvSpPr>
            <a:spLocks noGrp="1"/>
          </p:cNvSpPr>
          <p:nvPr>
            <p:ph type="body" sz="quarter" idx="17" hasCustomPrompt="1"/>
          </p:nvPr>
        </p:nvSpPr>
        <p:spPr>
          <a:xfrm>
            <a:off x="4514464" y="491093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9" name="Text Placeholder 12">
            <a:extLst>
              <a:ext uri="{FF2B5EF4-FFF2-40B4-BE49-F238E27FC236}">
                <a16:creationId xmlns:a16="http://schemas.microsoft.com/office/drawing/2014/main" id="{ECDDE34D-E049-406C-8C12-D983C055AAA7}"/>
              </a:ext>
            </a:extLst>
          </p:cNvPr>
          <p:cNvSpPr>
            <a:spLocks noGrp="1"/>
          </p:cNvSpPr>
          <p:nvPr>
            <p:ph type="body" sz="quarter" idx="18" hasCustomPrompt="1"/>
          </p:nvPr>
        </p:nvSpPr>
        <p:spPr>
          <a:xfrm>
            <a:off x="6400720" y="2781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0" name="Text Placeholder 12">
            <a:extLst>
              <a:ext uri="{FF2B5EF4-FFF2-40B4-BE49-F238E27FC236}">
                <a16:creationId xmlns:a16="http://schemas.microsoft.com/office/drawing/2014/main" id="{57412209-38F4-41D0-BFD8-8E45D030D138}"/>
              </a:ext>
            </a:extLst>
          </p:cNvPr>
          <p:cNvSpPr>
            <a:spLocks noGrp="1"/>
          </p:cNvSpPr>
          <p:nvPr>
            <p:ph type="body" sz="quarter" idx="19" hasCustomPrompt="1"/>
          </p:nvPr>
        </p:nvSpPr>
        <p:spPr>
          <a:xfrm>
            <a:off x="6400720" y="3848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1" name="Text Placeholder 12">
            <a:extLst>
              <a:ext uri="{FF2B5EF4-FFF2-40B4-BE49-F238E27FC236}">
                <a16:creationId xmlns:a16="http://schemas.microsoft.com/office/drawing/2014/main" id="{1E73265C-FFA0-4704-A098-93BF82BB15E5}"/>
              </a:ext>
            </a:extLst>
          </p:cNvPr>
          <p:cNvSpPr>
            <a:spLocks noGrp="1"/>
          </p:cNvSpPr>
          <p:nvPr>
            <p:ph type="body" sz="quarter" idx="20" hasCustomPrompt="1"/>
          </p:nvPr>
        </p:nvSpPr>
        <p:spPr>
          <a:xfrm>
            <a:off x="6400720" y="4914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2" name="Media Placeholder 17">
            <a:extLst>
              <a:ext uri="{FF2B5EF4-FFF2-40B4-BE49-F238E27FC236}">
                <a16:creationId xmlns:a16="http://schemas.microsoft.com/office/drawing/2014/main" id="{7E444553-8808-4A6E-99C8-1107CBB788A8}"/>
              </a:ext>
            </a:extLst>
          </p:cNvPr>
          <p:cNvSpPr>
            <a:spLocks noGrp="1"/>
          </p:cNvSpPr>
          <p:nvPr>
            <p:ph type="media" sz="quarter" idx="22" hasCustomPrompt="1"/>
          </p:nvPr>
        </p:nvSpPr>
        <p:spPr>
          <a:xfrm>
            <a:off x="6245352" y="1527048"/>
            <a:ext cx="9144" cy="722376"/>
          </a:xfrm>
          <a:solidFill>
            <a:schemeClr val="bg1">
              <a:lumMod val="65000"/>
            </a:schemeClr>
          </a:solidFill>
        </p:spPr>
        <p:txBody>
          <a:bodyPr>
            <a:noAutofit/>
          </a:bodyPr>
          <a:lstStyle>
            <a:lvl1pPr marL="0" indent="0">
              <a:buNone/>
              <a:defRPr sz="100" b="0" i="0"/>
            </a:lvl1pPr>
          </a:lstStyle>
          <a:p>
            <a:r>
              <a:t> </a:t>
            </a:r>
          </a:p>
        </p:txBody>
      </p:sp>
      <p:sp>
        <p:nvSpPr>
          <p:cNvPr id="23" name="Media Placeholder 2">
            <a:extLst>
              <a:ext uri="{FF2B5EF4-FFF2-40B4-BE49-F238E27FC236}">
                <a16:creationId xmlns:a16="http://schemas.microsoft.com/office/drawing/2014/main" id="{B7966B18-F720-4044-A15C-3333D228AFEA}"/>
              </a:ext>
            </a:extLst>
          </p:cNvPr>
          <p:cNvSpPr>
            <a:spLocks noGrp="1"/>
          </p:cNvSpPr>
          <p:nvPr>
            <p:ph type="media" sz="quarter" idx="31" hasCustomPrompt="1"/>
          </p:nvPr>
        </p:nvSpPr>
        <p:spPr>
          <a:xfrm>
            <a:off x="4572000" y="2432304"/>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4" name="Media Placeholder 17">
            <a:extLst>
              <a:ext uri="{FF2B5EF4-FFF2-40B4-BE49-F238E27FC236}">
                <a16:creationId xmlns:a16="http://schemas.microsoft.com/office/drawing/2014/main" id="{0A36658E-B40F-4856-A3C0-94A8A56258AE}"/>
              </a:ext>
            </a:extLst>
          </p:cNvPr>
          <p:cNvSpPr>
            <a:spLocks noGrp="1"/>
          </p:cNvSpPr>
          <p:nvPr>
            <p:ph type="media" sz="quarter" idx="32" hasCustomPrompt="1"/>
          </p:nvPr>
        </p:nvSpPr>
        <p:spPr>
          <a:xfrm>
            <a:off x="6245352" y="2587752"/>
            <a:ext cx="9144" cy="722376"/>
          </a:xfrm>
          <a:solidFill>
            <a:schemeClr val="bg1">
              <a:lumMod val="65000"/>
            </a:schemeClr>
          </a:solidFill>
        </p:spPr>
        <p:txBody>
          <a:bodyPr>
            <a:noAutofit/>
          </a:bodyPr>
          <a:lstStyle>
            <a:lvl1pPr marL="0" indent="0">
              <a:buNone/>
              <a:defRPr sz="100" b="0" i="0"/>
            </a:lvl1pPr>
          </a:lstStyle>
          <a:p>
            <a:r>
              <a:t> </a:t>
            </a:r>
          </a:p>
        </p:txBody>
      </p:sp>
      <p:sp>
        <p:nvSpPr>
          <p:cNvPr id="25" name="Media Placeholder 2">
            <a:extLst>
              <a:ext uri="{FF2B5EF4-FFF2-40B4-BE49-F238E27FC236}">
                <a16:creationId xmlns:a16="http://schemas.microsoft.com/office/drawing/2014/main" id="{2769BA06-A220-42BF-A12A-8EF384AE78EB}"/>
              </a:ext>
            </a:extLst>
          </p:cNvPr>
          <p:cNvSpPr>
            <a:spLocks noGrp="1"/>
          </p:cNvSpPr>
          <p:nvPr>
            <p:ph type="media" sz="quarter" idx="33" hasCustomPrompt="1"/>
          </p:nvPr>
        </p:nvSpPr>
        <p:spPr>
          <a:xfrm>
            <a:off x="4572000" y="349300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6" name="Media Placeholder 17">
            <a:extLst>
              <a:ext uri="{FF2B5EF4-FFF2-40B4-BE49-F238E27FC236}">
                <a16:creationId xmlns:a16="http://schemas.microsoft.com/office/drawing/2014/main" id="{EBB7C35A-3896-4B89-B988-D81181E249AC}"/>
              </a:ext>
            </a:extLst>
          </p:cNvPr>
          <p:cNvSpPr>
            <a:spLocks noGrp="1"/>
          </p:cNvSpPr>
          <p:nvPr>
            <p:ph type="media" sz="quarter" idx="34" hasCustomPrompt="1"/>
          </p:nvPr>
        </p:nvSpPr>
        <p:spPr>
          <a:xfrm>
            <a:off x="6245352" y="3657600"/>
            <a:ext cx="9144" cy="722376"/>
          </a:xfrm>
          <a:solidFill>
            <a:schemeClr val="bg1">
              <a:lumMod val="65000"/>
            </a:schemeClr>
          </a:solidFill>
        </p:spPr>
        <p:txBody>
          <a:bodyPr>
            <a:noAutofit/>
          </a:bodyPr>
          <a:lstStyle>
            <a:lvl1pPr marL="0" indent="0">
              <a:buNone/>
              <a:defRPr sz="100" b="0" i="0"/>
            </a:lvl1pPr>
          </a:lstStyle>
          <a:p>
            <a:r>
              <a:t> </a:t>
            </a:r>
          </a:p>
        </p:txBody>
      </p:sp>
      <p:sp>
        <p:nvSpPr>
          <p:cNvPr id="27" name="Media Placeholder 2">
            <a:extLst>
              <a:ext uri="{FF2B5EF4-FFF2-40B4-BE49-F238E27FC236}">
                <a16:creationId xmlns:a16="http://schemas.microsoft.com/office/drawing/2014/main" id="{E0375112-CFD6-443A-818B-1EA1AD4A081A}"/>
              </a:ext>
            </a:extLst>
          </p:cNvPr>
          <p:cNvSpPr>
            <a:spLocks noGrp="1"/>
          </p:cNvSpPr>
          <p:nvPr>
            <p:ph type="media" sz="quarter" idx="35" hasCustomPrompt="1"/>
          </p:nvPr>
        </p:nvSpPr>
        <p:spPr>
          <a:xfrm>
            <a:off x="4572000" y="454456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31" name="Media Placeholder 17">
            <a:extLst>
              <a:ext uri="{FF2B5EF4-FFF2-40B4-BE49-F238E27FC236}">
                <a16:creationId xmlns:a16="http://schemas.microsoft.com/office/drawing/2014/main" id="{3502F681-2DA4-4DCE-9BDF-81032A5C6C6E}"/>
              </a:ext>
            </a:extLst>
          </p:cNvPr>
          <p:cNvSpPr>
            <a:spLocks noGrp="1"/>
          </p:cNvSpPr>
          <p:nvPr>
            <p:ph type="media" sz="quarter" idx="36" hasCustomPrompt="1"/>
          </p:nvPr>
        </p:nvSpPr>
        <p:spPr>
          <a:xfrm>
            <a:off x="6245352" y="4718304"/>
            <a:ext cx="9144" cy="722376"/>
          </a:xfrm>
          <a:solidFill>
            <a:schemeClr val="bg1">
              <a:lumMod val="65000"/>
            </a:schemeClr>
          </a:solidFill>
        </p:spPr>
        <p:txBody>
          <a:bodyPr>
            <a:noAutofit/>
          </a:bodyPr>
          <a:lstStyle>
            <a:lvl1pPr marL="0" indent="0">
              <a:buNone/>
              <a:defRPr sz="100" b="0" i="0"/>
            </a:lvl1pPr>
          </a:lstStyle>
          <a:p>
            <a:r>
              <a:t> </a:t>
            </a:r>
          </a:p>
        </p:txBody>
      </p:sp>
      <p:sp>
        <p:nvSpPr>
          <p:cNvPr id="28" name="Tablet Fill Rectangle 15">
            <a:extLst>
              <a:ext uri="{FF2B5EF4-FFF2-40B4-BE49-F238E27FC236}">
                <a16:creationId xmlns:a16="http://schemas.microsoft.com/office/drawing/2014/main" id="{0744AD3B-439C-4A2B-8CC9-8713A704F7C7}"/>
              </a:ext>
            </a:extLst>
          </p:cNvPr>
          <p:cNvSpPr/>
          <p:nvPr/>
        </p:nvSpPr>
        <p:spPr>
          <a:xfrm>
            <a:off x="970885"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9" name="Tablet" descr="Graphical user interface&#10;&#10;Description automatically generated">
            <a:extLst>
              <a:ext uri="{FF2B5EF4-FFF2-40B4-BE49-F238E27FC236}">
                <a16:creationId xmlns:a16="http://schemas.microsoft.com/office/drawing/2014/main" id="{C23A519E-C90A-474C-BA53-E16BFD145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337" y="1288008"/>
            <a:ext cx="3691259" cy="4932217"/>
          </a:xfrm>
          <a:prstGeom prst="rect">
            <a:avLst/>
          </a:prstGeom>
        </p:spPr>
      </p:pic>
      <p:pic>
        <p:nvPicPr>
          <p:cNvPr id="30" name="Cell" descr="A screen shot of a computer&#10;&#10;Description automatically generated">
            <a:extLst>
              <a:ext uri="{FF2B5EF4-FFF2-40B4-BE49-F238E27FC236}">
                <a16:creationId xmlns:a16="http://schemas.microsoft.com/office/drawing/2014/main" id="{6907C8E4-77F3-4B3F-ADDF-541007C2A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06" y="3468832"/>
            <a:ext cx="1311066" cy="2751393"/>
          </a:xfrm>
          <a:prstGeom prst="rect">
            <a:avLst/>
          </a:prstGeom>
        </p:spPr>
      </p:pic>
      <p:sp>
        <p:nvSpPr>
          <p:cNvPr id="32" name="Picture Placeholder 17">
            <a:extLst>
              <a:ext uri="{FF2B5EF4-FFF2-40B4-BE49-F238E27FC236}">
                <a16:creationId xmlns:a16="http://schemas.microsoft.com/office/drawing/2014/main" id="{5717BCE2-57AD-4862-9CF3-CC1E4EC13C88}"/>
              </a:ext>
            </a:extLst>
          </p:cNvPr>
          <p:cNvSpPr>
            <a:spLocks noGrp="1"/>
          </p:cNvSpPr>
          <p:nvPr>
            <p:ph type="pic" sz="quarter" idx="37" hasCustomPrompt="1"/>
          </p:nvPr>
        </p:nvSpPr>
        <p:spPr>
          <a:xfrm>
            <a:off x="508802"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33" name="Picture Placeholder 32">
            <a:extLst>
              <a:ext uri="{FF2B5EF4-FFF2-40B4-BE49-F238E27FC236}">
                <a16:creationId xmlns:a16="http://schemas.microsoft.com/office/drawing/2014/main" id="{B646E9E6-ABC7-4EA6-89D4-573EC06731F1}"/>
              </a:ext>
            </a:extLst>
          </p:cNvPr>
          <p:cNvSpPr>
            <a:spLocks noGrp="1"/>
          </p:cNvSpPr>
          <p:nvPr>
            <p:ph type="pic" sz="quarter" idx="38" hasCustomPrompt="1"/>
          </p:nvPr>
        </p:nvSpPr>
        <p:spPr>
          <a:xfrm>
            <a:off x="1035177"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20305188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1 Tablet w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tablet fill">
            <a:extLst>
              <a:ext uri="{FF2B5EF4-FFF2-40B4-BE49-F238E27FC236}">
                <a16:creationId xmlns:a16="http://schemas.microsoft.com/office/drawing/2014/main" id="{17DB4081-E6D8-4CF2-A68D-E04D0D0026D5}"/>
              </a:ext>
            </a:extLst>
          </p:cNvPr>
          <p:cNvSpPr/>
          <p:nvPr/>
        </p:nvSpPr>
        <p:spPr>
          <a:xfrm>
            <a:off x="8308084" y="1727200"/>
            <a:ext cx="3098104" cy="3933809"/>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7" name="Tablet" descr="Graphical user interface&#10;&#10;Description automatically generated">
            <a:extLst>
              <a:ext uri="{FF2B5EF4-FFF2-40B4-BE49-F238E27FC236}">
                <a16:creationId xmlns:a16="http://schemas.microsoft.com/office/drawing/2014/main" id="{0DA91837-39C6-461E-988A-A19CA81FD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1384" y="1319758"/>
            <a:ext cx="3691259" cy="4932217"/>
          </a:xfrm>
          <a:prstGeom prst="rect">
            <a:avLst/>
          </a:prstGeom>
        </p:spPr>
      </p:pic>
      <p:sp>
        <p:nvSpPr>
          <p:cNvPr id="15" name="Picture Placeholder 14">
            <a:extLst>
              <a:ext uri="{FF2B5EF4-FFF2-40B4-BE49-F238E27FC236}">
                <a16:creationId xmlns:a16="http://schemas.microsoft.com/office/drawing/2014/main" id="{0DD44503-C05B-4347-B8E0-2B0B6D575703}"/>
              </a:ext>
            </a:extLst>
          </p:cNvPr>
          <p:cNvSpPr>
            <a:spLocks noGrp="1"/>
          </p:cNvSpPr>
          <p:nvPr>
            <p:ph type="pic" sz="quarter" idx="14" hasCustomPrompt="1"/>
          </p:nvPr>
        </p:nvSpPr>
        <p:spPr>
          <a:xfrm>
            <a:off x="8374857" y="1786531"/>
            <a:ext cx="2997994" cy="3848299"/>
          </a:xfrm>
          <a:solidFill>
            <a:srgbClr val="E6E6E6"/>
          </a:solidFill>
        </p:spPr>
        <p:txBody>
          <a:bodyPr tIns="9144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41958229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1 Phone w Tex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123F6D1-3B7A-45BF-B350-EC96BD313876}"/>
              </a:ext>
            </a:extLst>
          </p:cNvPr>
          <p:cNvSpPr/>
          <p:nvPr/>
        </p:nvSpPr>
        <p:spPr>
          <a:xfrm>
            <a:off x="8617756"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pic>
        <p:nvPicPr>
          <p:cNvPr id="13" name="Cell" descr="A screen shot of a computer&#10;&#10;Description automatically generated">
            <a:extLst>
              <a:ext uri="{FF2B5EF4-FFF2-40B4-BE49-F238E27FC236}">
                <a16:creationId xmlns:a16="http://schemas.microsoft.com/office/drawing/2014/main" id="{065CF7CA-A2AD-43F8-8B7F-9E5E9ED7C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7893" y="1201783"/>
            <a:ext cx="2175108" cy="4564665"/>
          </a:xfrm>
          <a:prstGeom prst="rect">
            <a:avLst/>
          </a:prstGeom>
        </p:spPr>
      </p:pic>
      <p:sp>
        <p:nvSpPr>
          <p:cNvPr id="14" name="Picture Placeholder 17">
            <a:extLst>
              <a:ext uri="{FF2B5EF4-FFF2-40B4-BE49-F238E27FC236}">
                <a16:creationId xmlns:a16="http://schemas.microsoft.com/office/drawing/2014/main" id="{B86201E7-2D76-4B45-AF1B-646A5DF47750}"/>
              </a:ext>
            </a:extLst>
          </p:cNvPr>
          <p:cNvSpPr>
            <a:spLocks noGrp="1" noChangeAspect="1"/>
          </p:cNvSpPr>
          <p:nvPr>
            <p:ph type="pic" sz="quarter" idx="15" hasCustomPrompt="1"/>
          </p:nvPr>
        </p:nvSpPr>
        <p:spPr>
          <a:xfrm>
            <a:off x="8642350"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85216242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9178040"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8177" y="1201783"/>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9202634"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6530090"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0227"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6554684"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Text Placeholder 11">
            <a:extLst>
              <a:ext uri="{FF2B5EF4-FFF2-40B4-BE49-F238E27FC236}">
                <a16:creationId xmlns:a16="http://schemas.microsoft.com/office/drawing/2014/main" id="{63FB68FD-E57D-41C8-AC2A-5B22DFBB141E}"/>
              </a:ext>
            </a:extLst>
          </p:cNvPr>
          <p:cNvSpPr>
            <a:spLocks noGrp="1"/>
          </p:cNvSpPr>
          <p:nvPr>
            <p:ph type="body" sz="quarter" idx="13" hasCustomPrompt="1"/>
          </p:nvPr>
        </p:nvSpPr>
        <p:spPr>
          <a:xfrm>
            <a:off x="609600" y="1534353"/>
            <a:ext cx="5486400" cy="352328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Tree>
    <p:extLst>
      <p:ext uri="{BB962C8B-B14F-4D97-AF65-F5344CB8AC3E}">
        <p14:creationId xmlns:p14="http://schemas.microsoft.com/office/powerpoint/2010/main" val="30063379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3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5041894"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031" y="1198802"/>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5066488"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2003595"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732"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2028189"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3" name="Rectangle 9">
            <a:extLst>
              <a:ext uri="{FF2B5EF4-FFF2-40B4-BE49-F238E27FC236}">
                <a16:creationId xmlns:a16="http://schemas.microsoft.com/office/drawing/2014/main" id="{7644C4CD-8F15-4478-B71C-DCE9D74A8B74}"/>
              </a:ext>
            </a:extLst>
          </p:cNvPr>
          <p:cNvSpPr/>
          <p:nvPr/>
        </p:nvSpPr>
        <p:spPr>
          <a:xfrm>
            <a:off x="8080193"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1" name="Cell" descr="A screen shot of a computer&#10;&#10;Description automatically generated">
            <a:extLst>
              <a:ext uri="{FF2B5EF4-FFF2-40B4-BE49-F238E27FC236}">
                <a16:creationId xmlns:a16="http://schemas.microsoft.com/office/drawing/2014/main" id="{DCCD48C1-7D28-4EC9-8231-2F12CE9E7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330" y="1198802"/>
            <a:ext cx="2175108" cy="4564665"/>
          </a:xfrm>
          <a:prstGeom prst="rect">
            <a:avLst/>
          </a:prstGeom>
        </p:spPr>
      </p:pic>
      <p:sp>
        <p:nvSpPr>
          <p:cNvPr id="22" name="Picture Placeholder 17">
            <a:extLst>
              <a:ext uri="{FF2B5EF4-FFF2-40B4-BE49-F238E27FC236}">
                <a16:creationId xmlns:a16="http://schemas.microsoft.com/office/drawing/2014/main" id="{8F182682-7387-4194-9EC0-9B2388E89AEE}"/>
              </a:ext>
            </a:extLst>
          </p:cNvPr>
          <p:cNvSpPr>
            <a:spLocks noGrp="1" noChangeAspect="1"/>
          </p:cNvSpPr>
          <p:nvPr>
            <p:ph type="pic" sz="quarter" idx="17" hasCustomPrompt="1"/>
          </p:nvPr>
        </p:nvSpPr>
        <p:spPr>
          <a:xfrm>
            <a:off x="8104787"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2824456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amp;A">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9AB68EF-52B5-2F09-B589-0D2A4FCB3EE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7733AA-369B-3CB6-6B51-652830E42EA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551BC2D7-D494-D514-1FE3-77CAE9819147}"/>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A26BF5E-3A46-6D10-30FA-CB09766A6AF5}"/>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3" name="Group 2">
            <a:extLst>
              <a:ext uri="{FF2B5EF4-FFF2-40B4-BE49-F238E27FC236}">
                <a16:creationId xmlns:a16="http://schemas.microsoft.com/office/drawing/2014/main" id="{DA806B27-4F39-659A-65B8-D9159FFD9599}"/>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7BC55767-26CB-3A23-3421-D26855AF4839}"/>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2AFA626-A37B-7454-401F-09B4C0E4219E}"/>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6D79102-D609-C97C-7F47-297C47101EC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29963D96-ED66-18CD-BAA7-416DA6E71AB1}"/>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5D51B11-C8F1-5532-13F5-BA65DD1B2826}"/>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FEDACAE-B7AE-E1A3-718C-57435B7E88A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431587F-D531-57BB-4BE0-3907EF119AC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7FFC2D5-DFAD-4AF6-2F32-E9BEEAA174B1}"/>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E21E548-FF6A-3FAD-4D64-10E47396B5B0}"/>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4B69C47-38C1-BBDE-1EE9-0A2CB2044579}"/>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F067B9E-4F66-4C1F-1487-597FF5E151F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250D188F-5A4E-78A8-8C34-5F8049C7FF6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1290B55-F348-DFED-1365-B62BEF8CE21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3BB8EB21-6E75-C4CE-48F6-036C3F69F9C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F2CDB3D-9D76-BC14-D229-6EB568092756}"/>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44656FBD-30A0-CBCE-14CB-9C2509A09CD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A309E890-E0F5-8933-73C2-EA7E43ADDF7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044706873"/>
      </p:ext>
    </p:extLst>
  </p:cSld>
  <p:clrMapOvr>
    <a:overrideClrMapping bg1="dk1" tx1="lt1" bg2="dk2" tx2="lt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amp;A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2" name="Group 1">
            <a:extLst>
              <a:ext uri="{FF2B5EF4-FFF2-40B4-BE49-F238E27FC236}">
                <a16:creationId xmlns:a16="http://schemas.microsoft.com/office/drawing/2014/main" id="{821EE8A1-E7A6-5054-0496-C33A3576224F}"/>
              </a:ext>
            </a:extLst>
          </p:cNvPr>
          <p:cNvGrpSpPr/>
          <p:nvPr/>
        </p:nvGrpSpPr>
        <p:grpSpPr>
          <a:xfrm>
            <a:off x="10918664" y="-7717"/>
            <a:ext cx="778036" cy="6132474"/>
            <a:chOff x="9753494" y="94590"/>
            <a:chExt cx="1203437" cy="6132474"/>
          </a:xfrm>
          <a:solidFill>
            <a:srgbClr val="FF6600"/>
          </a:solidFill>
        </p:grpSpPr>
        <p:sp>
          <p:nvSpPr>
            <p:cNvPr id="5" name="Rectangle 4">
              <a:extLst>
                <a:ext uri="{FF2B5EF4-FFF2-40B4-BE49-F238E27FC236}">
                  <a16:creationId xmlns:a16="http://schemas.microsoft.com/office/drawing/2014/main" id="{1327846E-53BE-8E0A-9EDF-7358519BCE2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48B94FE-20A3-72E2-F36E-4481ACD1FCE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9ADA13A-619A-960A-90AB-FC174FD69BB0}"/>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B13CCD9C-C81D-2549-0DF0-7D309D39729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7FC14BCD-D1FE-07B7-F3A7-21F355B1267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BB658EE-28EE-1874-92ED-D35006D03EAF}"/>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D6D4D50-8ADD-64D5-ACD0-C6283A2C1A4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CF105D-1CC0-1113-F682-D2EB06AEFE2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C4E4C901-5E44-8596-6D8A-F4115F60C8D1}"/>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0F51AAF-80D6-5BBD-BFF6-6AB827979ED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B38BF40-CBCE-8187-CB32-AA3077CFA129}"/>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4165857-4A76-C3F2-F3DB-03888D94550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6560653-245B-6669-4C80-CB2B9B51082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A66728D-754E-A0A4-662D-03BFC8AF0F6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0D75E2E8-C71E-F034-8A25-8E8FADBD8CA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721A52-1991-219C-0F2C-BA1CBFDC11BE}"/>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EED6D14-2612-5A6D-C540-CCBB56400EE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54512017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E424520-EA77-745A-28BE-560EF77079F6}"/>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14CE97-FAF0-50BA-CB25-523617D7E1E0}"/>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F9C559BF-47C6-6A32-2FFB-F1DAEF97A59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5691422-9F31-E603-0BB7-88449A809EE7}"/>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Thank You!</a:t>
            </a:r>
            <a:endParaRPr sz="6000" b="0" i="0" dirty="0">
              <a:latin typeface="+mj-lt"/>
            </a:endParaRPr>
          </a:p>
        </p:txBody>
      </p:sp>
      <p:grpSp>
        <p:nvGrpSpPr>
          <p:cNvPr id="3" name="Group 2">
            <a:extLst>
              <a:ext uri="{FF2B5EF4-FFF2-40B4-BE49-F238E27FC236}">
                <a16:creationId xmlns:a16="http://schemas.microsoft.com/office/drawing/2014/main" id="{6278A115-D4C5-CE40-9307-157F99298ECB}"/>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2306CEEB-74BE-0827-271B-993D23977CC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8F4F209-2BE4-B4BA-6E12-A4F2B1CC2097}"/>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6B7BD390-D25E-21DB-2675-E42A444C2A4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8586200-8C69-78E0-E15C-2301972D7B80}"/>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FCC07B62-8BD6-D2FD-3CE3-A3C2E8D1DE9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5818A570-E4A1-BEF0-F525-56457D5D9F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8B6504-C77E-767B-F2EC-2E2761D47A6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2246852-3705-44B3-01CF-BB1C6198215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C5461D61-A160-3B99-0C86-8C84E04933A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BD495E2-CADF-DFC7-F5C1-101EB90A1CC2}"/>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B479067-15DB-127C-2612-1A37FC8A9D2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72BEEB2-0B5C-4C27-C263-96943A1173C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1C75853D-A37E-EA02-8E6E-E4C960FA7ED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5A6E5E2-3193-E4B1-477C-36249D450F2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F5E98DF-41DC-DAD1-1F4E-9603D7260B1B}"/>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E7EFE887-9F14-2762-D43A-C04F848D27B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F934F1-0E0A-2225-0AA9-73819D2AAE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239272417"/>
      </p:ext>
    </p:extLst>
  </p:cSld>
  <p:clrMapOvr>
    <a:overrideClrMapping bg1="dk1" tx1="lt1" bg2="dk2" tx2="lt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ank you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sz="6000" b="0" i="0" dirty="0">
                <a:latin typeface="+mj-lt"/>
              </a:rPr>
              <a:t>Thank You!</a:t>
            </a:r>
          </a:p>
        </p:txBody>
      </p:sp>
      <p:grpSp>
        <p:nvGrpSpPr>
          <p:cNvPr id="22" name="Group 21">
            <a:extLst>
              <a:ext uri="{FF2B5EF4-FFF2-40B4-BE49-F238E27FC236}">
                <a16:creationId xmlns:a16="http://schemas.microsoft.com/office/drawing/2014/main" id="{7CE60E21-8949-B382-992B-A16D5DC2831F}"/>
              </a:ext>
            </a:extLst>
          </p:cNvPr>
          <p:cNvGrpSpPr/>
          <p:nvPr/>
        </p:nvGrpSpPr>
        <p:grpSpPr>
          <a:xfrm>
            <a:off x="10918664" y="-7717"/>
            <a:ext cx="778036" cy="6132474"/>
            <a:chOff x="9753494" y="94590"/>
            <a:chExt cx="1203437" cy="6132474"/>
          </a:xfrm>
          <a:solidFill>
            <a:srgbClr val="FF6600"/>
          </a:solidFill>
        </p:grpSpPr>
        <p:sp>
          <p:nvSpPr>
            <p:cNvPr id="23" name="Rectangle 22">
              <a:extLst>
                <a:ext uri="{FF2B5EF4-FFF2-40B4-BE49-F238E27FC236}">
                  <a16:creationId xmlns:a16="http://schemas.microsoft.com/office/drawing/2014/main" id="{FEC46E54-932A-5272-6C06-B7620F590B2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0FB07E49-018B-BA43-6431-74CE7917E27C}"/>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C1B1ECFB-63BB-9549-CA90-69B9811B61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284A54D-ADD6-DEBC-B0DC-47BFD09AD8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48BCEF-6166-96FE-7FFA-9BE1211A56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3CCB9C44-257D-F2BA-CC57-3846CB44E3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431F0CDA-DD73-EA9C-DBFB-CE211525E74D}"/>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D2C6ECD0-2C19-F338-34D8-023095F58DC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731DAD4-9911-5B2A-7379-2783685899AC}"/>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9847E31C-C944-6D16-5A7E-118FBAD2010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5611CD6A-00C0-360B-717F-3349A84E1B7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80C1DEE7-00E9-F60F-09C8-285DC365DDE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6A243E24-5EE7-C5EB-8A3E-73BFEF9D71FD}"/>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1C8F15CA-3678-714C-8AFE-D579C4E160DE}"/>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0635BA45-3F74-47BD-9163-BBB83C0D77A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5893D00A-3CF4-192E-0718-7DECD6B9D40B}"/>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3B0A2304-6D86-178E-5BD1-855E73B4F2E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152154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3_Title Only With Color Bar-Dark">
    <p:spTree>
      <p:nvGrpSpPr>
        <p:cNvPr id="1" name=""/>
        <p:cNvGrpSpPr/>
        <p:nvPr/>
      </p:nvGrpSpPr>
      <p:grpSpPr>
        <a:xfrm>
          <a:off x="0" y="0"/>
          <a:ext cx="0" cy="0"/>
          <a:chOff x="0" y="0"/>
          <a:chExt cx="0" cy="0"/>
        </a:xfrm>
      </p:grpSpPr>
      <p:pic>
        <p:nvPicPr>
          <p:cNvPr id="48" name="Picture 47" descr="A black background with white text&#10;&#10;Description automatically generated">
            <a:extLst>
              <a:ext uri="{FF2B5EF4-FFF2-40B4-BE49-F238E27FC236}">
                <a16:creationId xmlns:a16="http://schemas.microsoft.com/office/drawing/2014/main" id="{E4B52AC8-9965-4B39-1670-7FBDE60F2025}"/>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8" name="Do not remove" hidden="1">
            <a:extLst>
              <a:ext uri="{FF2B5EF4-FFF2-40B4-BE49-F238E27FC236}">
                <a16:creationId xmlns:a16="http://schemas.microsoft.com/office/drawing/2014/main" id="{A94987CB-4B09-ED04-FB2C-E547BB1EEB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a:xfrm>
            <a:off x="963246" y="1364488"/>
            <a:ext cx="8266987" cy="869670"/>
          </a:xfrm>
        </p:spPr>
        <p:txBody>
          <a:bodyPr/>
          <a:lstStyle>
            <a:lvl1pPr>
              <a:defRPr b="0" i="0">
                <a:solidFill>
                  <a:schemeClr val="bg1"/>
                </a:solidFill>
              </a:defRPr>
            </a:lvl1pPr>
          </a:lstStyle>
          <a:p>
            <a:r>
              <a:rPr lang="en-US"/>
              <a:t>Click to edit Master title style</a:t>
            </a:r>
            <a:endParaRPr dirty="0"/>
          </a:p>
        </p:txBody>
      </p:sp>
      <p:sp>
        <p:nvSpPr>
          <p:cNvPr id="3" name="Date Placeholder 2"/>
          <p:cNvSpPr>
            <a:spLocks noGrp="1"/>
          </p:cNvSpPr>
          <p:nvPr>
            <p:ph type="dt" sz="half" idx="10"/>
          </p:nvPr>
        </p:nvSpPr>
        <p:spPr>
          <a:xfrm>
            <a:off x="1583673"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54F65CC-ED5D-426F-8DAD-8AE05CE784C4}" type="datetimeFigureOut">
              <a:rPr lang="en-US" smtClean="0"/>
              <a:t>4/9/2026</a:t>
            </a:fld>
            <a:endParaRPr lang="en-US"/>
          </a:p>
        </p:txBody>
      </p:sp>
      <p:sp>
        <p:nvSpPr>
          <p:cNvPr id="4" name="Footer Placeholder 3"/>
          <p:cNvSpPr>
            <a:spLocks noGrp="1"/>
          </p:cNvSpPr>
          <p:nvPr>
            <p:ph type="ftr" sz="quarter" idx="11"/>
          </p:nvPr>
        </p:nvSpPr>
        <p:spPr>
          <a:xfrm>
            <a:off x="812801"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Slide Number Placeholder 4"/>
          <p:cNvSpPr>
            <a:spLocks noGrp="1"/>
          </p:cNvSpPr>
          <p:nvPr>
            <p:ph type="sldNum" sz="quarter" idx="12"/>
          </p:nvPr>
        </p:nvSpPr>
        <p:spPr>
          <a:xfrm>
            <a:off x="1" y="6973951"/>
            <a:ext cx="642938" cy="287518"/>
          </a:xfrm>
          <a:prstGeom prst="rect">
            <a:avLst/>
          </a:prstGeom>
        </p:spPr>
        <p:txBody>
          <a:bodyPr vert="horz" lIns="91440" tIns="45720" rIns="91440" bIns="45720" rtlCol="0" anchor="ctr"/>
          <a:lstStyle>
            <a:defPPr>
              <a:defRPr lang="en-US"/>
            </a:defPPr>
            <a:lvl1pPr marL="0" algn="r" defTabSz="457200" rtl="0" eaLnBrk="1" latinLnBrk="0" hangingPunct="1">
              <a:defRPr sz="800" b="0" i="0" kern="1200">
                <a:solidFill>
                  <a:srgbClr val="666666"/>
                </a:solidFill>
                <a:latin typeface="Univers for Fiserv 45 Ligh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F67BF3F-7888-4035-A167-8684EC2F54BD}" type="slidenum">
              <a:rPr lang="en-US" smtClean="0"/>
              <a:t>‹#›</a:t>
            </a:fld>
            <a:endParaRPr lang="en-US"/>
          </a:p>
        </p:txBody>
      </p:sp>
      <p:sp>
        <p:nvSpPr>
          <p:cNvPr id="6" name="Text Placeholder 25">
            <a:extLst>
              <a:ext uri="{FF2B5EF4-FFF2-40B4-BE49-F238E27FC236}">
                <a16:creationId xmlns:a16="http://schemas.microsoft.com/office/drawing/2014/main" id="{982A5A51-8EAE-BEFE-5570-CFEABE375EC9}"/>
              </a:ext>
            </a:extLst>
          </p:cNvPr>
          <p:cNvSpPr>
            <a:spLocks noGrp="1"/>
          </p:cNvSpPr>
          <p:nvPr>
            <p:ph type="body" sz="quarter" idx="13" hasCustomPrompt="1"/>
          </p:nvPr>
        </p:nvSpPr>
        <p:spPr>
          <a:xfrm>
            <a:off x="1041401"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0" name="Text Placeholder 25">
            <a:extLst>
              <a:ext uri="{FF2B5EF4-FFF2-40B4-BE49-F238E27FC236}">
                <a16:creationId xmlns:a16="http://schemas.microsoft.com/office/drawing/2014/main" id="{09959044-963F-B326-FD42-518974A1CF08}"/>
              </a:ext>
            </a:extLst>
          </p:cNvPr>
          <p:cNvSpPr>
            <a:spLocks noGrp="1"/>
          </p:cNvSpPr>
          <p:nvPr>
            <p:ph type="body" sz="quarter" idx="14" hasCustomPrompt="1"/>
          </p:nvPr>
        </p:nvSpPr>
        <p:spPr>
          <a:xfrm>
            <a:off x="3948180"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1" name="Text Placeholder 25">
            <a:extLst>
              <a:ext uri="{FF2B5EF4-FFF2-40B4-BE49-F238E27FC236}">
                <a16:creationId xmlns:a16="http://schemas.microsoft.com/office/drawing/2014/main" id="{195136E6-A8C7-8F72-EEC6-3C9E5BD90A76}"/>
              </a:ext>
            </a:extLst>
          </p:cNvPr>
          <p:cNvSpPr>
            <a:spLocks noGrp="1"/>
          </p:cNvSpPr>
          <p:nvPr>
            <p:ph type="body" sz="quarter" idx="15" hasCustomPrompt="1"/>
          </p:nvPr>
        </p:nvSpPr>
        <p:spPr>
          <a:xfrm>
            <a:off x="6854958"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cxnSp>
        <p:nvCxnSpPr>
          <p:cNvPr id="12" name="Straight Connector 11">
            <a:extLst>
              <a:ext uri="{FF2B5EF4-FFF2-40B4-BE49-F238E27FC236}">
                <a16:creationId xmlns:a16="http://schemas.microsoft.com/office/drawing/2014/main" id="{7C528A44-05C6-C62F-15ED-CB2AABC6CE89}"/>
              </a:ext>
            </a:extLst>
          </p:cNvPr>
          <p:cNvCxnSpPr/>
          <p:nvPr/>
        </p:nvCxnSpPr>
        <p:spPr>
          <a:xfrm>
            <a:off x="1041400" y="2340430"/>
            <a:ext cx="8266987" cy="0"/>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33CB0FEE-1119-3275-E5B5-66264B7BE08A}"/>
              </a:ext>
            </a:extLst>
          </p:cNvPr>
          <p:cNvGrpSpPr/>
          <p:nvPr/>
        </p:nvGrpSpPr>
        <p:grpSpPr>
          <a:xfrm>
            <a:off x="10918664" y="-7717"/>
            <a:ext cx="778036" cy="6132474"/>
            <a:chOff x="9753494" y="94590"/>
            <a:chExt cx="1203437" cy="6132474"/>
          </a:xfrm>
          <a:solidFill>
            <a:srgbClr val="FF6600"/>
          </a:solidFill>
        </p:grpSpPr>
        <p:sp>
          <p:nvSpPr>
            <p:cNvPr id="13" name="Rectangle 12">
              <a:extLst>
                <a:ext uri="{FF2B5EF4-FFF2-40B4-BE49-F238E27FC236}">
                  <a16:creationId xmlns:a16="http://schemas.microsoft.com/office/drawing/2014/main" id="{1D77EE0D-A8E7-A019-DEE4-521948EBD9E5}"/>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D5270FC-C766-511A-3BAB-0A804AE2BE5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7135D4B-3BD3-9A2C-9709-C275FD39893A}"/>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CFA3274-6568-7509-86DA-C1C61524F9C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078C584-57BC-38AF-A9A7-DE25299C0EA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D2B467F-2396-7930-B74C-D7BB77A2396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6904F7BD-AF65-6214-6CC5-CD464FEFA60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13612924-26D6-AF52-3430-4A31DCD1ED0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9359BA02-2FEB-68B1-F79B-8F13D0711B6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4919851-249A-3EE8-6121-ED35CC900CC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7CCE8151-6197-3848-8DCD-3727FEBCABB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A7E92514-9307-2B35-BC75-FDCB7B7C5DE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F439BC3-4CC7-B69A-4C2A-0E5A691822B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B6D5E48E-2A2F-B3FF-6AC9-D56EB2FEA396}"/>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A4E1D1B4-F116-DA1D-D02B-8A3F14EF6F7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153D4852-932C-5C85-F02A-A43AC36B4E5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05416DD-CEEA-7829-F286-8ED51B16D302}"/>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84055685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5EE2-2B34-8D3D-3FE7-185A641A6058}"/>
              </a:ext>
            </a:extLst>
          </p:cNvPr>
          <p:cNvSpPr>
            <a:spLocks noGrp="1"/>
          </p:cNvSpPr>
          <p:nvPr>
            <p:ph type="title" hasCustomPrompt="1"/>
          </p:nvPr>
        </p:nvSpPr>
        <p:spPr/>
        <p:txBody>
          <a:bodyPr/>
          <a:lstStyle>
            <a:lvl1pPr>
              <a:defRPr/>
            </a:lvl1pPr>
          </a:lstStyle>
          <a:p>
            <a:r>
              <a:rPr lang="en-US" dirty="0"/>
              <a:t>Grid Reference</a:t>
            </a:r>
          </a:p>
        </p:txBody>
      </p:sp>
      <p:grpSp>
        <p:nvGrpSpPr>
          <p:cNvPr id="3" name="Group 2">
            <a:extLst>
              <a:ext uri="{FF2B5EF4-FFF2-40B4-BE49-F238E27FC236}">
                <a16:creationId xmlns:a16="http://schemas.microsoft.com/office/drawing/2014/main" id="{1E0158E6-304B-C406-F4A2-1411517F6089}"/>
              </a:ext>
            </a:extLst>
          </p:cNvPr>
          <p:cNvGrpSpPr/>
          <p:nvPr/>
        </p:nvGrpSpPr>
        <p:grpSpPr>
          <a:xfrm>
            <a:off x="609599" y="1123950"/>
            <a:ext cx="10972801" cy="5200650"/>
            <a:chOff x="679544" y="1182624"/>
            <a:chExt cx="10832911" cy="414528"/>
          </a:xfrm>
          <a:solidFill>
            <a:srgbClr val="EAEAEA"/>
          </a:solidFill>
        </p:grpSpPr>
        <p:sp>
          <p:nvSpPr>
            <p:cNvPr id="4" name="Rectangle 3">
              <a:extLst>
                <a:ext uri="{FF2B5EF4-FFF2-40B4-BE49-F238E27FC236}">
                  <a16:creationId xmlns:a16="http://schemas.microsoft.com/office/drawing/2014/main" id="{84DFCBF7-810A-7FD2-8DAC-D8BF86BC8607}"/>
                </a:ext>
              </a:extLst>
            </p:cNvPr>
            <p:cNvSpPr/>
            <p:nvPr/>
          </p:nvSpPr>
          <p:spPr>
            <a:xfrm>
              <a:off x="679544" y="1182624"/>
              <a:ext cx="677057"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47A1F12-FEA5-143B-F11C-6ED991E36B4E}"/>
                </a:ext>
              </a:extLst>
            </p:cNvPr>
            <p:cNvSpPr/>
            <p:nvPr/>
          </p:nvSpPr>
          <p:spPr>
            <a:xfrm>
              <a:off x="160379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9A2B305D-07B3-F565-2B87-960187280433}"/>
                </a:ext>
              </a:extLst>
            </p:cNvPr>
            <p:cNvSpPr/>
            <p:nvPr/>
          </p:nvSpPr>
          <p:spPr>
            <a:xfrm>
              <a:off x="2528048"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A800696-5D4F-3073-2B24-9F886DB0BA9E}"/>
                </a:ext>
              </a:extLst>
            </p:cNvPr>
            <p:cNvSpPr/>
            <p:nvPr/>
          </p:nvSpPr>
          <p:spPr>
            <a:xfrm>
              <a:off x="345230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C09F011-CE90-D831-667C-ABF0028BD601}"/>
                </a:ext>
              </a:extLst>
            </p:cNvPr>
            <p:cNvSpPr/>
            <p:nvPr/>
          </p:nvSpPr>
          <p:spPr>
            <a:xfrm>
              <a:off x="4376551"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1A7BBC9-F6BC-546F-A6F7-F978A07CDD8A}"/>
                </a:ext>
              </a:extLst>
            </p:cNvPr>
            <p:cNvSpPr/>
            <p:nvPr/>
          </p:nvSpPr>
          <p:spPr>
            <a:xfrm>
              <a:off x="5300803"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38B83296-A6E4-A469-3BBD-E9B406050F51}"/>
                </a:ext>
              </a:extLst>
            </p:cNvPr>
            <p:cNvSpPr/>
            <p:nvPr/>
          </p:nvSpPr>
          <p:spPr>
            <a:xfrm>
              <a:off x="6225054"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2844C7C-A599-5085-25BF-0EAA7F910F54}"/>
                </a:ext>
              </a:extLst>
            </p:cNvPr>
            <p:cNvSpPr/>
            <p:nvPr/>
          </p:nvSpPr>
          <p:spPr>
            <a:xfrm>
              <a:off x="7149306"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4611D86-009B-B0D0-F706-585FD31A2508}"/>
                </a:ext>
              </a:extLst>
            </p:cNvPr>
            <p:cNvSpPr/>
            <p:nvPr/>
          </p:nvSpPr>
          <p:spPr>
            <a:xfrm>
              <a:off x="807355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E0FB51FB-9590-285B-1502-221215CC42D5}"/>
                </a:ext>
              </a:extLst>
            </p:cNvPr>
            <p:cNvSpPr/>
            <p:nvPr/>
          </p:nvSpPr>
          <p:spPr>
            <a:xfrm>
              <a:off x="8997809"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7C964AA-930A-20A3-2703-ED7FC3225F09}"/>
                </a:ext>
              </a:extLst>
            </p:cNvPr>
            <p:cNvSpPr/>
            <p:nvPr/>
          </p:nvSpPr>
          <p:spPr>
            <a:xfrm>
              <a:off x="992206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E617CEFA-7E90-FC1C-1623-2D1986368C06}"/>
                </a:ext>
              </a:extLst>
            </p:cNvPr>
            <p:cNvSpPr/>
            <p:nvPr/>
          </p:nvSpPr>
          <p:spPr>
            <a:xfrm>
              <a:off x="10846312"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17" name="TextBox 16">
            <a:extLst>
              <a:ext uri="{FF2B5EF4-FFF2-40B4-BE49-F238E27FC236}">
                <a16:creationId xmlns:a16="http://schemas.microsoft.com/office/drawing/2014/main" id="{39F6DCF2-4D93-1F68-01F0-8CE14640779C}"/>
              </a:ext>
            </a:extLst>
          </p:cNvPr>
          <p:cNvSpPr txBox="1"/>
          <p:nvPr/>
        </p:nvSpPr>
        <p:spPr>
          <a:xfrm>
            <a:off x="12561449" y="0"/>
            <a:ext cx="2214094" cy="6771084"/>
          </a:xfrm>
          <a:prstGeom prst="rect">
            <a:avLst/>
          </a:prstGeom>
          <a:noFill/>
        </p:spPr>
        <p:txBody>
          <a:bodyPr wrap="square">
            <a:spAutoFit/>
          </a:bodyPr>
          <a:lstStyle/>
          <a:p>
            <a:pPr marL="285750" indent="-285750">
              <a:buFont typeface="Arial" panose="020B0604020202020204" pitchFamily="34" charset="0"/>
              <a:buChar char="•"/>
            </a:pPr>
            <a:r>
              <a:rPr lang="en-US" sz="1400" dirty="0"/>
              <a:t>All slide titles are now within the inner margin and align with other slide elements on the left (example: the bullets on this slide and the slide title align on the left)</a:t>
            </a:r>
          </a:p>
          <a:p>
            <a:pPr marL="285750" indent="-285750">
              <a:buFont typeface="Arial" panose="020B0604020202020204" pitchFamily="34" charset="0"/>
              <a:buChar char="•"/>
            </a:pPr>
            <a:r>
              <a:rPr lang="en-US" sz="1400" dirty="0"/>
              <a:t>All slide titles are now in sentence case</a:t>
            </a:r>
          </a:p>
          <a:p>
            <a:pPr marL="285750" indent="-285750">
              <a:buFont typeface="Arial" panose="020B0604020202020204" pitchFamily="34" charset="0"/>
              <a:buChar char="•"/>
            </a:pPr>
            <a:r>
              <a:rPr lang="en-US" sz="1400" dirty="0"/>
              <a:t>Multiple layouts retired</a:t>
            </a:r>
          </a:p>
          <a:p>
            <a:pPr marL="285750" indent="-285750">
              <a:buFont typeface="Arial" panose="020B0604020202020204" pitchFamily="34" charset="0"/>
              <a:buChar char="•"/>
            </a:pPr>
            <a:r>
              <a:rPr lang="en-US" sz="1400" dirty="0"/>
              <a:t>New layouts added (new style columns, gray divisions)</a:t>
            </a:r>
          </a:p>
          <a:p>
            <a:pPr marL="285750" indent="-285750">
              <a:buFont typeface="Arial" panose="020B0604020202020204" pitchFamily="34" charset="0"/>
              <a:buChar char="•"/>
            </a:pPr>
            <a:r>
              <a:rPr lang="en-US" sz="1400" dirty="0"/>
              <a:t>Chart headers left-aligned</a:t>
            </a:r>
          </a:p>
          <a:p>
            <a:pPr marL="285750" indent="-285750">
              <a:buFont typeface="Arial" panose="020B0604020202020204" pitchFamily="34" charset="0"/>
              <a:buChar char="•"/>
            </a:pPr>
            <a:r>
              <a:rPr lang="en-US" sz="1400" dirty="0"/>
              <a:t>Gradients removed from chart example</a:t>
            </a:r>
          </a:p>
          <a:p>
            <a:pPr marL="285750" indent="-285750">
              <a:buFont typeface="Arial" panose="020B0604020202020204" pitchFamily="34" charset="0"/>
              <a:buChar char="•"/>
            </a:pPr>
            <a:r>
              <a:rPr lang="en-US" sz="1400" dirty="0"/>
              <a:t>XML-based automatic formatting added for table headers and borders</a:t>
            </a:r>
          </a:p>
          <a:p>
            <a:pPr marL="285750" indent="-285750">
              <a:buFont typeface="Arial" panose="020B0604020202020204" pitchFamily="34" charset="0"/>
              <a:buChar char="•"/>
            </a:pPr>
            <a:r>
              <a:rPr lang="en-US" sz="1400" dirty="0"/>
              <a:t>Twelve-column grid example embedded as a layout (for advanced users)</a:t>
            </a:r>
          </a:p>
          <a:p>
            <a:pPr marL="285750" indent="-285750">
              <a:buFont typeface="Arial" panose="020B0604020202020204" pitchFamily="34" charset="0"/>
              <a:buChar char="•"/>
            </a:pPr>
            <a:r>
              <a:rPr lang="en-US" sz="1400" dirty="0"/>
              <a:t>Chart text is black</a:t>
            </a:r>
          </a:p>
          <a:p>
            <a:pPr marL="285750" indent="-285750">
              <a:buFont typeface="Arial" panose="020B0604020202020204" pitchFamily="34" charset="0"/>
              <a:buChar char="•"/>
            </a:pPr>
            <a:r>
              <a:rPr lang="en-US" sz="1400" dirty="0"/>
              <a:t>Chart titles have a “shadow” applied to act as a line</a:t>
            </a:r>
          </a:p>
        </p:txBody>
      </p:sp>
    </p:spTree>
    <p:extLst>
      <p:ext uri="{BB962C8B-B14F-4D97-AF65-F5344CB8AC3E}">
        <p14:creationId xmlns:p14="http://schemas.microsoft.com/office/powerpoint/2010/main" val="90712314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99135086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a:xfrm>
            <a:off x="838201" y="365125"/>
            <a:ext cx="7734300" cy="5811838"/>
          </a:xfrm>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5506834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slideLayout" Target="../slideLayouts/slideLayout47.xml"/><Relationship Id="rId25" Type="http://schemas.openxmlformats.org/officeDocument/2006/relationships/slideLayout" Target="../slideLayouts/slideLayout48.xml"/><Relationship Id="rId26" Type="http://schemas.openxmlformats.org/officeDocument/2006/relationships/slideLayout" Target="../slideLayouts/slideLayout49.xml"/><Relationship Id="rId27" Type="http://schemas.openxmlformats.org/officeDocument/2006/relationships/slideLayout" Target="../slideLayouts/slideLayout50.xml"/><Relationship Id="rId28" Type="http://schemas.openxmlformats.org/officeDocument/2006/relationships/slideLayout" Target="../slideLayouts/slideLayout51.xml"/><Relationship Id="rId29" Type="http://schemas.openxmlformats.org/officeDocument/2006/relationships/slideLayout" Target="../slideLayouts/slideLayout52.xml"/><Relationship Id="rId30" Type="http://schemas.openxmlformats.org/officeDocument/2006/relationships/slideLayout" Target="../slideLayouts/slideLayout53.xml"/><Relationship Id="rId31" Type="http://schemas.openxmlformats.org/officeDocument/2006/relationships/slideLayout" Target="../slideLayouts/slideLayout54.xml"/><Relationship Id="rId32" Type="http://schemas.openxmlformats.org/officeDocument/2006/relationships/slideLayout" Target="../slideLayouts/slideLayout55.xml"/><Relationship Id="rId33" Type="http://schemas.openxmlformats.org/officeDocument/2006/relationships/slideLayout" Target="../slideLayouts/slideLayout56.xml"/><Relationship Id="rId34" Type="http://schemas.openxmlformats.org/officeDocument/2006/relationships/slideLayout" Target="../slideLayouts/slideLayout57.xml"/><Relationship Id="rId35" Type="http://schemas.openxmlformats.org/officeDocument/2006/relationships/slideLayout" Target="../slideLayouts/slideLayout58.xml"/><Relationship Id="rId36" Type="http://schemas.openxmlformats.org/officeDocument/2006/relationships/slideLayout" Target="../slideLayouts/slideLayout59.xml"/><Relationship Id="rId37" Type="http://schemas.openxmlformats.org/officeDocument/2006/relationships/slideLayout" Target="../slideLayouts/slideLayout60.xml"/><Relationship Id="rId38" Type="http://schemas.openxmlformats.org/officeDocument/2006/relationships/slideLayout" Target="../slideLayouts/slideLayout61.xml"/><Relationship Id="rId39" Type="http://schemas.openxmlformats.org/officeDocument/2006/relationships/slideLayout" Target="../slideLayouts/slideLayout62.xml"/><Relationship Id="rId40" Type="http://schemas.openxmlformats.org/officeDocument/2006/relationships/slideLayout" Target="../slideLayouts/slideLayout63.xml"/><Relationship Id="rId41" Type="http://schemas.openxmlformats.org/officeDocument/2006/relationships/slideLayout" Target="../slideLayouts/slideLayout64.xml"/><Relationship Id="rId42" Type="http://schemas.openxmlformats.org/officeDocument/2006/relationships/slideLayout" Target="../slideLayouts/slideLayout65.xml"/><Relationship Id="rId43" Type="http://schemas.openxmlformats.org/officeDocument/2006/relationships/slideLayout" Target="../slideLayouts/slideLayout66.xml"/><Relationship Id="rId44" Type="http://schemas.openxmlformats.org/officeDocument/2006/relationships/slideLayout" Target="../slideLayouts/slideLayout67.xml"/><Relationship Id="rId45" Type="http://schemas.openxmlformats.org/officeDocument/2006/relationships/slideLayout" Target="../slideLayouts/slideLayout68.xml"/><Relationship Id="rId46" Type="http://schemas.openxmlformats.org/officeDocument/2006/relationships/slideLayout" Target="../slideLayouts/slideLayout69.xml"/><Relationship Id="rId47" Type="http://schemas.openxmlformats.org/officeDocument/2006/relationships/slideLayout" Target="../slideLayouts/slideLayout70.xml"/><Relationship Id="rId48" Type="http://schemas.openxmlformats.org/officeDocument/2006/relationships/slideLayout" Target="../slideLayouts/slideLayout71.xml"/><Relationship Id="rId49" Type="http://schemas.openxmlformats.org/officeDocument/2006/relationships/slideLayout" Target="../slideLayouts/slideLayout72.xml"/><Relationship Id="rId50" Type="http://schemas.openxmlformats.org/officeDocument/2006/relationships/slideLayout" Target="../slideLayouts/slideLayout73.xml"/><Relationship Id="rId51" Type="http://schemas.openxmlformats.org/officeDocument/2006/relationships/slideLayout" Target="../slideLayouts/slideLayout74.xml"/><Relationship Id="rId52" Type="http://schemas.openxmlformats.org/officeDocument/2006/relationships/slideLayout" Target="../slideLayouts/slideLayout75.xml"/><Relationship Id="rId53" Type="http://schemas.openxmlformats.org/officeDocument/2006/relationships/slideLayout" Target="../slideLayouts/slideLayout76.xml"/><Relationship Id="rId54" Type="http://schemas.openxmlformats.org/officeDocument/2006/relationships/slideLayout" Target="../slideLayouts/slideLayout77.xml"/><Relationship Id="rId55" Type="http://schemas.openxmlformats.org/officeDocument/2006/relationships/slideLayout" Target="../slideLayouts/slideLayout78.xml"/><Relationship Id="rId56" Type="http://schemas.openxmlformats.org/officeDocument/2006/relationships/slideLayout" Target="../slideLayouts/slideLayout79.xml"/><Relationship Id="rId57" Type="http://schemas.openxmlformats.org/officeDocument/2006/relationships/slideLayout" Target="../slideLayouts/slideLayout80.xml"/><Relationship Id="rId58" Type="http://schemas.openxmlformats.org/officeDocument/2006/relationships/slideLayout" Target="../slideLayouts/slideLayout81.xml"/><Relationship Id="rId59" Type="http://schemas.openxmlformats.org/officeDocument/2006/relationships/slideLayout" Target="../slideLayouts/slideLayout82.xml"/><Relationship Id="rId60" Type="http://schemas.openxmlformats.org/officeDocument/2006/relationships/slideLayout" Target="../slideLayouts/slideLayout83.xml"/><Relationship Id="rId61" Type="http://schemas.openxmlformats.org/officeDocument/2006/relationships/slideLayout" Target="../slideLayouts/slideLayout84.xml"/><Relationship Id="rId62" Type="http://schemas.openxmlformats.org/officeDocument/2006/relationships/slideLayout" Target="../slideLayouts/slideLayout85.xml"/><Relationship Id="rId63" Type="http://schemas.openxmlformats.org/officeDocument/2006/relationships/slideLayout" Target="../slideLayouts/slideLayout86.xml"/><Relationship Id="rId64" Type="http://schemas.openxmlformats.org/officeDocument/2006/relationships/slideLayout" Target="../slideLayouts/slideLayout87.xml"/><Relationship Id="rId65" Type="http://schemas.openxmlformats.org/officeDocument/2006/relationships/slideLayout" Target="../slideLayouts/slideLayout88.xml"/><Relationship Id="rId66" Type="http://schemas.openxmlformats.org/officeDocument/2006/relationships/slideLayout" Target="../slideLayouts/slideLayout89.xml"/><Relationship Id="rId67" Type="http://schemas.openxmlformats.org/officeDocument/2006/relationships/slideLayout" Target="../slideLayouts/slideLayout90.xml"/><Relationship Id="rId68" Type="http://schemas.openxmlformats.org/officeDocument/2006/relationships/slideLayout" Target="../slideLayouts/slideLayout91.xml"/><Relationship Id="rId69" Type="http://schemas.openxmlformats.org/officeDocument/2006/relationships/slideLayout" Target="../slideLayouts/slideLayout92.xml"/><Relationship Id="rId70" Type="http://schemas.openxmlformats.org/officeDocument/2006/relationships/slideLayout" Target="../slideLayouts/slideLayout93.xml"/><Relationship Id="rId71" Type="http://schemas.openxmlformats.org/officeDocument/2006/relationships/slideLayout" Target="../slideLayouts/slideLayout94.xml"/><Relationship Id="rId72" Type="http://schemas.openxmlformats.org/officeDocument/2006/relationships/slideLayout" Target="../slideLayouts/slideLayout95.xml"/><Relationship Id="rId73" Type="http://schemas.openxmlformats.org/officeDocument/2006/relationships/slideLayout" Target="../slideLayouts/slideLayout96.xml"/><Relationship Id="rId74" Type="http://schemas.openxmlformats.org/officeDocument/2006/relationships/slideLayout" Target="../slideLayouts/slideLayout97.xml"/><Relationship Id="rId75" Type="http://schemas.openxmlformats.org/officeDocument/2006/relationships/slideLayout" Target="../slideLayouts/slideLayout98.xml"/><Relationship Id="rId76" Type="http://schemas.openxmlformats.org/officeDocument/2006/relationships/slideLayout" Target="../slideLayouts/slideLayout99.xml"/><Relationship Id="rId77" Type="http://schemas.openxmlformats.org/officeDocument/2006/relationships/slideLayout" Target="../slideLayouts/slideLayout100.xml"/><Relationship Id="rId78" Type="http://schemas.openxmlformats.org/officeDocument/2006/relationships/slideLayout" Target="../slideLayouts/slideLayout101.xml"/><Relationship Id="rId79" Type="http://schemas.openxmlformats.org/officeDocument/2006/relationships/slideLayout" Target="../slideLayouts/slideLayout102.xml"/><Relationship Id="rId80" Type="http://schemas.openxmlformats.org/officeDocument/2006/relationships/slideLayout" Target="../slideLayouts/slideLayout103.xml"/><Relationship Id="rId81" Type="http://schemas.openxmlformats.org/officeDocument/2006/relationships/slideLayout" Target="../slideLayouts/slideLayout104.xml"/><Relationship Id="rId82" Type="http://schemas.openxmlformats.org/officeDocument/2006/relationships/slideLayout" Target="../slideLayouts/slideLayout105.xml"/><Relationship Id="rId83" Type="http://schemas.openxmlformats.org/officeDocument/2006/relationships/slideLayout" Target="../slideLayouts/slideLayout106.xml"/><Relationship Id="rId84" Type="http://schemas.openxmlformats.org/officeDocument/2006/relationships/slideLayout" Target="../slideLayouts/slideLayout107.xml"/><Relationship Id="rId85" Type="http://schemas.openxmlformats.org/officeDocument/2006/relationships/slideLayout" Target="../slideLayouts/slideLayout108.xml"/><Relationship Id="rId86" Type="http://schemas.openxmlformats.org/officeDocument/2006/relationships/slideLayout" Target="../slideLayouts/slideLayout109.xml"/><Relationship Id="rId87" Type="http://schemas.openxmlformats.org/officeDocument/2006/relationships/slideLayout" Target="../slideLayouts/slideLayout110.xml"/><Relationship Id="rId88" Type="http://schemas.openxmlformats.org/officeDocument/2006/relationships/slideLayout" Target="../slideLayouts/slideLayout111.xml"/><Relationship Id="rId89" Type="http://schemas.openxmlformats.org/officeDocument/2006/relationships/slideLayout" Target="../slideLayouts/slideLayout112.xml"/><Relationship Id="rId90" Type="http://schemas.openxmlformats.org/officeDocument/2006/relationships/slideLayout" Target="../slideLayouts/slideLayout113.xml"/><Relationship Id="rId91" Type="http://schemas.openxmlformats.org/officeDocument/2006/relationships/slideLayout" Target="../slideLayouts/slideLayout114.xml"/><Relationship Id="rId92" Type="http://schemas.openxmlformats.org/officeDocument/2006/relationships/slideLayout" Target="../slideLayouts/slideLayout115.xml"/><Relationship Id="rId93" Type="http://schemas.openxmlformats.org/officeDocument/2006/relationships/slideLayout" Target="../slideLayouts/slideLayout116.xml"/><Relationship Id="rId94" Type="http://schemas.openxmlformats.org/officeDocument/2006/relationships/slideLayout" Target="../slideLayouts/slideLayout117.xml"/><Relationship Id="rId95" Type="http://schemas.openxmlformats.org/officeDocument/2006/relationships/slideLayout" Target="../slideLayouts/slideLayout118.xml"/><Relationship Id="rId96" Type="http://schemas.openxmlformats.org/officeDocument/2006/relationships/slideLayout" Target="../slideLayouts/slideLayout119.xml"/><Relationship Id="rId97" Type="http://schemas.openxmlformats.org/officeDocument/2006/relationships/slideLayout" Target="../slideLayouts/slideLayout120.xml"/><Relationship Id="rId98" Type="http://schemas.openxmlformats.org/officeDocument/2006/relationships/slideLayout" Target="../slideLayouts/slideLayout121.xml"/><Relationship Id="rId99" Type="http://schemas.openxmlformats.org/officeDocument/2006/relationships/slideLayout" Target="../slideLayouts/slideLayout122.xml"/><Relationship Id="rId100" Type="http://schemas.openxmlformats.org/officeDocument/2006/relationships/slideLayout" Target="../slideLayouts/slideLayout123.xml"/><Relationship Id="rId101" Type="http://schemas.openxmlformats.org/officeDocument/2006/relationships/theme" Target="../theme/theme3.xml"/><Relationship Id="rId102" Type="http://schemas.openxmlformats.org/officeDocument/2006/relationships/image" Target="../media/image1.png"/><Relationship Id="rId103"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0CECA-65F4-35E9-7E82-DC2E7ED97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D36FEE-6DD8-2AFD-C85E-02D14C3F2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7EF90-E3CC-886E-5D08-58EA397B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0FC6C8F-EF53-F6F5-8D1F-4FC641226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687A98-DBEC-18EF-4222-F33267DB89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7BF3F-7888-4035-A167-8684EC2F54BD}" type="slidenum">
              <a:rPr lang="en-US" smtClean="0"/>
              <a:t>‹#›</a:t>
            </a:fld>
            <a:endParaRPr lang="en-US"/>
          </a:p>
        </p:txBody>
      </p:sp>
    </p:spTree>
    <p:extLst>
      <p:ext uri="{BB962C8B-B14F-4D97-AF65-F5344CB8AC3E}">
        <p14:creationId xmlns:p14="http://schemas.microsoft.com/office/powerpoint/2010/main" val="14722695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159" y="246888"/>
            <a:ext cx="11076241" cy="869670"/>
          </a:xfrm>
          <a:prstGeom prst="rect">
            <a:avLst/>
          </a:prstGeom>
        </p:spPr>
        <p:txBody>
          <a:bodyPr vert="horz" lIns="91440" tIns="45720" rIns="91440" bIns="45720" rtlCol="0" anchor="b">
            <a:noAutofit/>
          </a:bodyPr>
          <a:lstStyle/>
          <a:p>
            <a:r>
              <a:rPr lang="en-US"/>
              <a:t>Click to edit Master title style</a:t>
            </a:r>
            <a:endParaRPr dirty="0"/>
          </a:p>
        </p:txBody>
      </p:sp>
      <p:sp>
        <p:nvSpPr>
          <p:cNvPr id="3" name="Text Placeholder 2"/>
          <p:cNvSpPr>
            <a:spLocks noGrp="1"/>
          </p:cNvSpPr>
          <p:nvPr>
            <p:ph type="body" idx="1"/>
          </p:nvPr>
        </p:nvSpPr>
        <p:spPr>
          <a:xfrm>
            <a:off x="506159" y="1419225"/>
            <a:ext cx="11076241" cy="47148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Box 9">
            <a:extLst>
              <a:ext uri="{FF2B5EF4-FFF2-40B4-BE49-F238E27FC236}">
                <a16:creationId xmlns:a16="http://schemas.microsoft.com/office/drawing/2014/main" id="{76194EB1-DD59-4FB2-B35C-6508F8326C51}"/>
              </a:ext>
            </a:extLst>
          </p:cNvPr>
          <p:cNvSpPr txBox="1"/>
          <p:nvPr/>
        </p:nvSpPr>
        <p:spPr>
          <a:xfrm>
            <a:off x="609600" y="6642100"/>
            <a:ext cx="245269" cy="107722"/>
          </a:xfrm>
          <a:prstGeom prst="rect">
            <a:avLst/>
          </a:prstGeom>
        </p:spPr>
        <p:txBody>
          <a:bodyPr vert="horz" wrap="square" lIns="0" tIns="0" rIns="0" bIns="0" rtlCol="0" anchor="ctr">
            <a:spAutoFit/>
          </a:bodyPr>
          <a:lstStyle>
            <a:defPPr>
              <a:defRPr/>
            </a:defPPr>
            <a:lvl1pPr algn="r">
              <a:defRPr sz="800" b="0" i="0">
                <a:solidFill>
                  <a:srgbClr val="666666"/>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10879B5-1C20-42A6-AC6E-8383EEB12890}" type="slidenum">
              <a:rPr lang="en-US" sz="700" smtClean="0"/>
              <a:pPr marL="0" marR="0" lvl="0" indent="0" algn="l" defTabSz="457200" rtl="0" eaLnBrk="1" fontAlgn="auto" latinLnBrk="0" hangingPunct="1">
                <a:lnSpc>
                  <a:spcPct val="100000"/>
                </a:lnSpc>
                <a:spcBef>
                  <a:spcPts val="0"/>
                </a:spcBef>
                <a:spcAft>
                  <a:spcPts val="0"/>
                </a:spcAft>
                <a:buClrTx/>
                <a:buSzTx/>
                <a:buFontTx/>
                <a:buNone/>
                <a:tabLst/>
                <a:defRPr/>
              </a:pPr>
              <a:t>‹#›</a:t>
            </a:fld>
            <a:endParaRPr lang="en-US" sz="700" dirty="0"/>
          </a:p>
        </p:txBody>
      </p:sp>
      <p:pic>
        <p:nvPicPr>
          <p:cNvPr id="13" name="svg logo">
            <a:extLst>
              <a:ext uri="{FF2B5EF4-FFF2-40B4-BE49-F238E27FC236}">
                <a16:creationId xmlns:a16="http://schemas.microsoft.com/office/drawing/2014/main" id="{ECAAC783-D568-DECB-D064-B28E4CD44825}"/>
              </a:ext>
            </a:extLst>
          </p:cNvPr>
          <p:cNvPicPr>
            <a:picLocks noChangeAspect="1"/>
          </p:cNvPicPr>
          <p:nvPr/>
        </p:nvPicPr>
        <p:blipFill>
          <a:blip r:embed="rId102" cstate="email">
            <a:extLst>
              <a:ext uri="{28A0092B-C50C-407E-A947-70E740481C1C}">
                <a14:useLocalDpi xmlns:a14="http://schemas.microsoft.com/office/drawing/2010/main"/>
              </a:ext>
              <a:ext uri="{96DAC541-7B7A-43D3-8B79-37D633B846F1}">
                <asvg:svgBlip xmlns:asvg="http://schemas.microsoft.com/office/drawing/2016/SVG/main" r:embed="rId103"/>
              </a:ext>
            </a:extLst>
          </a:blip>
          <a:stretch>
            <a:fillRect/>
          </a:stretch>
        </p:blipFill>
        <p:spPr>
          <a:xfrm>
            <a:off x="10942320" y="6420293"/>
            <a:ext cx="640080" cy="321292"/>
          </a:xfrm>
          <a:prstGeom prst="rect">
            <a:avLst/>
          </a:prstGeom>
        </p:spPr>
      </p:pic>
      <p:sp>
        <p:nvSpPr>
          <p:cNvPr id="7" name="TextBox 26">
            <a:extLst>
              <a:ext uri="{FF2B5EF4-FFF2-40B4-BE49-F238E27FC236}">
                <a16:creationId xmlns:a16="http://schemas.microsoft.com/office/drawing/2014/main" id="{37904712-28BD-FCEC-75FB-3B3F39F52667}"/>
              </a:ext>
            </a:extLst>
          </p:cNvPr>
          <p:cNvSpPr txBox="1">
            <a:spLocks noChangeArrowheads="1"/>
          </p:cNvSpPr>
          <p:nvPr/>
        </p:nvSpPr>
        <p:spPr bwMode="auto">
          <a:xfrm>
            <a:off x="816821" y="6642100"/>
            <a:ext cx="152156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nSpc>
                <a:spcPct val="100000"/>
              </a:lnSpc>
              <a:spcAft>
                <a:spcPct val="10000"/>
              </a:spcAft>
            </a:pPr>
            <a:r>
              <a:rPr sz="700" b="0" i="0" dirty="0">
                <a:solidFill>
                  <a:srgbClr val="666666"/>
                </a:solidFill>
                <a:latin typeface="Arial" panose="020B0604020202020204" pitchFamily="34" charset="0"/>
                <a:cs typeface="Arial" panose="020B0604020202020204" pitchFamily="34" charset="0"/>
              </a:rPr>
              <a:t>©</a:t>
            </a:r>
            <a:r>
              <a:rPr lang="en-IN" sz="700" b="0" i="0" dirty="0">
                <a:solidFill>
                  <a:srgbClr val="666666"/>
                </a:solidFill>
                <a:latin typeface="Arial" panose="020B0604020202020204" pitchFamily="34" charset="0"/>
                <a:cs typeface="Arial" panose="020B0604020202020204" pitchFamily="34" charset="0"/>
              </a:rPr>
              <a:t> 2025 </a:t>
            </a:r>
            <a:r>
              <a:rPr sz="700" b="0" i="0" dirty="0">
                <a:solidFill>
                  <a:srgbClr val="666666"/>
                </a:solidFill>
                <a:latin typeface="Arial" panose="020B0604020202020204" pitchFamily="34" charset="0"/>
                <a:cs typeface="Arial" panose="020B0604020202020204" pitchFamily="34" charset="0"/>
              </a:rPr>
              <a:t>Fiserv, Inc. or its affiliates.</a:t>
            </a:r>
            <a:r>
              <a:rPr lang="en-US" sz="700" b="0" i="0" dirty="0">
                <a:solidFill>
                  <a:srgbClr val="666666"/>
                </a:solidFill>
                <a:latin typeface="Arial" panose="020B0604020202020204" pitchFamily="34" charset="0"/>
                <a:cs typeface="Arial" panose="020B0604020202020204" pitchFamily="34" charset="0"/>
              </a:rPr>
              <a:t>   </a:t>
            </a:r>
            <a:r>
              <a:rPr lang="en-US" sz="700" b="0" i="0" dirty="0">
                <a:solidFill>
                  <a:srgbClr val="666666"/>
                </a:solidFill>
                <a:latin typeface="Arial" panose="020B0604020202020204" pitchFamily="34" charset="0"/>
                <a:ea typeface="Univers for Fiserv 45 Light" charset="0"/>
                <a:cs typeface="Arial" panose="020B0604020202020204" pitchFamily="34" charset="0"/>
              </a:rPr>
              <a:t>|</a:t>
            </a:r>
            <a:endParaRPr sz="700" b="0" i="0" dirty="0">
              <a:solidFill>
                <a:srgbClr val="666666"/>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EF0809E-F06B-6155-560F-761F029F2985}"/>
              </a:ext>
            </a:extLst>
          </p:cNvPr>
          <p:cNvSpPr/>
          <p:nvPr/>
        </p:nvSpPr>
        <p:spPr>
          <a:xfrm>
            <a:off x="8267688" y="6501631"/>
            <a:ext cx="2655529" cy="289375"/>
          </a:xfrm>
          <a:prstGeom prst="rect">
            <a:avLst/>
          </a:prstGeom>
        </p:spPr>
        <p:txBody>
          <a:bodyPr wrap="square">
            <a:spAutoFit/>
          </a:bodyPr>
          <a:lstStyle/>
          <a:p>
            <a:pPr marL="0" marR="0" lvl="0" indent="0" algn="r" defTabSz="914400" eaLnBrk="1" fontAlgn="auto" latinLnBrk="0" hangingPunct="1">
              <a:lnSpc>
                <a:spcPts val="750"/>
              </a:lnSpc>
              <a:spcBef>
                <a:spcPts val="0"/>
              </a:spcBef>
              <a:spcAft>
                <a:spcPts val="0"/>
              </a:spcAft>
              <a:buClrTx/>
              <a:buSzTx/>
              <a:buFontTx/>
              <a:buNone/>
              <a:tabLst/>
              <a:defRPr/>
            </a:pP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Recognized by</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1" u="none" strike="noStrike" kern="0" cap="none" spc="0" normalizeH="0" baseline="0" noProof="0" dirty="0">
                <a:ln>
                  <a:noFill/>
                </a:ln>
                <a:solidFill>
                  <a:srgbClr val="666666"/>
                </a:solidFill>
                <a:effectLst/>
                <a:uLnTx/>
                <a:uFillTx/>
                <a:latin typeface="+mj-lt"/>
                <a:cs typeface="Arial" panose="020B0604020202020204" pitchFamily="34" charset="0"/>
              </a:rPr>
              <a:t>Fortune</a:t>
            </a:r>
            <a:r>
              <a:rPr kumimoji="0" lang="en-US" sz="500" b="0" i="0" u="none" strike="noStrike" kern="0" cap="none" spc="0" normalizeH="0" baseline="38000" noProof="0" dirty="0">
                <a:ln>
                  <a:noFill/>
                </a:ln>
                <a:solidFill>
                  <a:srgbClr val="666666"/>
                </a:solidFill>
                <a:effectLst/>
                <a:uLnTx/>
                <a:uFillTx/>
                <a:latin typeface="+mj-lt"/>
                <a:cs typeface="Arial" panose="020B0604020202020204" pitchFamily="34" charset="0"/>
              </a:rPr>
              <a:t>®</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Magazine</a:t>
            </a:r>
            <a:endParaRPr kumimoji="0" lang="en-US" sz="600" b="0" i="0" u="none" strike="noStrike" kern="0" cap="none" spc="0" normalizeH="0" baseline="30000" noProof="0" dirty="0">
              <a:ln>
                <a:noFill/>
              </a:ln>
              <a:solidFill>
                <a:srgbClr val="666666"/>
              </a:solidFill>
              <a:effectLst/>
              <a:uLnTx/>
              <a:uFillTx/>
              <a:latin typeface="+mj-lt"/>
              <a:cs typeface="Arial" panose="020B0604020202020204" pitchFamily="34" charset="0"/>
            </a:endParaRPr>
          </a:p>
          <a:p>
            <a:pPr marL="0" marR="0" lvl="0" indent="0" algn="r" defTabSz="914400" eaLnBrk="1" fontAlgn="auto" latinLnBrk="0" hangingPunct="1">
              <a:lnSpc>
                <a:spcPts val="750"/>
              </a:lnSpc>
              <a:spcBef>
                <a:spcPts val="0"/>
              </a:spcBef>
              <a:spcAft>
                <a:spcPts val="0"/>
              </a:spcAft>
              <a:buClrTx/>
              <a:buSzTx/>
              <a:buFontTx/>
              <a:buNone/>
              <a:tabLst>
                <a:tab pos="2400300" algn="r"/>
              </a:tabLst>
              <a:defRPr/>
            </a:pP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World’s Most Admired Companie</a:t>
            </a:r>
            <a:r>
              <a:rPr kumimoji="0" lang="en-US" sz="600" b="1" i="0" u="none" strike="noStrike" kern="0" cap="none" spc="-70" normalizeH="0" baseline="0" noProof="0" dirty="0">
                <a:ln>
                  <a:noFill/>
                </a:ln>
                <a:solidFill>
                  <a:srgbClr val="666666"/>
                </a:solidFill>
                <a:effectLst/>
                <a:uLnTx/>
                <a:uFillTx/>
                <a:latin typeface="+mj-lt"/>
                <a:cs typeface="Arial" panose="020B0604020202020204" pitchFamily="34" charset="0"/>
              </a:rPr>
              <a:t>s</a:t>
            </a:r>
            <a:r>
              <a:rPr kumimoji="0" lang="en-US" sz="400" b="1" i="0" u="none" strike="noStrike" kern="0" cap="none" spc="0" normalizeH="0" baseline="55000" noProof="0" dirty="0">
                <a:ln>
                  <a:noFill/>
                </a:ln>
                <a:solidFill>
                  <a:srgbClr val="666666"/>
                </a:solidFill>
                <a:effectLst/>
                <a:uLnTx/>
                <a:uFillTx/>
                <a:latin typeface="+mj-lt"/>
                <a:cs typeface="Arial" panose="020B0604020202020204" pitchFamily="34" charset="0"/>
              </a:rPr>
              <a:t>TM</a:t>
            </a:r>
            <a:r>
              <a:rPr kumimoji="0" lang="en-US" sz="500" b="1" i="0" u="none" strike="noStrike" kern="0" cap="none" spc="0" normalizeH="0" baseline="0" noProof="0" dirty="0">
                <a:ln>
                  <a:noFill/>
                </a:ln>
                <a:solidFill>
                  <a:srgbClr val="666666"/>
                </a:solidFill>
                <a:effectLst/>
                <a:uLnTx/>
                <a:uFillTx/>
                <a:latin typeface="+mj-lt"/>
                <a:ea typeface="+mn-ea"/>
                <a:cs typeface="Arial" panose="020B0604020202020204" pitchFamily="34" charset="0"/>
              </a:rPr>
              <a:t>  </a:t>
            </a: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9 of the last 10 years</a:t>
            </a:r>
          </a:p>
        </p:txBody>
      </p:sp>
      <p:sp>
        <p:nvSpPr>
          <p:cNvPr id="5" name="TextBox 4">
            <a:extLst>
              <a:ext uri="{FF2B5EF4-FFF2-40B4-BE49-F238E27FC236}">
                <a16:creationId xmlns:a16="http://schemas.microsoft.com/office/drawing/2014/main" id="{5AC65BD8-B3C3-FCD3-A734-958E279C2907}"/>
              </a:ext>
            </a:extLst>
          </p:cNvPr>
          <p:cNvSpPr txBox="1"/>
          <p:nvPr>
            <p:extLst>
              <p:ext uri="{1162E1C5-73C7-4A58-AE30-91384D911F3F}">
                <p184:classification xmlns:p184="http://schemas.microsoft.com/office/powerpoint/2018/4/main" val="ftr"/>
              </p:ext>
            </p:extLst>
          </p:nvPr>
        </p:nvSpPr>
        <p:spPr>
          <a:xfrm>
            <a:off x="2338387" y="6642100"/>
            <a:ext cx="984250" cy="107722"/>
          </a:xfrm>
          <a:prstGeom prst="rect">
            <a:avLst/>
          </a:prstGeom>
        </p:spPr>
        <p:txBody>
          <a:bodyPr horzOverflow="overflow" lIns="0" tIns="0" rIns="0" bIns="0">
            <a:spAutoFit/>
          </a:bodyPr>
          <a:lstStyle/>
          <a:p>
            <a:pPr algn="l"/>
            <a:r>
              <a:rPr lang="en-US" sz="700" dirty="0">
                <a:solidFill>
                  <a:schemeClr val="accent3"/>
                </a:solidFill>
                <a:latin typeface="+mj-lt"/>
                <a:cs typeface="Calibri" panose="020F0502020204030204" pitchFamily="34" charset="0"/>
              </a:rPr>
              <a:t>Fiserv Confidential</a:t>
            </a:r>
          </a:p>
        </p:txBody>
      </p:sp>
    </p:spTree>
    <p:extLst>
      <p:ext uri="{BB962C8B-B14F-4D97-AF65-F5344CB8AC3E}">
        <p14:creationId xmlns:p14="http://schemas.microsoft.com/office/powerpoint/2010/main" val="185226856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2" r:id="rId79"/>
    <p:sldLayoutId id="2147483753" r:id="rId80"/>
    <p:sldLayoutId id="2147483754" r:id="rId81"/>
    <p:sldLayoutId id="2147483755" r:id="rId82"/>
    <p:sldLayoutId id="2147483756" r:id="rId83"/>
    <p:sldLayoutId id="2147483757" r:id="rId84"/>
    <p:sldLayoutId id="2147483758" r:id="rId85"/>
    <p:sldLayoutId id="2147483759" r:id="rId86"/>
    <p:sldLayoutId id="2147483760" r:id="rId87"/>
    <p:sldLayoutId id="2147483761" r:id="rId88"/>
    <p:sldLayoutId id="2147483762" r:id="rId89"/>
    <p:sldLayoutId id="2147483763" r:id="rId90"/>
    <p:sldLayoutId id="2147483764" r:id="rId91"/>
    <p:sldLayoutId id="2147483765" r:id="rId92"/>
    <p:sldLayoutId id="2147483766" r:id="rId93"/>
    <p:sldLayoutId id="2147483767" r:id="rId94"/>
    <p:sldLayoutId id="2147483768" r:id="rId95"/>
    <p:sldLayoutId id="2147483769" r:id="rId96"/>
    <p:sldLayoutId id="2147483770" r:id="rId97"/>
    <p:sldLayoutId id="2147483771" r:id="rId98"/>
    <p:sldLayoutId id="2147483772" r:id="rId99"/>
    <p:sldLayoutId id="2147483773" r:id="rId100"/>
  </p:sldLayoutIdLst>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A4A3A4"/>
          </p15:clr>
        </p15:guide>
        <p15:guide id="5" pos="384">
          <p15:clr>
            <a:srgbClr val="A4A3A4"/>
          </p15:clr>
        </p15:guide>
        <p15:guide id="8" pos="7296">
          <p15:clr>
            <a:srgbClr val="A4A3A4"/>
          </p15:clr>
        </p15:guide>
        <p15:guide id="11" orient="horz" pos="711">
          <p15:clr>
            <a:srgbClr val="5ACBF0"/>
          </p15:clr>
        </p15:guide>
        <p15:guide id="12" orient="horz" pos="3984">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741609" y="2958806"/>
            <a:ext cx="7393351" cy="523220"/>
          </a:xfrm>
          <a:prstGeom prst="rect">
            <a:avLst/>
          </a:prstGeom>
          <a:noFill/>
        </p:spPr>
        <p:txBody>
          <a:bodyPr wrap="square">
            <a:spAutoFit/>
          </a:bodyPr>
          <a:lstStyle/>
          <a:p>
            <a:pPr algn="l">
              <a:defRPr sz="2800" b="0">
                <a:solidFill>
                  <a:srgbClr val="FF6600"/>
                </a:solidFill>
                <a:latin typeface="Calibri"/>
              </a:defRPr>
            </a:pPr>
            <a:r>
              <a:rPr lang="en-US" dirty="0"/>
              <a:t>Fiserv - </a:t>
            </a:r>
            <a:r>
              <a:rPr dirty="0"/>
              <a:t>Crypto &amp; Stablecoin Acceptance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457200"/>
          </a:xfrm>
          <a:prstGeom prst="rect">
            <a:avLst/>
          </a:prstGeom>
          <a:noFill/>
        </p:spPr>
        <p:txBody>
          <a:bodyPr wrap="square" lIns="0" rIns="0" tIns="0" bIns="0">
            <a:spAutoFit/>
          </a:bodyPr>
          <a:lstStyle/>
          <a:p>
            <a:pPr algn="l"/>
            <a:r>
              <a:rPr sz="2200" b="1">
                <a:solidFill>
                  <a:srgbClr val="FFFFFF"/>
                </a:solidFill>
                <a:latin typeface="Calibri"/>
              </a:rPr>
              <a:t>Strategic Recommendation  —  Clover CNP Growth via FIUSD + Agentic Commerce</a:t>
            </a:r>
          </a:p>
        </p:txBody>
      </p:sp>
      <p:sp>
        <p:nvSpPr>
          <p:cNvPr id="4" name="TextBox 3"/>
          <p:cNvSpPr txBox="1"/>
          <p:nvPr/>
        </p:nvSpPr>
        <p:spPr>
          <a:xfrm>
            <a:off x="548640" y="658368"/>
            <a:ext cx="10972800" cy="274320"/>
          </a:xfrm>
          <a:prstGeom prst="rect">
            <a:avLst/>
          </a:prstGeom>
          <a:noFill/>
        </p:spPr>
        <p:txBody>
          <a:bodyPr wrap="square" lIns="0" rIns="0" tIns="0" bIns="0">
            <a:spAutoFit/>
          </a:bodyPr>
          <a:lstStyle/>
          <a:p>
            <a:pPr algn="l"/>
            <a:r>
              <a:rPr sz="1200" b="0">
                <a:solidFill>
                  <a:srgbClr val="F2F2F2"/>
                </a:solidFill>
                <a:latin typeface="Calibri"/>
              </a:rPr>
              <a:t>Phase 4 verdicts — four products in, three parked</a:t>
            </a:r>
          </a:p>
        </p:txBody>
      </p:sp>
      <p:sp>
        <p:nvSpPr>
          <p:cNvPr id="5" name="Rounded Rectangle 4"/>
          <p:cNvSpPr/>
          <p:nvPr/>
        </p:nvSpPr>
        <p:spPr>
          <a:xfrm>
            <a:off x="54864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137160" cy="21031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5120640" cy="320040"/>
          </a:xfrm>
          <a:prstGeom prst="rect">
            <a:avLst/>
          </a:prstGeom>
          <a:noFill/>
        </p:spPr>
        <p:txBody>
          <a:bodyPr wrap="square" lIns="0" rIns="0" tIns="0" bIns="0">
            <a:spAutoFit/>
          </a:bodyPr>
          <a:lstStyle/>
          <a:p>
            <a:pPr algn="l"/>
            <a:r>
              <a:rPr sz="1300" b="1">
                <a:solidFill>
                  <a:srgbClr val="FF6600"/>
                </a:solidFill>
                <a:latin typeface="Calibri"/>
              </a:rPr>
              <a:t>WHERE THE WEDGE IS  (2026)</a:t>
            </a:r>
          </a:p>
        </p:txBody>
      </p:sp>
      <p:sp>
        <p:nvSpPr>
          <p:cNvPr id="8" name="TextBox 7"/>
          <p:cNvSpPr txBox="1"/>
          <p:nvPr/>
        </p:nvSpPr>
        <p:spPr>
          <a:xfrm>
            <a:off x="822960" y="1737360"/>
            <a:ext cx="5120640" cy="1463040"/>
          </a:xfrm>
          <a:prstGeom prst="rect">
            <a:avLst/>
          </a:prstGeom>
          <a:noFill/>
        </p:spPr>
        <p:txBody>
          <a:bodyPr wrap="square" lIns="0" rIns="0" tIns="0" bIns="0">
            <a:spAutoFit/>
          </a:bodyPr>
          <a:lstStyle/>
          <a:p>
            <a:pPr algn="l"/>
            <a:r>
              <a:rPr sz="1100" b="0">
                <a:solidFill>
                  <a:srgbClr val="333333"/>
                </a:solidFill>
                <a:latin typeface="Calibri"/>
              </a:rPr>
              <a:t>• Mastercard Agent Pay integration into Clover (Dec 2025) — Toast/Square have no equivalent</a:t>
            </a:r>
          </a:p>
          <a:p>
            <a:pPr algn="l"/>
            <a:r>
              <a:rPr sz="1100" b="0">
                <a:solidFill>
                  <a:srgbClr val="333333"/>
                </a:solidFill>
                <a:latin typeface="Calibri"/>
              </a:rPr>
              <a:t>• Weekend/holiday settlement acceleration — real Fiserv asymmetry via Finxact + INDX + FIUSD</a:t>
            </a:r>
          </a:p>
          <a:p>
            <a:pPr algn="l"/>
            <a:r>
              <a:rPr sz="1100" b="0">
                <a:solidFill>
                  <a:srgbClr val="333333"/>
                </a:solidFill>
                <a:latin typeface="Calibri"/>
              </a:rPr>
              <a:t>• Enforceable deposits for services + catering via cryptographic mandate</a:t>
            </a:r>
          </a:p>
          <a:p>
            <a:pPr algn="l"/>
            <a:r>
              <a:rPr sz="1100" b="0">
                <a:solidFill>
                  <a:srgbClr val="333333"/>
                </a:solidFill>
                <a:latin typeface="Calibri"/>
              </a:rPr>
              <a:t>• NOT yet: agent-initiated end-to-end checkout (ACP stumbled; 2026 is discovery)</a:t>
            </a:r>
          </a:p>
        </p:txBody>
      </p:sp>
      <p:sp>
        <p:nvSpPr>
          <p:cNvPr id="9" name="Rounded Rectangle 8"/>
          <p:cNvSpPr/>
          <p:nvPr/>
        </p:nvSpPr>
        <p:spPr>
          <a:xfrm>
            <a:off x="630936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234440"/>
            <a:ext cx="137160" cy="210312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371600"/>
            <a:ext cx="5120640" cy="320040"/>
          </a:xfrm>
          <a:prstGeom prst="rect">
            <a:avLst/>
          </a:prstGeom>
          <a:noFill/>
        </p:spPr>
        <p:txBody>
          <a:bodyPr wrap="square" lIns="0" rIns="0" tIns="0" bIns="0">
            <a:spAutoFit/>
          </a:bodyPr>
          <a:lstStyle/>
          <a:p>
            <a:pPr algn="l"/>
            <a:r>
              <a:rPr sz="1300" b="1">
                <a:solidFill>
                  <a:srgbClr val="008090"/>
                </a:solidFill>
                <a:latin typeface="Calibri"/>
              </a:rPr>
              <a:t>PORTFOLIO — PHASE 5 BUILD</a:t>
            </a:r>
          </a:p>
        </p:txBody>
      </p:sp>
      <p:sp>
        <p:nvSpPr>
          <p:cNvPr id="12" name="TextBox 11"/>
          <p:cNvSpPr txBox="1"/>
          <p:nvPr/>
        </p:nvSpPr>
        <p:spPr>
          <a:xfrm>
            <a:off x="6583680" y="1737360"/>
            <a:ext cx="5120640" cy="1463040"/>
          </a:xfrm>
          <a:prstGeom prst="rect">
            <a:avLst/>
          </a:prstGeom>
          <a:noFill/>
        </p:spPr>
        <p:txBody>
          <a:bodyPr wrap="square" lIns="0" rIns="0" tIns="0" bIns="0">
            <a:spAutoFit/>
          </a:bodyPr>
          <a:lstStyle/>
          <a:p>
            <a:pPr algn="l"/>
            <a:r>
              <a:rPr sz="1100" b="0">
                <a:solidFill>
                  <a:srgbClr val="333333"/>
                </a:solidFill>
                <a:latin typeface="Calibri"/>
              </a:rPr>
              <a:t>• Clover Direct — hero; agent-payable + discoverable Clover merchants at 8% vs DoorDash 28%</a:t>
            </a:r>
          </a:p>
          <a:p>
            <a:pPr algn="l"/>
            <a:r>
              <a:rPr sz="1100" b="0">
                <a:solidFill>
                  <a:srgbClr val="333333"/>
                </a:solidFill>
                <a:latin typeface="Calibri"/>
              </a:rPr>
              <a:t>• SmartDeposit — enforceable deposits for services + catering (shared backbone)</a:t>
            </a:r>
          </a:p>
          <a:p>
            <a:pPr algn="l"/>
            <a:r>
              <a:rPr sz="1100" b="0">
                <a:solidFill>
                  <a:srgbClr val="333333"/>
                </a:solidFill>
                <a:latin typeface="Calibri"/>
              </a:rPr>
              <a:t>• WeekendCash — reshape of P1; Saturday money on Saturday, backed by Fiserv</a:t>
            </a:r>
          </a:p>
          <a:p>
            <a:pPr algn="l"/>
            <a:r>
              <a:rPr sz="1100" b="0">
                <a:solidFill>
                  <a:srgbClr val="333333"/>
                </a:solidFill>
                <a:latin typeface="Calibri"/>
              </a:rPr>
              <a:t>• Clover Agent Checkout backbone — reshape of P2; Agent Order Translation Layer is load-bearing</a:t>
            </a:r>
          </a:p>
        </p:txBody>
      </p:sp>
      <p:sp>
        <p:nvSpPr>
          <p:cNvPr id="13" name="Rounded Rectangle 12"/>
          <p:cNvSpPr/>
          <p:nvPr/>
        </p:nvSpPr>
        <p:spPr>
          <a:xfrm>
            <a:off x="54864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20440"/>
            <a:ext cx="137160" cy="21031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57600"/>
            <a:ext cx="5120640" cy="320040"/>
          </a:xfrm>
          <a:prstGeom prst="rect">
            <a:avLst/>
          </a:prstGeom>
          <a:noFill/>
        </p:spPr>
        <p:txBody>
          <a:bodyPr wrap="square" lIns="0" rIns="0" tIns="0" bIns="0">
            <a:spAutoFit/>
          </a:bodyPr>
          <a:lstStyle/>
          <a:p>
            <a:pPr algn="l"/>
            <a:r>
              <a:rPr sz="1300" b="1">
                <a:solidFill>
                  <a:srgbClr val="C62828"/>
                </a:solidFill>
                <a:latin typeface="Calibri"/>
              </a:rPr>
              <a:t>EXPLORED AND PARKED</a:t>
            </a:r>
          </a:p>
        </p:txBody>
      </p:sp>
      <p:sp>
        <p:nvSpPr>
          <p:cNvPr id="16" name="TextBox 15"/>
          <p:cNvSpPr txBox="1"/>
          <p:nvPr/>
        </p:nvSpPr>
        <p:spPr>
          <a:xfrm>
            <a:off x="822960" y="4023360"/>
            <a:ext cx="5120640" cy="1463040"/>
          </a:xfrm>
          <a:prstGeom prst="rect">
            <a:avLst/>
          </a:prstGeom>
          <a:noFill/>
        </p:spPr>
        <p:txBody>
          <a:bodyPr wrap="square" lIns="0" rIns="0" tIns="0" bIns="0">
            <a:spAutoFit/>
          </a:bodyPr>
          <a:lstStyle/>
          <a:p>
            <a:pPr algn="l"/>
            <a:r>
              <a:rPr sz="1100" b="0">
                <a:solidFill>
                  <a:srgbClr val="333333"/>
                </a:solidFill>
                <a:latin typeface="Calibri"/>
              </a:rPr>
              <a:t>• Clover Net-Zero — killed on competitive parity with Stripe/Square Invoicing</a:t>
            </a:r>
          </a:p>
          <a:p>
            <a:pPr algn="l"/>
            <a:r>
              <a:rPr sz="1100" b="0">
                <a:solidFill>
                  <a:srgbClr val="333333"/>
                </a:solidFill>
                <a:latin typeface="Calibri"/>
              </a:rPr>
              <a:t>• Prototype-3 Supplier Pay — retired from workstream (B2B not CNP); parked as side-bet</a:t>
            </a:r>
          </a:p>
          <a:p>
            <a:pPr algn="l"/>
            <a:r>
              <a:rPr sz="1100" b="0">
                <a:solidFill>
                  <a:srgbClr val="333333"/>
                </a:solidFill>
                <a:latin typeface="Calibri"/>
              </a:rPr>
              <a:t>• Prototype-4 Cross-Border — retired; Mastercard BVNK acquisition obsoleted differentiator</a:t>
            </a:r>
          </a:p>
          <a:p>
            <a:pPr algn="l"/>
            <a:r>
              <a:rPr sz="1100" b="0">
                <a:solidFill>
                  <a:srgbClr val="333333"/>
                </a:solidFill>
                <a:latin typeface="Calibri"/>
              </a:rPr>
              <a:t>• Discipline: every shipped product has a public kill threshold</a:t>
            </a:r>
          </a:p>
        </p:txBody>
      </p:sp>
      <p:sp>
        <p:nvSpPr>
          <p:cNvPr id="17" name="Rounded Rectangle 16"/>
          <p:cNvSpPr/>
          <p:nvPr/>
        </p:nvSpPr>
        <p:spPr>
          <a:xfrm>
            <a:off x="630936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520440"/>
            <a:ext cx="137160" cy="2103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657600"/>
            <a:ext cx="5120640" cy="320040"/>
          </a:xfrm>
          <a:prstGeom prst="rect">
            <a:avLst/>
          </a:prstGeom>
          <a:noFill/>
        </p:spPr>
        <p:txBody>
          <a:bodyPr wrap="square" lIns="0" rIns="0" tIns="0" bIns="0">
            <a:spAutoFit/>
          </a:bodyPr>
          <a:lstStyle/>
          <a:p>
            <a:pPr algn="l"/>
            <a:r>
              <a:rPr sz="1300" b="1">
                <a:solidFill>
                  <a:srgbClr val="2E7D32"/>
                </a:solidFill>
                <a:latin typeface="Calibri"/>
              </a:rPr>
              <a:t>KEY FACTS  (Phase 4 research)</a:t>
            </a:r>
          </a:p>
        </p:txBody>
      </p:sp>
      <p:sp>
        <p:nvSpPr>
          <p:cNvPr id="20" name="TextBox 19"/>
          <p:cNvSpPr txBox="1"/>
          <p:nvPr/>
        </p:nvSpPr>
        <p:spPr>
          <a:xfrm>
            <a:off x="6583680" y="4023360"/>
            <a:ext cx="5120640" cy="1463040"/>
          </a:xfrm>
          <a:prstGeom prst="rect">
            <a:avLst/>
          </a:prstGeom>
          <a:noFill/>
        </p:spPr>
        <p:txBody>
          <a:bodyPr wrap="square" lIns="0" rIns="0" tIns="0" bIns="0">
            <a:spAutoFit/>
          </a:bodyPr>
          <a:lstStyle/>
          <a:p>
            <a:pPr algn="l"/>
            <a:r>
              <a:rPr sz="1100" b="0">
                <a:solidFill>
                  <a:srgbClr val="333333"/>
                </a:solidFill>
                <a:latin typeface="Calibri"/>
              </a:rPr>
              <a:t>• Dec 2025: Fiserv integrated Mastercard Agent Pay Acceptance Framework into Clover</a:t>
            </a:r>
          </a:p>
          <a:p>
            <a:pPr algn="l"/>
            <a:r>
              <a:rPr sz="1100" b="0">
                <a:solidFill>
                  <a:srgbClr val="333333"/>
                </a:solidFill>
                <a:latin typeface="Calibri"/>
              </a:rPr>
              <a:t>• Feb 12, 2026: INDX live in production — real-time USD settlement 24x7x365</a:t>
            </a:r>
          </a:p>
          <a:p>
            <a:pPr algn="l"/>
            <a:r>
              <a:rPr sz="1100" b="0">
                <a:solidFill>
                  <a:srgbClr val="333333"/>
                </a:solidFill>
                <a:latin typeface="Calibri"/>
              </a:rPr>
              <a:t>• ACP Instant Checkout stumbled in early 2026 — OpenAI pivoted to discovery-only</a:t>
            </a:r>
          </a:p>
          <a:p>
            <a:pPr algn="l"/>
            <a:r>
              <a:rPr sz="1100" b="0">
                <a:solidFill>
                  <a:srgbClr val="333333"/>
                </a:solidFill>
                <a:latin typeface="Calibri"/>
              </a:rPr>
              <a:t>• Mastercard acquired BVNK ($1.8B) — obsoleted our cross-border differentiator</a:t>
            </a:r>
          </a:p>
        </p:txBody>
      </p:sp>
      <p:sp>
        <p:nvSpPr>
          <p:cNvPr id="21" name="Rectangle 20"/>
          <p:cNvSpPr/>
          <p:nvPr/>
        </p:nvSpPr>
        <p:spPr>
          <a:xfrm>
            <a:off x="0" y="6172200"/>
            <a:ext cx="12191695" cy="6858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291072"/>
            <a:ext cx="11155680" cy="457200"/>
          </a:xfrm>
          <a:prstGeom prst="rect">
            <a:avLst/>
          </a:prstGeom>
          <a:noFill/>
        </p:spPr>
        <p:txBody>
          <a:bodyPr wrap="square" lIns="0" rIns="0" tIns="0" bIns="0">
            <a:spAutoFit/>
          </a:bodyPr>
          <a:lstStyle/>
          <a:p>
            <a:pPr algn="l"/>
            <a:r>
              <a:rPr sz="1300" b="1">
                <a:solidFill>
                  <a:srgbClr val="FFFFFF"/>
                </a:solidFill>
                <a:latin typeface="Calibri"/>
              </a:rPr>
              <a:t>Recommendation: lead with Clover Direct on the Mastercard Agent Pay integration (Dec 2025 is a genuine rail-level asymmetry). Ship SmartDeposit on the same backbone. Reshape prototype-1 into WeekendCash — 'Saturday money, on Saturday, backed by Fiserv.' Retire supplier-pay and cross-border from this workstream. Every shipped product has a public kill threshold.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Executive Summary</a:t>
            </a:r>
          </a:p>
        </p:txBody>
      </p:sp>
      <p:sp>
        <p:nvSpPr>
          <p:cNvPr id="4" name="Rounded Rectangle 3"/>
          <p:cNvSpPr/>
          <p:nvPr/>
        </p:nvSpPr>
        <p:spPr>
          <a:xfrm>
            <a:off x="73152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508760"/>
            <a:ext cx="2011680" cy="731520"/>
          </a:xfrm>
          <a:prstGeom prst="rect">
            <a:avLst/>
          </a:prstGeom>
          <a:noFill/>
        </p:spPr>
        <p:txBody>
          <a:bodyPr wrap="square">
            <a:spAutoFit/>
          </a:bodyPr>
          <a:lstStyle/>
          <a:p>
            <a:pPr algn="ctr">
              <a:defRPr sz="4200" b="1">
                <a:solidFill>
                  <a:srgbClr val="003B5C"/>
                </a:solidFill>
                <a:latin typeface="Calibri"/>
              </a:defRPr>
            </a:pPr>
            <a:r>
              <a:rPr dirty="0">
                <a:solidFill>
                  <a:srgbClr val="002060"/>
                </a:solidFill>
              </a:rPr>
              <a:t>$2-4T</a:t>
            </a:r>
          </a:p>
        </p:txBody>
      </p:sp>
      <p:sp>
        <p:nvSpPr>
          <p:cNvPr id="6" name="TextBox 5"/>
          <p:cNvSpPr txBox="1"/>
          <p:nvPr/>
        </p:nvSpPr>
        <p:spPr>
          <a:xfrm>
            <a:off x="1005840" y="2194560"/>
            <a:ext cx="2011680" cy="640080"/>
          </a:xfrm>
          <a:prstGeom prst="rect">
            <a:avLst/>
          </a:prstGeom>
          <a:noFill/>
        </p:spPr>
        <p:txBody>
          <a:bodyPr wrap="square">
            <a:spAutoFit/>
          </a:bodyPr>
          <a:lstStyle/>
          <a:p>
            <a:pPr algn="ctr">
              <a:defRPr sz="1300" b="0">
                <a:solidFill>
                  <a:srgbClr val="333333"/>
                </a:solidFill>
                <a:latin typeface="Calibri"/>
              </a:defRPr>
            </a:pPr>
            <a:r>
              <a:t>Stablecoin market</a:t>
            </a:r>
            <a:br/>
            <a:r>
              <a:t>by 2030</a:t>
            </a:r>
          </a:p>
        </p:txBody>
      </p:sp>
      <p:sp>
        <p:nvSpPr>
          <p:cNvPr id="7" name="Rounded Rectangle 6"/>
          <p:cNvSpPr/>
          <p:nvPr/>
        </p:nvSpPr>
        <p:spPr>
          <a:xfrm>
            <a:off x="356616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0" y="1508760"/>
            <a:ext cx="2011680" cy="731520"/>
          </a:xfrm>
          <a:prstGeom prst="rect">
            <a:avLst/>
          </a:prstGeom>
          <a:noFill/>
        </p:spPr>
        <p:txBody>
          <a:bodyPr wrap="square">
            <a:spAutoFit/>
          </a:bodyPr>
          <a:lstStyle/>
          <a:p>
            <a:pPr algn="ctr">
              <a:defRPr sz="4200" b="1">
                <a:solidFill>
                  <a:srgbClr val="FF6600"/>
                </a:solidFill>
                <a:latin typeface="Calibri"/>
              </a:defRPr>
            </a:pPr>
            <a:r>
              <a:t>&lt;1%</a:t>
            </a:r>
          </a:p>
        </p:txBody>
      </p:sp>
      <p:sp>
        <p:nvSpPr>
          <p:cNvPr id="9" name="TextBox 8"/>
          <p:cNvSpPr txBox="1"/>
          <p:nvPr/>
        </p:nvSpPr>
        <p:spPr>
          <a:xfrm>
            <a:off x="3840480" y="2194560"/>
            <a:ext cx="2011680" cy="640080"/>
          </a:xfrm>
          <a:prstGeom prst="rect">
            <a:avLst/>
          </a:prstGeom>
          <a:noFill/>
        </p:spPr>
        <p:txBody>
          <a:bodyPr wrap="square">
            <a:spAutoFit/>
          </a:bodyPr>
          <a:lstStyle/>
          <a:p>
            <a:pPr algn="ctr">
              <a:defRPr sz="1300" b="0">
                <a:solidFill>
                  <a:srgbClr val="333333"/>
                </a:solidFill>
                <a:latin typeface="Calibri"/>
              </a:defRPr>
            </a:pPr>
            <a:r>
              <a:t>Transaction cost</a:t>
            </a:r>
            <a:br/>
            <a:r>
              <a:t>vs 2-3% interchange</a:t>
            </a:r>
          </a:p>
        </p:txBody>
      </p:sp>
      <p:sp>
        <p:nvSpPr>
          <p:cNvPr id="10" name="Rounded Rectangle 9"/>
          <p:cNvSpPr/>
          <p:nvPr/>
        </p:nvSpPr>
        <p:spPr>
          <a:xfrm>
            <a:off x="640080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508760"/>
            <a:ext cx="2011680" cy="731520"/>
          </a:xfrm>
          <a:prstGeom prst="rect">
            <a:avLst/>
          </a:prstGeom>
          <a:noFill/>
        </p:spPr>
        <p:txBody>
          <a:bodyPr wrap="square">
            <a:spAutoFit/>
          </a:bodyPr>
          <a:lstStyle/>
          <a:p>
            <a:pPr algn="ctr">
              <a:defRPr sz="4200" b="1">
                <a:solidFill>
                  <a:srgbClr val="008090"/>
                </a:solidFill>
                <a:latin typeface="Calibri"/>
              </a:defRPr>
            </a:pPr>
            <a:r>
              <a:rPr lang="en-US">
                <a:solidFill>
                  <a:srgbClr val="002060"/>
                </a:solidFill>
              </a:rPr>
              <a:t>6 </a:t>
            </a:r>
            <a:r>
              <a:rPr dirty="0">
                <a:solidFill>
                  <a:srgbClr val="002060"/>
                </a:solidFill>
              </a:rPr>
              <a:t>M</a:t>
            </a:r>
          </a:p>
        </p:txBody>
      </p:sp>
      <p:sp>
        <p:nvSpPr>
          <p:cNvPr id="12" name="TextBox 11"/>
          <p:cNvSpPr txBox="1"/>
          <p:nvPr/>
        </p:nvSpPr>
        <p:spPr>
          <a:xfrm>
            <a:off x="6675120" y="2194560"/>
            <a:ext cx="2011680" cy="640080"/>
          </a:xfrm>
          <a:prstGeom prst="rect">
            <a:avLst/>
          </a:prstGeom>
          <a:noFill/>
        </p:spPr>
        <p:txBody>
          <a:bodyPr wrap="square">
            <a:spAutoFit/>
          </a:bodyPr>
          <a:lstStyle/>
          <a:p>
            <a:pPr algn="ctr">
              <a:defRPr sz="1300" b="0">
                <a:solidFill>
                  <a:srgbClr val="333333"/>
                </a:solidFill>
                <a:latin typeface="Calibri"/>
              </a:defRPr>
            </a:pPr>
            <a:r>
              <a:rPr dirty="0"/>
              <a:t>Merchant locations</a:t>
            </a:r>
            <a:br>
              <a:rPr dirty="0"/>
            </a:br>
            <a:r>
              <a:rPr dirty="0"/>
              <a:t>ready for activation</a:t>
            </a:r>
          </a:p>
        </p:txBody>
      </p:sp>
      <p:sp>
        <p:nvSpPr>
          <p:cNvPr id="13" name="Rounded Rectangle 12"/>
          <p:cNvSpPr/>
          <p:nvPr/>
        </p:nvSpPr>
        <p:spPr>
          <a:xfrm>
            <a:off x="923544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1508760"/>
            <a:ext cx="2011680" cy="731520"/>
          </a:xfrm>
          <a:prstGeom prst="rect">
            <a:avLst/>
          </a:prstGeom>
          <a:noFill/>
        </p:spPr>
        <p:txBody>
          <a:bodyPr wrap="square">
            <a:spAutoFit/>
          </a:bodyPr>
          <a:lstStyle/>
          <a:p>
            <a:pPr algn="ctr">
              <a:defRPr sz="4200" b="1">
                <a:solidFill>
                  <a:srgbClr val="2E7D32"/>
                </a:solidFill>
                <a:latin typeface="Calibri"/>
              </a:defRPr>
            </a:pPr>
            <a:r>
              <a:rPr dirty="0"/>
              <a:t>ONLY</a:t>
            </a:r>
          </a:p>
        </p:txBody>
      </p:sp>
      <p:sp>
        <p:nvSpPr>
          <p:cNvPr id="15" name="TextBox 14"/>
          <p:cNvSpPr txBox="1"/>
          <p:nvPr/>
        </p:nvSpPr>
        <p:spPr>
          <a:xfrm>
            <a:off x="9509760" y="2194560"/>
            <a:ext cx="2011680" cy="640080"/>
          </a:xfrm>
          <a:prstGeom prst="rect">
            <a:avLst/>
          </a:prstGeom>
          <a:noFill/>
        </p:spPr>
        <p:txBody>
          <a:bodyPr wrap="square">
            <a:spAutoFit/>
          </a:bodyPr>
          <a:lstStyle/>
          <a:p>
            <a:pPr algn="ctr">
              <a:defRPr sz="1300" b="0">
                <a:solidFill>
                  <a:srgbClr val="333333"/>
                </a:solidFill>
                <a:latin typeface="Calibri"/>
              </a:defRPr>
            </a:pPr>
            <a:r>
              <a:rPr dirty="0"/>
              <a:t>Vertically integrated</a:t>
            </a:r>
            <a:br>
              <a:rPr dirty="0"/>
            </a:br>
            <a:r>
              <a:rPr dirty="0"/>
              <a:t>crypto payment stack</a:t>
            </a:r>
          </a:p>
        </p:txBody>
      </p:sp>
      <p:sp>
        <p:nvSpPr>
          <p:cNvPr id="16" name="Rectangle 15"/>
          <p:cNvSpPr/>
          <p:nvPr/>
        </p:nvSpPr>
        <p:spPr>
          <a:xfrm>
            <a:off x="914400" y="3456432"/>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3383280"/>
            <a:ext cx="10058400" cy="365760"/>
          </a:xfrm>
          <a:prstGeom prst="rect">
            <a:avLst/>
          </a:prstGeom>
          <a:noFill/>
        </p:spPr>
        <p:txBody>
          <a:bodyPr wrap="square">
            <a:spAutoFit/>
          </a:bodyPr>
          <a:lstStyle/>
          <a:p>
            <a:pPr algn="l">
              <a:defRPr sz="1300" b="0">
                <a:solidFill>
                  <a:srgbClr val="333333"/>
                </a:solidFill>
                <a:latin typeface="Calibri"/>
              </a:defRPr>
            </a:pPr>
            <a:r>
              <a:t>GENIUS Act (July 2025) legalized stablecoins as payment instruments in the US</a:t>
            </a:r>
          </a:p>
        </p:txBody>
      </p:sp>
      <p:sp>
        <p:nvSpPr>
          <p:cNvPr id="18" name="Rectangle 17"/>
          <p:cNvSpPr/>
          <p:nvPr/>
        </p:nvSpPr>
        <p:spPr>
          <a:xfrm>
            <a:off x="914400" y="3840480"/>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3767328"/>
            <a:ext cx="10058400" cy="365760"/>
          </a:xfrm>
          <a:prstGeom prst="rect">
            <a:avLst/>
          </a:prstGeom>
          <a:noFill/>
        </p:spPr>
        <p:txBody>
          <a:bodyPr wrap="square">
            <a:spAutoFit/>
          </a:bodyPr>
          <a:lstStyle/>
          <a:p>
            <a:pPr algn="l">
              <a:defRPr sz="1300" b="0">
                <a:solidFill>
                  <a:srgbClr val="333333"/>
                </a:solidFill>
                <a:latin typeface="Calibri"/>
              </a:defRPr>
            </a:pPr>
            <a:r>
              <a:t>75% of NRF 2026 retailers implementing or planning agentic commerce</a:t>
            </a:r>
          </a:p>
        </p:txBody>
      </p:sp>
      <p:sp>
        <p:nvSpPr>
          <p:cNvPr id="20" name="Rectangle 19"/>
          <p:cNvSpPr/>
          <p:nvPr/>
        </p:nvSpPr>
        <p:spPr>
          <a:xfrm>
            <a:off x="914400" y="4224528"/>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4151376"/>
            <a:ext cx="10058400" cy="365760"/>
          </a:xfrm>
          <a:prstGeom prst="rect">
            <a:avLst/>
          </a:prstGeom>
          <a:noFill/>
        </p:spPr>
        <p:txBody>
          <a:bodyPr wrap="square">
            <a:spAutoFit/>
          </a:bodyPr>
          <a:lstStyle/>
          <a:p>
            <a:pPr algn="l">
              <a:defRPr sz="1300" b="0">
                <a:solidFill>
                  <a:srgbClr val="333333"/>
                </a:solidFill>
                <a:latin typeface="Calibri"/>
              </a:defRPr>
            </a:pPr>
            <a:r>
              <a:t>Fiserv is a founding member of the x402 Foundation (April 2, 2026)</a:t>
            </a:r>
          </a:p>
        </p:txBody>
      </p:sp>
      <p:sp>
        <p:nvSpPr>
          <p:cNvPr id="22" name="Rectangle 21"/>
          <p:cNvSpPr/>
          <p:nvPr/>
        </p:nvSpPr>
        <p:spPr>
          <a:xfrm>
            <a:off x="914400" y="4608576"/>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88720" y="4535424"/>
            <a:ext cx="10058400" cy="365760"/>
          </a:xfrm>
          <a:prstGeom prst="rect">
            <a:avLst/>
          </a:prstGeom>
          <a:noFill/>
        </p:spPr>
        <p:txBody>
          <a:bodyPr wrap="square">
            <a:spAutoFit/>
          </a:bodyPr>
          <a:lstStyle/>
          <a:p>
            <a:pPr algn="l">
              <a:defRPr sz="1300" b="0">
                <a:solidFill>
                  <a:srgbClr val="333333"/>
                </a:solidFill>
                <a:latin typeface="Calibri"/>
              </a:defRPr>
            </a:pPr>
            <a:r>
              <a:t>Cross-border payments represent a $190 trillion annual market opportunity</a:t>
            </a:r>
          </a:p>
        </p:txBody>
      </p:sp>
      <p:sp>
        <p:nvSpPr>
          <p:cNvPr id="24" name="Rectangle 23"/>
          <p:cNvSpPr/>
          <p:nvPr/>
        </p:nvSpPr>
        <p:spPr>
          <a:xfrm>
            <a:off x="914400" y="4992624"/>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4919472"/>
            <a:ext cx="10058400" cy="365760"/>
          </a:xfrm>
          <a:prstGeom prst="rect">
            <a:avLst/>
          </a:prstGeom>
          <a:noFill/>
        </p:spPr>
        <p:txBody>
          <a:bodyPr wrap="square">
            <a:spAutoFit/>
          </a:bodyPr>
          <a:lstStyle/>
          <a:p>
            <a:pPr algn="l">
              <a:defRPr sz="1300" b="0">
                <a:solidFill>
                  <a:srgbClr val="333333"/>
                </a:solidFill>
                <a:latin typeface="Calibri"/>
              </a:defRPr>
            </a:pPr>
            <a:r>
              <a:t>FIUSD is live in production -- bank-embedded stablecoin on Solana via Paxos/Circle</a:t>
            </a:r>
          </a:p>
        </p:txBody>
      </p:sp>
      <p:sp>
        <p:nvSpPr>
          <p:cNvPr id="26" name="Rectangle 25"/>
          <p:cNvSpPr/>
          <p:nvPr/>
        </p:nvSpPr>
        <p:spPr>
          <a:xfrm>
            <a:off x="914400" y="5394959"/>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349240"/>
            <a:ext cx="10058400" cy="347472"/>
          </a:xfrm>
          <a:prstGeom prst="rect">
            <a:avLst/>
          </a:prstGeom>
          <a:noFill/>
        </p:spPr>
        <p:txBody>
          <a:bodyPr wrap="square" lIns="0" rIns="0" tIns="0" bIns="0">
            <a:spAutoFit/>
          </a:bodyPr>
          <a:lstStyle/>
          <a:p>
            <a:pPr algn="l"/>
            <a:r>
              <a:rPr sz="1300" b="0">
                <a:solidFill>
                  <a:srgbClr val="333333"/>
                </a:solidFill>
                <a:latin typeface="Calibri"/>
              </a:rPr>
              <a:t>Gaming: early-mover opportunity in a high-growth Fiserv vertical where crypto/stablecoin acceptance is already a buyer expectation</a:t>
            </a:r>
          </a:p>
        </p:txBody>
      </p:sp>
      <p:sp>
        <p:nvSpPr>
          <p:cNvPr id="28" name="Rectangle 27"/>
          <p:cNvSpPr/>
          <p:nvPr/>
        </p:nvSpPr>
        <p:spPr>
          <a:xfrm>
            <a:off x="914400" y="5760720"/>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715000"/>
            <a:ext cx="10058400" cy="347472"/>
          </a:xfrm>
          <a:prstGeom prst="rect">
            <a:avLst/>
          </a:prstGeom>
          <a:noFill/>
        </p:spPr>
        <p:txBody>
          <a:bodyPr wrap="square" lIns="0" rIns="0" tIns="0" bIns="0">
            <a:spAutoFit/>
          </a:bodyPr>
          <a:lstStyle/>
          <a:p>
            <a:pPr algn="l"/>
            <a:r>
              <a:rPr sz="1300" b="0">
                <a:solidFill>
                  <a:srgbClr val="333333"/>
                </a:solidFill>
                <a:latin typeface="Calibri"/>
              </a:rPr>
              <a:t>Machine Payment Protocol (MPP) &amp; agentic M2M flows require crypto acceptance — a gap Fiserv must close to stay relevant to AI-agent commerce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Market Opportunity</a:t>
            </a:r>
          </a:p>
        </p:txBody>
      </p:sp>
      <p:sp>
        <p:nvSpPr>
          <p:cNvPr id="4" name="TextBox 3"/>
          <p:cNvSpPr txBox="1"/>
          <p:nvPr/>
        </p:nvSpPr>
        <p:spPr>
          <a:xfrm>
            <a:off x="731520" y="1280160"/>
            <a:ext cx="54864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Stablecoin &amp; Cross-Border Markets</a:t>
            </a:r>
          </a:p>
        </p:txBody>
      </p:sp>
      <p:graphicFrame>
        <p:nvGraphicFramePr>
          <p:cNvPr id="5" name="Table 4"/>
          <p:cNvGraphicFramePr>
            <a:graphicFrameLocks noGrp="1"/>
          </p:cNvGraphicFramePr>
          <p:nvPr>
            <p:extLst>
              <p:ext uri="{D42A27DB-BD31-4B8C-83A1-F6EECF244321}">
                <p14:modId xmlns:p14="http://schemas.microsoft.com/office/powerpoint/2010/main" val="3809021547"/>
              </p:ext>
            </p:extLst>
          </p:nvPr>
        </p:nvGraphicFramePr>
        <p:xfrm>
          <a:off x="731520" y="1828800"/>
          <a:ext cx="548640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a:defRPr sz="1000" b="1">
                          <a:solidFill>
                            <a:srgbClr val="FFFFFF"/>
                          </a:solidFill>
                          <a:latin typeface="Calibri"/>
                        </a:defRPr>
                      </a:pPr>
                      <a:r>
                        <a:rPr dirty="0"/>
                        <a:t>Segment</a:t>
                      </a:r>
                    </a:p>
                  </a:txBody>
                  <a:tcPr anchor="ctr">
                    <a:solidFill>
                      <a:srgbClr val="002060"/>
                    </a:solidFill>
                  </a:tcPr>
                </a:tc>
                <a:tc>
                  <a:txBody>
                    <a:bodyPr/>
                    <a:lstStyle/>
                    <a:p>
                      <a:pPr>
                        <a:defRPr sz="1000" b="1">
                          <a:solidFill>
                            <a:srgbClr val="FFFFFF"/>
                          </a:solidFill>
                          <a:latin typeface="Calibri"/>
                        </a:defRPr>
                      </a:pPr>
                      <a:r>
                        <a:rPr dirty="0"/>
                        <a:t>Current</a:t>
                      </a:r>
                    </a:p>
                  </a:txBody>
                  <a:tcPr anchor="ctr">
                    <a:solidFill>
                      <a:srgbClr val="002060"/>
                    </a:solidFill>
                  </a:tcPr>
                </a:tc>
                <a:tc>
                  <a:txBody>
                    <a:bodyPr/>
                    <a:lstStyle/>
                    <a:p>
                      <a:pPr>
                        <a:defRPr sz="1000" b="1">
                          <a:solidFill>
                            <a:srgbClr val="FFFFFF"/>
                          </a:solidFill>
                          <a:latin typeface="Calibri"/>
                        </a:defRPr>
                      </a:pPr>
                      <a:r>
                        <a:rPr dirty="0"/>
                        <a:t>2030 Projected</a:t>
                      </a:r>
                    </a:p>
                  </a:txBody>
                  <a:tcPr anchor="ctr">
                    <a:solidFill>
                      <a:srgbClr val="002060"/>
                    </a:solidFill>
                  </a:tcPr>
                </a:tc>
                <a:tc>
                  <a:txBody>
                    <a:bodyPr/>
                    <a:lstStyle/>
                    <a:p>
                      <a:pPr>
                        <a:defRPr sz="1000" b="1">
                          <a:solidFill>
                            <a:srgbClr val="FFFFFF"/>
                          </a:solidFill>
                          <a:latin typeface="Calibri"/>
                        </a:defRPr>
                      </a:pPr>
                      <a:r>
                        <a:rPr dirty="0"/>
                        <a:t>CAGR</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Stablecoin Market Cap</a:t>
                      </a:r>
                    </a:p>
                  </a:txBody>
                  <a:tcPr anchor="ctr">
                    <a:solidFill>
                      <a:srgbClr val="FFFFFF"/>
                    </a:solidFill>
                  </a:tcPr>
                </a:tc>
                <a:tc>
                  <a:txBody>
                    <a:bodyPr/>
                    <a:lstStyle/>
                    <a:p>
                      <a:pPr>
                        <a:defRPr sz="1000">
                          <a:solidFill>
                            <a:srgbClr val="333333"/>
                          </a:solidFill>
                          <a:latin typeface="Calibri"/>
                        </a:defRPr>
                      </a:pPr>
                      <a:r>
                        <a:t>$260B</a:t>
                      </a:r>
                    </a:p>
                  </a:txBody>
                  <a:tcPr anchor="ctr">
                    <a:solidFill>
                      <a:srgbClr val="FFFFFF"/>
                    </a:solidFill>
                  </a:tcPr>
                </a:tc>
                <a:tc>
                  <a:txBody>
                    <a:bodyPr/>
                    <a:lstStyle/>
                    <a:p>
                      <a:pPr>
                        <a:defRPr sz="1000">
                          <a:solidFill>
                            <a:srgbClr val="333333"/>
                          </a:solidFill>
                          <a:latin typeface="Calibri"/>
                        </a:defRPr>
                      </a:pPr>
                      <a:r>
                        <a:t>$2-4T</a:t>
                      </a:r>
                    </a:p>
                  </a:txBody>
                  <a:tcPr anchor="ctr">
                    <a:solidFill>
                      <a:srgbClr val="FFFFFF"/>
                    </a:solidFill>
                  </a:tcPr>
                </a:tc>
                <a:tc>
                  <a:txBody>
                    <a:bodyPr/>
                    <a:lstStyle/>
                    <a:p>
                      <a:pPr>
                        <a:defRPr sz="1000">
                          <a:solidFill>
                            <a:srgbClr val="333333"/>
                          </a:solidFill>
                          <a:latin typeface="Calibri"/>
                        </a:defRPr>
                      </a:pPr>
                      <a:r>
                        <a:t>~50%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Cross-Border Payments</a:t>
                      </a:r>
                    </a:p>
                  </a:txBody>
                  <a:tcPr anchor="ctr">
                    <a:solidFill>
                      <a:srgbClr val="F2F2F2"/>
                    </a:solidFill>
                  </a:tcPr>
                </a:tc>
                <a:tc>
                  <a:txBody>
                    <a:bodyPr/>
                    <a:lstStyle/>
                    <a:p>
                      <a:pPr>
                        <a:defRPr sz="1000">
                          <a:solidFill>
                            <a:srgbClr val="333333"/>
                          </a:solidFill>
                          <a:latin typeface="Calibri"/>
                        </a:defRPr>
                      </a:pPr>
                      <a:r>
                        <a:t>$190T/yr</a:t>
                      </a:r>
                    </a:p>
                  </a:txBody>
                  <a:tcPr anchor="ctr">
                    <a:solidFill>
                      <a:srgbClr val="F2F2F2"/>
                    </a:solidFill>
                  </a:tcPr>
                </a:tc>
                <a:tc>
                  <a:txBody>
                    <a:bodyPr/>
                    <a:lstStyle/>
                    <a:p>
                      <a:pPr>
                        <a:defRPr sz="1000">
                          <a:solidFill>
                            <a:srgbClr val="333333"/>
                          </a:solidFill>
                          <a:latin typeface="Calibri"/>
                        </a:defRPr>
                      </a:pPr>
                      <a:r>
                        <a:t>$250T/yr</a:t>
                      </a:r>
                    </a:p>
                  </a:txBody>
                  <a:tcPr anchor="ctr">
                    <a:solidFill>
                      <a:srgbClr val="F2F2F2"/>
                    </a:solidFill>
                  </a:tcPr>
                </a:tc>
                <a:tc>
                  <a:txBody>
                    <a:bodyPr/>
                    <a:lstStyle/>
                    <a:p>
                      <a:pPr>
                        <a:defRPr sz="1000">
                          <a:solidFill>
                            <a:srgbClr val="333333"/>
                          </a:solidFill>
                          <a:latin typeface="Calibri"/>
                        </a:defRPr>
                      </a:pPr>
                      <a:r>
                        <a:t>~6%</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US Stablecoin Share</a:t>
                      </a:r>
                    </a:p>
                  </a:txBody>
                  <a:tcPr anchor="ctr">
                    <a:solidFill>
                      <a:srgbClr val="F2F2F2"/>
                    </a:solidFill>
                  </a:tcPr>
                </a:tc>
                <a:tc>
                  <a:txBody>
                    <a:bodyPr/>
                    <a:lstStyle/>
                    <a:p>
                      <a:pPr>
                        <a:defRPr sz="1000">
                          <a:solidFill>
                            <a:srgbClr val="333333"/>
                          </a:solidFill>
                          <a:latin typeface="Calibri"/>
                        </a:defRPr>
                      </a:pPr>
                      <a:r>
                        <a:t>3% of USD payments</a:t>
                      </a:r>
                    </a:p>
                  </a:txBody>
                  <a:tcPr anchor="ctr">
                    <a:solidFill>
                      <a:srgbClr val="F2F2F2"/>
                    </a:solidFill>
                  </a:tcPr>
                </a:tc>
                <a:tc>
                  <a:txBody>
                    <a:bodyPr/>
                    <a:lstStyle/>
                    <a:p>
                      <a:pPr>
                        <a:defRPr sz="1000">
                          <a:solidFill>
                            <a:srgbClr val="333333"/>
                          </a:solidFill>
                          <a:latin typeface="Calibri"/>
                        </a:defRPr>
                      </a:pPr>
                      <a:r>
                        <a:t>10% by 2031</a:t>
                      </a:r>
                    </a:p>
                  </a:txBody>
                  <a:tcPr anchor="ctr">
                    <a:solidFill>
                      <a:srgbClr val="F2F2F2"/>
                    </a:solidFill>
                  </a:tcPr>
                </a:tc>
                <a:tc>
                  <a:txBody>
                    <a:bodyPr/>
                    <a:lstStyle/>
                    <a:p>
                      <a:pPr>
                        <a:defRPr sz="1000">
                          <a:solidFill>
                            <a:srgbClr val="333333"/>
                          </a:solidFill>
                          <a:latin typeface="Calibri"/>
                        </a:defRPr>
                      </a:pPr>
                      <a:r>
                        <a:rPr dirty="0"/>
                        <a:t>~25%</a:t>
                      </a:r>
                    </a:p>
                  </a:txBody>
                  <a:tcPr anchor="ctr">
                    <a:solidFill>
                      <a:srgbClr val="F2F2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858000" y="1280160"/>
            <a:ext cx="45720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Market Drivers</a:t>
            </a:r>
          </a:p>
        </p:txBody>
      </p:sp>
      <p:sp>
        <p:nvSpPr>
          <p:cNvPr id="7" name="Rounded Rectangle 6"/>
          <p:cNvSpPr/>
          <p:nvPr/>
        </p:nvSpPr>
        <p:spPr>
          <a:xfrm>
            <a:off x="6858000" y="192024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0" y="1993392"/>
            <a:ext cx="4206240" cy="320040"/>
          </a:xfrm>
          <a:prstGeom prst="rect">
            <a:avLst/>
          </a:prstGeom>
          <a:noFill/>
        </p:spPr>
        <p:txBody>
          <a:bodyPr wrap="square">
            <a:spAutoFit/>
          </a:bodyPr>
          <a:lstStyle/>
          <a:p>
            <a:pPr algn="l">
              <a:defRPr sz="1300" b="1">
                <a:solidFill>
                  <a:srgbClr val="FF6600"/>
                </a:solidFill>
                <a:latin typeface="Calibri"/>
              </a:defRPr>
            </a:pPr>
            <a:r>
              <a:t>Regulatory Clarity</a:t>
            </a:r>
          </a:p>
        </p:txBody>
      </p:sp>
      <p:sp>
        <p:nvSpPr>
          <p:cNvPr id="9" name="TextBox 8"/>
          <p:cNvSpPr txBox="1"/>
          <p:nvPr/>
        </p:nvSpPr>
        <p:spPr>
          <a:xfrm>
            <a:off x="7132320" y="2286000"/>
            <a:ext cx="4206240" cy="457200"/>
          </a:xfrm>
          <a:prstGeom prst="rect">
            <a:avLst/>
          </a:prstGeom>
          <a:noFill/>
        </p:spPr>
        <p:txBody>
          <a:bodyPr wrap="square">
            <a:spAutoFit/>
          </a:bodyPr>
          <a:lstStyle/>
          <a:p>
            <a:pPr algn="l">
              <a:defRPr sz="1100" b="0">
                <a:solidFill>
                  <a:srgbClr val="333333"/>
                </a:solidFill>
                <a:latin typeface="Calibri"/>
              </a:defRPr>
            </a:pPr>
            <a:r>
              <a:t>GENIUS Act + MiCA create legal framework for stablecoins as payment instruments</a:t>
            </a:r>
          </a:p>
        </p:txBody>
      </p:sp>
      <p:sp>
        <p:nvSpPr>
          <p:cNvPr id="10" name="Rounded Rectangle 9"/>
          <p:cNvSpPr/>
          <p:nvPr/>
        </p:nvSpPr>
        <p:spPr>
          <a:xfrm>
            <a:off x="6858000" y="292608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2999232"/>
            <a:ext cx="4206240" cy="320040"/>
          </a:xfrm>
          <a:prstGeom prst="rect">
            <a:avLst/>
          </a:prstGeom>
          <a:noFill/>
        </p:spPr>
        <p:txBody>
          <a:bodyPr wrap="square">
            <a:spAutoFit/>
          </a:bodyPr>
          <a:lstStyle/>
          <a:p>
            <a:pPr algn="l">
              <a:defRPr sz="1300" b="1">
                <a:solidFill>
                  <a:srgbClr val="FF6600"/>
                </a:solidFill>
                <a:latin typeface="Calibri"/>
              </a:defRPr>
            </a:pPr>
            <a:r>
              <a:t>Cost Advantage</a:t>
            </a:r>
          </a:p>
        </p:txBody>
      </p:sp>
      <p:sp>
        <p:nvSpPr>
          <p:cNvPr id="12" name="TextBox 11"/>
          <p:cNvSpPr txBox="1"/>
          <p:nvPr/>
        </p:nvSpPr>
        <p:spPr>
          <a:xfrm>
            <a:off x="7132320" y="3291840"/>
            <a:ext cx="4206240" cy="457200"/>
          </a:xfrm>
          <a:prstGeom prst="rect">
            <a:avLst/>
          </a:prstGeom>
          <a:noFill/>
        </p:spPr>
        <p:txBody>
          <a:bodyPr wrap="square">
            <a:spAutoFit/>
          </a:bodyPr>
          <a:lstStyle/>
          <a:p>
            <a:pPr algn="l">
              <a:defRPr sz="1100" b="0">
                <a:solidFill>
                  <a:srgbClr val="333333"/>
                </a:solidFill>
                <a:latin typeface="Calibri"/>
              </a:defRPr>
            </a:pPr>
            <a:r>
              <a:t>Sub-1% stablecoin costs vs 2-3% card interchange eliminates ~$50B in merchant fees</a:t>
            </a:r>
          </a:p>
        </p:txBody>
      </p:sp>
      <p:sp>
        <p:nvSpPr>
          <p:cNvPr id="13" name="Rounded Rectangle 12"/>
          <p:cNvSpPr/>
          <p:nvPr/>
        </p:nvSpPr>
        <p:spPr>
          <a:xfrm>
            <a:off x="6858000" y="393192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4005072"/>
            <a:ext cx="4206240" cy="320040"/>
          </a:xfrm>
          <a:prstGeom prst="rect">
            <a:avLst/>
          </a:prstGeom>
          <a:noFill/>
        </p:spPr>
        <p:txBody>
          <a:bodyPr wrap="square">
            <a:spAutoFit/>
          </a:bodyPr>
          <a:lstStyle/>
          <a:p>
            <a:pPr algn="l">
              <a:defRPr sz="1300" b="1">
                <a:solidFill>
                  <a:srgbClr val="FF6600"/>
                </a:solidFill>
                <a:latin typeface="Calibri"/>
              </a:defRPr>
            </a:pPr>
            <a:r>
              <a:t>Speed</a:t>
            </a:r>
          </a:p>
        </p:txBody>
      </p:sp>
      <p:sp>
        <p:nvSpPr>
          <p:cNvPr id="15" name="TextBox 14"/>
          <p:cNvSpPr txBox="1"/>
          <p:nvPr/>
        </p:nvSpPr>
        <p:spPr>
          <a:xfrm>
            <a:off x="7132320" y="4297680"/>
            <a:ext cx="4206240" cy="457200"/>
          </a:xfrm>
          <a:prstGeom prst="rect">
            <a:avLst/>
          </a:prstGeom>
          <a:noFill/>
        </p:spPr>
        <p:txBody>
          <a:bodyPr wrap="square">
            <a:spAutoFit/>
          </a:bodyPr>
          <a:lstStyle/>
          <a:p>
            <a:pPr algn="l">
              <a:defRPr sz="1100" b="0">
                <a:solidFill>
                  <a:srgbClr val="333333"/>
                </a:solidFill>
                <a:latin typeface="Calibri"/>
              </a:defRPr>
            </a:pPr>
            <a:r>
              <a:t>Real-time settlement vs T+1 to T+3 on card rails -- cash flow unlocked</a:t>
            </a:r>
          </a:p>
        </p:txBody>
      </p:sp>
      <p:sp>
        <p:nvSpPr>
          <p:cNvPr id="16" name="Rounded Rectangle 15"/>
          <p:cNvSpPr/>
          <p:nvPr/>
        </p:nvSpPr>
        <p:spPr>
          <a:xfrm>
            <a:off x="6858000" y="493776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0" y="5010912"/>
            <a:ext cx="4206240" cy="320040"/>
          </a:xfrm>
          <a:prstGeom prst="rect">
            <a:avLst/>
          </a:prstGeom>
          <a:noFill/>
        </p:spPr>
        <p:txBody>
          <a:bodyPr wrap="square">
            <a:spAutoFit/>
          </a:bodyPr>
          <a:lstStyle/>
          <a:p>
            <a:pPr algn="l">
              <a:defRPr sz="1300" b="1">
                <a:solidFill>
                  <a:srgbClr val="FF6600"/>
                </a:solidFill>
                <a:latin typeface="Calibri"/>
              </a:defRPr>
            </a:pPr>
            <a:r>
              <a:t>Agentic Commerce (Parallel Effort)</a:t>
            </a:r>
          </a:p>
        </p:txBody>
      </p:sp>
      <p:sp>
        <p:nvSpPr>
          <p:cNvPr id="18" name="TextBox 17"/>
          <p:cNvSpPr txBox="1"/>
          <p:nvPr/>
        </p:nvSpPr>
        <p:spPr>
          <a:xfrm>
            <a:off x="7132320" y="5303520"/>
            <a:ext cx="4206240" cy="457200"/>
          </a:xfrm>
          <a:prstGeom prst="rect">
            <a:avLst/>
          </a:prstGeom>
          <a:noFill/>
        </p:spPr>
        <p:txBody>
          <a:bodyPr wrap="square">
            <a:spAutoFit/>
          </a:bodyPr>
          <a:lstStyle/>
          <a:p>
            <a:pPr algn="l">
              <a:defRPr sz="1100" b="0">
                <a:solidFill>
                  <a:srgbClr val="333333"/>
                </a:solidFill>
                <a:latin typeface="Calibri"/>
              </a:defRPr>
            </a:pPr>
            <a:r>
              <a:t>Tracked as a separate strategy/GTM from stablecoin acceptance — related, but distinct market sizing and execution</a:t>
            </a:r>
          </a:p>
        </p:txBody>
      </p:sp>
      <p:sp>
        <p:nvSpPr>
          <p:cNvPr id="19" name="Rounded Rectangle 18"/>
          <p:cNvSpPr/>
          <p:nvPr/>
        </p:nvSpPr>
        <p:spPr>
          <a:xfrm>
            <a:off x="675132" y="4709160"/>
            <a:ext cx="562356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120" y="4842301"/>
            <a:ext cx="5815584" cy="830997"/>
          </a:xfrm>
          <a:prstGeom prst="rect">
            <a:avLst/>
          </a:prstGeom>
          <a:noFill/>
        </p:spPr>
        <p:txBody>
          <a:bodyPr wrap="square">
            <a:spAutoFit/>
          </a:bodyPr>
          <a:lstStyle/>
          <a:p>
            <a:pPr algn="ctr">
              <a:defRPr sz="1600" b="0">
                <a:solidFill>
                  <a:srgbClr val="FFFFFF"/>
                </a:solidFill>
                <a:latin typeface="Calibri"/>
              </a:defRPr>
            </a:pPr>
            <a:r>
              <a:rPr dirty="0"/>
              <a:t>"Stablecoin payments will capture 10% of US dollar payments by 2031.</a:t>
            </a:r>
            <a:br>
              <a:rPr dirty="0"/>
            </a:br>
            <a:r>
              <a:rPr dirty="0"/>
              <a:t>The question is not IF -- it's WHO captures the orchestration layer."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Competitive Landscape</a:t>
            </a: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400" b="0">
                <a:solidFill>
                  <a:srgbClr val="9B9B9B"/>
                </a:solidFill>
                <a:latin typeface="Calibri"/>
              </a:defRPr>
            </a:pPr>
            <a:r>
              <a:rPr dirty="0"/>
              <a:t>Only Fiserv has all four pillars of the vertically integrated stablecoin payment stack</a:t>
            </a:r>
          </a:p>
        </p:txBody>
      </p:sp>
      <p:graphicFrame>
        <p:nvGraphicFramePr>
          <p:cNvPr id="5" name="Table 4"/>
          <p:cNvGraphicFramePr>
            <a:graphicFrameLocks noGrp="1"/>
          </p:cNvGraphicFramePr>
          <p:nvPr>
            <p:extLst>
              <p:ext uri="{D42A27DB-BD31-4B8C-83A1-F6EECF244321}">
                <p14:modId xmlns:p14="http://schemas.microsoft.com/office/powerpoint/2010/main" val="2620065184"/>
              </p:ext>
            </p:extLst>
          </p:nvPr>
        </p:nvGraphicFramePr>
        <p:xfrm>
          <a:off x="457200" y="1554480"/>
          <a:ext cx="11247120" cy="34747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96388">
                <a:tc>
                  <a:txBody>
                    <a:bodyPr/>
                    <a:lstStyle/>
                    <a:p>
                      <a:pPr>
                        <a:defRPr sz="1000" b="1">
                          <a:solidFill>
                            <a:srgbClr val="FFFFFF"/>
                          </a:solidFill>
                          <a:latin typeface="Calibri"/>
                        </a:defRPr>
                      </a:pPr>
                      <a:r>
                        <a:rPr dirty="0"/>
                        <a:t>Competitor</a:t>
                      </a:r>
                    </a:p>
                  </a:txBody>
                  <a:tcPr anchor="ctr">
                    <a:solidFill>
                      <a:srgbClr val="002060"/>
                    </a:solidFill>
                  </a:tcPr>
                </a:tc>
                <a:tc>
                  <a:txBody>
                    <a:bodyPr/>
                    <a:lstStyle/>
                    <a:p>
                      <a:pPr>
                        <a:defRPr sz="1000" b="1">
                          <a:solidFill>
                            <a:srgbClr val="FFFFFF"/>
                          </a:solidFill>
                          <a:latin typeface="Calibri"/>
                        </a:defRPr>
                      </a:pPr>
                      <a:r>
                        <a:rPr dirty="0"/>
                        <a:t>Banking Core</a:t>
                      </a:r>
                    </a:p>
                  </a:txBody>
                  <a:tcPr anchor="ctr">
                    <a:solidFill>
                      <a:srgbClr val="002060"/>
                    </a:solidFill>
                  </a:tcPr>
                </a:tc>
                <a:tc>
                  <a:txBody>
                    <a:bodyPr/>
                    <a:lstStyle/>
                    <a:p>
                      <a:pPr>
                        <a:defRPr sz="1000" b="1">
                          <a:solidFill>
                            <a:srgbClr val="FFFFFF"/>
                          </a:solidFill>
                          <a:latin typeface="Calibri"/>
                        </a:defRPr>
                      </a:pPr>
                      <a:r>
                        <a:rPr dirty="0"/>
                        <a:t>Own Stablecoin</a:t>
                      </a:r>
                    </a:p>
                  </a:txBody>
                  <a:tcPr anchor="ctr">
                    <a:solidFill>
                      <a:srgbClr val="002060"/>
                    </a:solidFill>
                  </a:tcPr>
                </a:tc>
                <a:tc>
                  <a:txBody>
                    <a:bodyPr/>
                    <a:lstStyle/>
                    <a:p>
                      <a:pPr>
                        <a:defRPr sz="1000" b="1">
                          <a:solidFill>
                            <a:srgbClr val="FFFFFF"/>
                          </a:solidFill>
                          <a:latin typeface="Calibri"/>
                        </a:defRPr>
                      </a:pPr>
                      <a:r>
                        <a:rPr dirty="0"/>
                        <a:t>Crypto Partners / Settlement</a:t>
                      </a:r>
                    </a:p>
                  </a:txBody>
                  <a:tcPr anchor="ctr">
                    <a:solidFill>
                      <a:srgbClr val="002060"/>
                    </a:solidFill>
                  </a:tcPr>
                </a:tc>
                <a:tc>
                  <a:txBody>
                    <a:bodyPr/>
                    <a:lstStyle/>
                    <a:p>
                      <a:pPr>
                        <a:defRPr sz="1000" b="1">
                          <a:solidFill>
                            <a:srgbClr val="FFFFFF"/>
                          </a:solidFill>
                          <a:latin typeface="Calibri"/>
                        </a:defRPr>
                      </a:pPr>
                      <a:r>
                        <a:rPr dirty="0"/>
                        <a:t>Merchant Acceptance</a:t>
                      </a:r>
                    </a:p>
                  </a:txBody>
                  <a:tcPr anchor="ctr">
                    <a:solidFill>
                      <a:srgbClr val="002060"/>
                    </a:solidFill>
                  </a:tcPr>
                </a:tc>
                <a:tc>
                  <a:txBody>
                    <a:bodyPr/>
                    <a:lstStyle/>
                    <a:p>
                      <a:pPr>
                        <a:defRPr sz="1000" b="1">
                          <a:solidFill>
                            <a:srgbClr val="FFFFFF"/>
                          </a:solidFill>
                          <a:latin typeface="Calibri"/>
                        </a:defRPr>
                      </a:pPr>
                      <a:r>
                        <a:rPr dirty="0"/>
                        <a:t>Full Stack?</a:t>
                      </a:r>
                    </a:p>
                  </a:txBody>
                  <a:tcPr anchor="ctr">
                    <a:solidFill>
                      <a:srgbClr val="002060"/>
                    </a:solidFill>
                  </a:tcPr>
                </a:tc>
                <a:extLst>
                  <a:ext uri="{0D108BD9-81ED-4DB2-BD59-A6C34878D82A}">
                    <a16:rowId xmlns:a16="http://schemas.microsoft.com/office/drawing/2014/main" val="10000"/>
                  </a:ext>
                </a:extLst>
              </a:tr>
              <a:tr h="496388">
                <a:tc>
                  <a:txBody>
                    <a:bodyPr/>
                    <a:lstStyle/>
                    <a:p>
                      <a:pPr>
                        <a:defRPr sz="1000">
                          <a:solidFill>
                            <a:srgbClr val="333333"/>
                          </a:solidFill>
                          <a:latin typeface="Calibri"/>
                        </a:defRPr>
                      </a:pPr>
                      <a:r>
                        <a:t>Fiserv</a:t>
                      </a:r>
                    </a:p>
                  </a:txBody>
                  <a:tcPr anchor="ctr">
                    <a:solidFill>
                      <a:srgbClr val="FFFFFF"/>
                    </a:solidFill>
                  </a:tcPr>
                </a:tc>
                <a:tc>
                  <a:txBody>
                    <a:bodyPr/>
                    <a:lstStyle/>
                    <a:p>
                      <a:pPr>
                        <a:defRPr sz="1000">
                          <a:solidFill>
                            <a:srgbClr val="333333"/>
                          </a:solidFill>
                          <a:latin typeface="Calibri"/>
                        </a:defRPr>
                      </a:pPr>
                      <a:r>
                        <a:t>Finxact</a:t>
                      </a:r>
                    </a:p>
                  </a:txBody>
                  <a:tcPr anchor="ctr">
                    <a:solidFill>
                      <a:srgbClr val="FFFFFF"/>
                    </a:solidFill>
                  </a:tcPr>
                </a:tc>
                <a:tc>
                  <a:txBody>
                    <a:bodyPr/>
                    <a:lstStyle/>
                    <a:p>
                      <a:pPr>
                        <a:defRPr sz="1000">
                          <a:solidFill>
                            <a:srgbClr val="333333"/>
                          </a:solidFill>
                          <a:latin typeface="Calibri"/>
                        </a:defRPr>
                      </a:pPr>
                      <a:r>
                        <a:t>FIUSD</a:t>
                      </a:r>
                    </a:p>
                  </a:txBody>
                  <a:tcPr anchor="ctr">
                    <a:solidFill>
                      <a:srgbClr val="FFFFFF"/>
                    </a:solidFill>
                  </a:tcPr>
                </a:tc>
                <a:tc>
                  <a:txBody>
                    <a:bodyPr/>
                    <a:lstStyle/>
                    <a:p>
                      <a:pPr>
                        <a:defRPr sz="1000">
                          <a:solidFill>
                            <a:srgbClr val="333333"/>
                          </a:solidFill>
                          <a:latin typeface="Calibri"/>
                        </a:defRPr>
                      </a:pPr>
                      <a:r>
                        <a:t>INDX (1,100+ FDIC banks)</a:t>
                      </a:r>
                    </a:p>
                  </a:txBody>
                  <a:tcPr anchor="ctr">
                    <a:solidFill>
                      <a:srgbClr val="FFFFFF"/>
                    </a:solidFill>
                  </a:tcPr>
                </a:tc>
                <a:tc>
                  <a:txBody>
                    <a:bodyPr/>
                    <a:lstStyle/>
                    <a:p>
                      <a:pPr>
                        <a:defRPr sz="1000">
                          <a:solidFill>
                            <a:srgbClr val="333333"/>
                          </a:solidFill>
                          <a:latin typeface="Calibri"/>
                        </a:defRPr>
                      </a:pPr>
                      <a:r>
                        <a:t>CommerceHub + Clover (6M locations)</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extLst>
                  <a:ext uri="{0D108BD9-81ED-4DB2-BD59-A6C34878D82A}">
                    <a16:rowId xmlns:a16="http://schemas.microsoft.com/office/drawing/2014/main" val="10001"/>
                  </a:ext>
                </a:extLst>
              </a:tr>
              <a:tr h="496388">
                <a:tc>
                  <a:txBody>
                    <a:bodyPr/>
                    <a:lstStyle/>
                    <a:p>
                      <a:pPr>
                        <a:defRPr sz="1000">
                          <a:solidFill>
                            <a:srgbClr val="333333"/>
                          </a:solidFill>
                          <a:latin typeface="Calibri"/>
                        </a:defRPr>
                      </a:pPr>
                      <a:r>
                        <a:t>Stripe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(Bridge/USDC)</a:t>
                      </a:r>
                    </a:p>
                  </a:txBody>
                  <a:tcPr anchor="ctr">
                    <a:solidFill>
                      <a:srgbClr val="F2F2F2"/>
                    </a:solidFill>
                  </a:tcPr>
                </a:tc>
                <a:tc>
                  <a:txBody>
                    <a:bodyPr/>
                    <a:lstStyle/>
                    <a:p>
                      <a:pPr>
                        <a:defRPr sz="1000">
                          <a:solidFill>
                            <a:srgbClr val="333333"/>
                          </a:solidFill>
                          <a:latin typeface="Calibri"/>
                        </a:defRPr>
                      </a:pPr>
                      <a:r>
                        <a:t>Coinbase (x402) + Bridge (acq.)</a:t>
                      </a:r>
                    </a:p>
                  </a:txBody>
                  <a:tcPr anchor="ctr">
                    <a:solidFill>
                      <a:srgbClr val="F2F2F2"/>
                    </a:solidFill>
                  </a:tcPr>
                </a:tc>
                <a:tc>
                  <a:txBody>
                    <a:bodyPr/>
                    <a:lstStyle/>
                    <a:p>
                      <a:pPr>
                        <a:defRPr sz="1000">
                          <a:solidFill>
                            <a:srgbClr val="333333"/>
                          </a:solidFill>
                          <a:latin typeface="Calibri"/>
                        </a:defRPr>
                      </a:pPr>
                      <a:r>
                        <a:t>Stripe Checkout</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96388">
                <a:tc>
                  <a:txBody>
                    <a:bodyPr/>
                    <a:lstStyle/>
                    <a:p>
                      <a:pPr>
                        <a:defRPr sz="1000">
                          <a:solidFill>
                            <a:srgbClr val="333333"/>
                          </a:solidFill>
                          <a:latin typeface="Calibri"/>
                        </a:defRPr>
                      </a:pPr>
                      <a:r>
                        <a:t>Adyen</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None disclosed</a:t>
                      </a:r>
                    </a:p>
                  </a:txBody>
                  <a:tcPr anchor="ctr">
                    <a:solidFill>
                      <a:srgbClr val="FFFFFF"/>
                    </a:solidFill>
                  </a:tcPr>
                </a:tc>
                <a:tc>
                  <a:txBody>
                    <a:bodyPr/>
                    <a:lstStyle/>
                    <a:p>
                      <a:pPr>
                        <a:defRPr sz="1000">
                          <a:solidFill>
                            <a:srgbClr val="333333"/>
                          </a:solidFill>
                          <a:latin typeface="Calibri"/>
                        </a:defRPr>
                      </a:pPr>
                      <a:r>
                        <a:t>Adyen platform</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3"/>
                  </a:ext>
                </a:extLst>
              </a:tr>
              <a:tr h="496388">
                <a:tc>
                  <a:txBody>
                    <a:bodyPr/>
                    <a:lstStyle/>
                    <a:p>
                      <a:pPr>
                        <a:defRPr sz="1000">
                          <a:solidFill>
                            <a:srgbClr val="333333"/>
                          </a:solidFill>
                          <a:latin typeface="Calibri"/>
                        </a:defRPr>
                      </a:pPr>
                      <a:r>
                        <a:t>Worldpay</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BVNK (stablecoin payouts)</a:t>
                      </a:r>
                    </a:p>
                  </a:txBody>
                  <a:tcPr anchor="ctr">
                    <a:solidFill>
                      <a:srgbClr val="F2F2F2"/>
                    </a:solidFill>
                  </a:tcPr>
                </a:tc>
                <a:tc>
                  <a:txBody>
                    <a:bodyPr/>
                    <a:lstStyle/>
                    <a:p>
                      <a:pPr>
                        <a:defRPr sz="1000">
                          <a:solidFill>
                            <a:srgbClr val="333333"/>
                          </a:solidFill>
                          <a:latin typeface="Calibri"/>
                        </a:defRPr>
                      </a:pPr>
                      <a:r>
                        <a:t>Worldpay platform</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4"/>
                  </a:ext>
                </a:extLst>
              </a:tr>
              <a:tr h="496388">
                <a:tc>
                  <a:txBody>
                    <a:bodyPr/>
                    <a:lstStyle/>
                    <a:p>
                      <a:pPr>
                        <a:defRPr sz="1000">
                          <a:solidFill>
                            <a:srgbClr val="333333"/>
                          </a:solidFill>
                          <a:latin typeface="Calibri"/>
                        </a:defRPr>
                      </a:pPr>
                      <a:r>
                        <a:t>PayPal</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PYUSD</a:t>
                      </a:r>
                    </a:p>
                  </a:txBody>
                  <a:tcPr anchor="ctr">
                    <a:solidFill>
                      <a:srgbClr val="FFFFFF"/>
                    </a:solidFill>
                  </a:tcPr>
                </a:tc>
                <a:tc>
                  <a:txBody>
                    <a:bodyPr/>
                    <a:lstStyle/>
                    <a:p>
                      <a:pPr>
                        <a:defRPr sz="1000">
                          <a:solidFill>
                            <a:srgbClr val="333333"/>
                          </a:solidFill>
                          <a:latin typeface="Calibri"/>
                        </a:defRPr>
                      </a:pPr>
                      <a:r>
                        <a:t>Mesh (PayPal Ventures)</a:t>
                      </a:r>
                    </a:p>
                  </a:txBody>
                  <a:tcPr anchor="ctr">
                    <a:solidFill>
                      <a:srgbClr val="FFFFFF"/>
                    </a:solidFill>
                  </a:tcPr>
                </a:tc>
                <a:tc>
                  <a:txBody>
                    <a:bodyPr/>
                    <a:lstStyle/>
                    <a:p>
                      <a:pPr>
                        <a:defRPr sz="1000">
                          <a:solidFill>
                            <a:srgbClr val="333333"/>
                          </a:solidFill>
                          <a:latin typeface="Calibri"/>
                        </a:defRPr>
                      </a:pPr>
                      <a:r>
                        <a:t>PayPal/Venmo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5"/>
                  </a:ext>
                </a:extLst>
              </a:tr>
              <a:tr h="496392">
                <a:tc>
                  <a:txBody>
                    <a:bodyPr/>
                    <a:lstStyle/>
                    <a:p>
                      <a:pPr>
                        <a:defRPr sz="1000">
                          <a:solidFill>
                            <a:srgbClr val="333333"/>
                          </a:solidFill>
                          <a:latin typeface="Calibri"/>
                        </a:defRPr>
                      </a:pPr>
                      <a:r>
                        <a:t>Block/Square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(BTC only)</a:t>
                      </a:r>
                    </a:p>
                  </a:txBody>
                  <a:tcPr anchor="ctr">
                    <a:solidFill>
                      <a:srgbClr val="F2F2F2"/>
                    </a:solidFill>
                  </a:tcPr>
                </a:tc>
                <a:tc>
                  <a:txBody>
                    <a:bodyPr/>
                    <a:lstStyle/>
                    <a:p>
                      <a:pPr>
                        <a:defRPr sz="1000">
                          <a:solidFill>
                            <a:srgbClr val="333333"/>
                          </a:solidFill>
                          <a:latin typeface="Calibri"/>
                        </a:defRPr>
                      </a:pPr>
                      <a:r>
                        <a:t>Bitcoin only (no partner)</a:t>
                      </a:r>
                    </a:p>
                  </a:txBody>
                  <a:tcPr anchor="ctr">
                    <a:solidFill>
                      <a:srgbClr val="F2F2F2"/>
                    </a:solidFill>
                  </a:tcPr>
                </a:tc>
                <a:tc>
                  <a:txBody>
                    <a:bodyPr/>
                    <a:lstStyle/>
                    <a:p>
                      <a:pPr>
                        <a:defRPr sz="1000">
                          <a:solidFill>
                            <a:srgbClr val="333333"/>
                          </a:solidFill>
                          <a:latin typeface="Calibri"/>
                        </a:defRPr>
                      </a:pPr>
                      <a:r>
                        <a:t>Square POS</a:t>
                      </a:r>
                    </a:p>
                  </a:txBody>
                  <a:tcPr anchor="ctr">
                    <a:solidFill>
                      <a:srgbClr val="F2F2F2"/>
                    </a:solidFill>
                  </a:tcPr>
                </a:tc>
                <a:tc>
                  <a:txBody>
                    <a:bodyPr/>
                    <a:lstStyle/>
                    <a:p>
                      <a:pPr>
                        <a:defRPr sz="1000">
                          <a:solidFill>
                            <a:srgbClr val="333333"/>
                          </a:solidFill>
                          <a:latin typeface="Calibri"/>
                        </a:defRPr>
                      </a:pPr>
                      <a:r>
                        <a:rPr dirty="0"/>
                        <a:t>No</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31520" y="5303520"/>
            <a:ext cx="1069848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5440680"/>
            <a:ext cx="10058400" cy="822960"/>
          </a:xfrm>
          <a:prstGeom prst="rect">
            <a:avLst/>
          </a:prstGeom>
          <a:noFill/>
        </p:spPr>
        <p:txBody>
          <a:bodyPr wrap="square">
            <a:spAutoFit/>
          </a:bodyPr>
          <a:lstStyle/>
          <a:p>
            <a:pPr algn="ctr">
              <a:spcAft>
                <a:spcPts val="400"/>
              </a:spcAft>
              <a:defRPr sz="1600" b="1">
                <a:solidFill>
                  <a:srgbClr val="FF6600"/>
                </a:solidFill>
                <a:latin typeface="Calibri"/>
              </a:defRPr>
            </a:pPr>
            <a:r>
              <a:rPr dirty="0"/>
              <a:t>Key Insight: Fiserv's moat is structural, not feature-based</a:t>
            </a:r>
          </a:p>
          <a:p>
            <a:pPr algn="ctr">
              <a:spcAft>
                <a:spcPts val="400"/>
              </a:spcAft>
              <a:defRPr sz="1300" b="0">
                <a:solidFill>
                  <a:srgbClr val="FFFFFF"/>
                </a:solidFill>
                <a:latin typeface="Calibri"/>
              </a:defRPr>
            </a:pPr>
            <a:r>
              <a:rPr dirty="0"/>
              <a:t>No competitor can replicate the closed loop: bank issues FIUSD &gt; consumer pays merchant &gt; INDX settles in real-time &gt; merchant receives USD instantly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8819" y="19797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Our Vertically Integrated Stack</a:t>
            </a:r>
          </a:p>
        </p:txBody>
      </p:sp>
      <p:sp>
        <p:nvSpPr>
          <p:cNvPr id="5" name="TextBox 4"/>
          <p:cNvSpPr txBox="1"/>
          <p:nvPr/>
        </p:nvSpPr>
        <p:spPr>
          <a:xfrm>
            <a:off x="578819" y="746610"/>
            <a:ext cx="10058400" cy="307777"/>
          </a:xfrm>
          <a:prstGeom prst="rect">
            <a:avLst/>
          </a:prstGeom>
          <a:noFill/>
        </p:spPr>
        <p:txBody>
          <a:bodyPr wrap="square">
            <a:spAutoFit/>
          </a:bodyPr>
          <a:lstStyle/>
          <a:p>
            <a:pPr algn="l">
              <a:defRPr sz="1400" b="0">
                <a:solidFill>
                  <a:srgbClr val="FF6600"/>
                </a:solidFill>
                <a:latin typeface="Calibri"/>
              </a:defRPr>
            </a:pPr>
            <a:r>
              <a:rPr dirty="0"/>
              <a:t>The only company with bank-issued stablecoin accepted </a:t>
            </a:r>
            <a:r>
              <a:rPr lang="en-US" dirty="0"/>
              <a:t>by</a:t>
            </a:r>
            <a:r>
              <a:rPr dirty="0"/>
              <a:t> merchants with real-time FDIC-insured settlement</a:t>
            </a:r>
          </a:p>
        </p:txBody>
      </p:sp>
      <p:sp>
        <p:nvSpPr>
          <p:cNvPr id="6" name="Rounded Rectangle 4"/>
          <p:cNvSpPr/>
          <p:nvPr/>
        </p:nvSpPr>
        <p:spPr>
          <a:xfrm>
            <a:off x="73152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2194560" cy="457200"/>
          </a:xfrm>
          <a:prstGeom prst="rect">
            <a:avLst/>
          </a:prstGeom>
          <a:noFill/>
        </p:spPr>
        <p:txBody>
          <a:bodyPr wrap="square">
            <a:spAutoFit/>
          </a:bodyPr>
          <a:lstStyle/>
          <a:p>
            <a:pPr algn="ctr">
              <a:defRPr sz="2000" b="1">
                <a:solidFill>
                  <a:srgbClr val="FF6600"/>
                </a:solidFill>
                <a:latin typeface="Calibri"/>
              </a:defRPr>
            </a:pPr>
            <a:r>
              <a:t>Finxact</a:t>
            </a:r>
          </a:p>
        </p:txBody>
      </p:sp>
      <p:sp>
        <p:nvSpPr>
          <p:cNvPr id="8" name="TextBox 7"/>
          <p:cNvSpPr txBox="1"/>
          <p:nvPr/>
        </p:nvSpPr>
        <p:spPr>
          <a:xfrm>
            <a:off x="914400" y="2286000"/>
            <a:ext cx="2194560" cy="365760"/>
          </a:xfrm>
          <a:prstGeom prst="rect">
            <a:avLst/>
          </a:prstGeom>
          <a:noFill/>
        </p:spPr>
        <p:txBody>
          <a:bodyPr wrap="square">
            <a:spAutoFit/>
          </a:bodyPr>
          <a:lstStyle/>
          <a:p>
            <a:pPr algn="ctr">
              <a:defRPr sz="1200" b="1">
                <a:solidFill>
                  <a:srgbClr val="FFFFFF"/>
                </a:solidFill>
                <a:latin typeface="Calibri"/>
              </a:defRPr>
            </a:pPr>
            <a:r>
              <a:t>Cloud-Native Banking Core</a:t>
            </a:r>
          </a:p>
        </p:txBody>
      </p:sp>
      <p:sp>
        <p:nvSpPr>
          <p:cNvPr id="9" name="TextBox 8"/>
          <p:cNvSpPr txBox="1"/>
          <p:nvPr/>
        </p:nvSpPr>
        <p:spPr>
          <a:xfrm>
            <a:off x="914400" y="2834640"/>
            <a:ext cx="2194560" cy="1828800"/>
          </a:xfrm>
          <a:prstGeom prst="rect">
            <a:avLst/>
          </a:prstGeom>
          <a:noFill/>
        </p:spPr>
        <p:txBody>
          <a:bodyPr wrap="square">
            <a:spAutoFit/>
          </a:bodyPr>
          <a:lstStyle/>
          <a:p>
            <a:pPr algn="ctr">
              <a:defRPr sz="1200" b="0">
                <a:solidFill>
                  <a:srgbClr val="CCCCCC"/>
                </a:solidFill>
                <a:latin typeface="Calibri"/>
              </a:defRPr>
            </a:pPr>
            <a:r>
              <a:t>Multi-asset ledger</a:t>
            </a:r>
            <a:br/>
            <a:r>
              <a:t>API-first architecture</a:t>
            </a:r>
            <a:br/>
            <a:r>
              <a:t>10,000+ FI clients</a:t>
            </a:r>
          </a:p>
        </p:txBody>
      </p:sp>
      <p:sp>
        <p:nvSpPr>
          <p:cNvPr id="10" name="Rounded Rectangle 8"/>
          <p:cNvSpPr/>
          <p:nvPr/>
        </p:nvSpPr>
        <p:spPr>
          <a:xfrm>
            <a:off x="356616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40" y="1828800"/>
            <a:ext cx="2194560" cy="457200"/>
          </a:xfrm>
          <a:prstGeom prst="rect">
            <a:avLst/>
          </a:prstGeom>
          <a:noFill/>
        </p:spPr>
        <p:txBody>
          <a:bodyPr wrap="square">
            <a:spAutoFit/>
          </a:bodyPr>
          <a:lstStyle/>
          <a:p>
            <a:pPr algn="ctr">
              <a:defRPr sz="2000" b="1">
                <a:solidFill>
                  <a:srgbClr val="FF6600"/>
                </a:solidFill>
                <a:latin typeface="Calibri"/>
              </a:defRPr>
            </a:pPr>
            <a:r>
              <a:t>FIUSD</a:t>
            </a:r>
          </a:p>
        </p:txBody>
      </p:sp>
      <p:sp>
        <p:nvSpPr>
          <p:cNvPr id="12" name="TextBox 11"/>
          <p:cNvSpPr txBox="1"/>
          <p:nvPr/>
        </p:nvSpPr>
        <p:spPr>
          <a:xfrm>
            <a:off x="3749040" y="2286000"/>
            <a:ext cx="2194560" cy="365760"/>
          </a:xfrm>
          <a:prstGeom prst="rect">
            <a:avLst/>
          </a:prstGeom>
          <a:noFill/>
        </p:spPr>
        <p:txBody>
          <a:bodyPr wrap="square">
            <a:spAutoFit/>
          </a:bodyPr>
          <a:lstStyle/>
          <a:p>
            <a:pPr algn="ctr">
              <a:defRPr sz="1200" b="1">
                <a:solidFill>
                  <a:srgbClr val="FFFFFF"/>
                </a:solidFill>
                <a:latin typeface="Calibri"/>
              </a:defRPr>
            </a:pPr>
            <a:r>
              <a:t>Bank-Embedded Stablecoin</a:t>
            </a:r>
          </a:p>
        </p:txBody>
      </p:sp>
      <p:sp>
        <p:nvSpPr>
          <p:cNvPr id="13" name="TextBox 12"/>
          <p:cNvSpPr txBox="1"/>
          <p:nvPr/>
        </p:nvSpPr>
        <p:spPr>
          <a:xfrm>
            <a:off x="3749040" y="2834640"/>
            <a:ext cx="2194560" cy="1828800"/>
          </a:xfrm>
          <a:prstGeom prst="rect">
            <a:avLst/>
          </a:prstGeom>
          <a:noFill/>
        </p:spPr>
        <p:txBody>
          <a:bodyPr wrap="square">
            <a:spAutoFit/>
          </a:bodyPr>
          <a:lstStyle/>
          <a:p>
            <a:pPr algn="ctr">
              <a:defRPr sz="1200" b="0">
                <a:solidFill>
                  <a:srgbClr val="CCCCCC"/>
                </a:solidFill>
                <a:latin typeface="Calibri"/>
              </a:defRPr>
            </a:pPr>
            <a:r>
              <a:t>Live on Solana</a:t>
            </a:r>
            <a:br/>
            <a:r>
              <a:t>Paxos/Circle backed</a:t>
            </a:r>
            <a:br/>
            <a:r>
              <a:t>1:1 USD peg</a:t>
            </a:r>
          </a:p>
        </p:txBody>
      </p:sp>
      <p:sp>
        <p:nvSpPr>
          <p:cNvPr id="14" name="Rounded Rectangle 12"/>
          <p:cNvSpPr/>
          <p:nvPr/>
        </p:nvSpPr>
        <p:spPr>
          <a:xfrm>
            <a:off x="640080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1828800"/>
            <a:ext cx="2194560" cy="457200"/>
          </a:xfrm>
          <a:prstGeom prst="rect">
            <a:avLst/>
          </a:prstGeom>
          <a:noFill/>
        </p:spPr>
        <p:txBody>
          <a:bodyPr wrap="square">
            <a:spAutoFit/>
          </a:bodyPr>
          <a:lstStyle/>
          <a:p>
            <a:pPr algn="ctr">
              <a:defRPr sz="2000" b="1">
                <a:solidFill>
                  <a:srgbClr val="FF6600"/>
                </a:solidFill>
                <a:latin typeface="Calibri"/>
              </a:defRPr>
            </a:pPr>
            <a:r>
              <a:t>INDX</a:t>
            </a:r>
          </a:p>
        </p:txBody>
      </p:sp>
      <p:sp>
        <p:nvSpPr>
          <p:cNvPr id="16" name="TextBox 15"/>
          <p:cNvSpPr txBox="1"/>
          <p:nvPr/>
        </p:nvSpPr>
        <p:spPr>
          <a:xfrm>
            <a:off x="6583680" y="2286000"/>
            <a:ext cx="2194560" cy="365760"/>
          </a:xfrm>
          <a:prstGeom prst="rect">
            <a:avLst/>
          </a:prstGeom>
          <a:noFill/>
        </p:spPr>
        <p:txBody>
          <a:bodyPr wrap="square">
            <a:spAutoFit/>
          </a:bodyPr>
          <a:lstStyle/>
          <a:p>
            <a:pPr algn="ctr">
              <a:defRPr sz="1200" b="1">
                <a:solidFill>
                  <a:srgbClr val="FFFFFF"/>
                </a:solidFill>
                <a:latin typeface="Calibri"/>
              </a:defRPr>
            </a:pPr>
            <a:r>
              <a:t>Real-Time Settlement</a:t>
            </a:r>
          </a:p>
        </p:txBody>
      </p:sp>
      <p:sp>
        <p:nvSpPr>
          <p:cNvPr id="17" name="TextBox 16"/>
          <p:cNvSpPr txBox="1"/>
          <p:nvPr/>
        </p:nvSpPr>
        <p:spPr>
          <a:xfrm>
            <a:off x="6583680" y="2834640"/>
            <a:ext cx="2194560" cy="1828800"/>
          </a:xfrm>
          <a:prstGeom prst="rect">
            <a:avLst/>
          </a:prstGeom>
          <a:noFill/>
        </p:spPr>
        <p:txBody>
          <a:bodyPr wrap="square">
            <a:spAutoFit/>
          </a:bodyPr>
          <a:lstStyle/>
          <a:p>
            <a:pPr algn="ctr">
              <a:defRPr sz="1200" b="0">
                <a:solidFill>
                  <a:srgbClr val="CCCCCC"/>
                </a:solidFill>
                <a:latin typeface="Calibri"/>
              </a:defRPr>
            </a:pPr>
            <a:r>
              <a:t>1,100+ FDIC banks</a:t>
            </a:r>
            <a:br/>
            <a:r>
              <a:t>$25M FDIC insurance</a:t>
            </a:r>
            <a:br/>
            <a:r>
              <a:t>24/7/365 settlement</a:t>
            </a:r>
          </a:p>
        </p:txBody>
      </p:sp>
      <p:sp>
        <p:nvSpPr>
          <p:cNvPr id="18" name="Rounded Rectangle 16"/>
          <p:cNvSpPr/>
          <p:nvPr/>
        </p:nvSpPr>
        <p:spPr>
          <a:xfrm>
            <a:off x="923544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98053" y="1828800"/>
            <a:ext cx="2508970" cy="400110"/>
          </a:xfrm>
          <a:prstGeom prst="rect">
            <a:avLst/>
          </a:prstGeom>
          <a:noFill/>
        </p:spPr>
        <p:txBody>
          <a:bodyPr wrap="square">
            <a:spAutoFit/>
          </a:bodyPr>
          <a:lstStyle/>
          <a:p>
            <a:pPr algn="ctr">
              <a:defRPr sz="2000" b="1">
                <a:solidFill>
                  <a:srgbClr val="FF6600"/>
                </a:solidFill>
                <a:latin typeface="Calibri"/>
              </a:defRPr>
            </a:pPr>
            <a:r>
              <a:rPr dirty="0"/>
              <a:t>C</a:t>
            </a:r>
            <a:r>
              <a:rPr lang="en-US" dirty="0"/>
              <a:t>omm Hub</a:t>
            </a:r>
            <a:r>
              <a:rPr dirty="0"/>
              <a:t> / Clover</a:t>
            </a:r>
          </a:p>
        </p:txBody>
      </p:sp>
      <p:sp>
        <p:nvSpPr>
          <p:cNvPr id="20" name="TextBox 19"/>
          <p:cNvSpPr txBox="1"/>
          <p:nvPr/>
        </p:nvSpPr>
        <p:spPr>
          <a:xfrm>
            <a:off x="9418320" y="2286000"/>
            <a:ext cx="2194560" cy="365760"/>
          </a:xfrm>
          <a:prstGeom prst="rect">
            <a:avLst/>
          </a:prstGeom>
          <a:noFill/>
        </p:spPr>
        <p:txBody>
          <a:bodyPr wrap="square">
            <a:spAutoFit/>
          </a:bodyPr>
          <a:lstStyle/>
          <a:p>
            <a:pPr algn="ctr">
              <a:defRPr sz="1200" b="1">
                <a:solidFill>
                  <a:srgbClr val="FFFFFF"/>
                </a:solidFill>
                <a:latin typeface="Calibri"/>
              </a:defRPr>
            </a:pPr>
            <a:r>
              <a:t>Merchant Acceptance</a:t>
            </a:r>
          </a:p>
        </p:txBody>
      </p:sp>
      <p:sp>
        <p:nvSpPr>
          <p:cNvPr id="21" name="TextBox 20"/>
          <p:cNvSpPr txBox="1"/>
          <p:nvPr/>
        </p:nvSpPr>
        <p:spPr>
          <a:xfrm>
            <a:off x="9418320" y="2834640"/>
            <a:ext cx="2194560" cy="646331"/>
          </a:xfrm>
          <a:prstGeom prst="rect">
            <a:avLst/>
          </a:prstGeom>
          <a:noFill/>
        </p:spPr>
        <p:txBody>
          <a:bodyPr wrap="square">
            <a:spAutoFit/>
          </a:bodyPr>
          <a:lstStyle/>
          <a:p>
            <a:pPr algn="ctr">
              <a:defRPr sz="1200" b="0">
                <a:solidFill>
                  <a:srgbClr val="CCCCCC"/>
                </a:solidFill>
                <a:latin typeface="Calibri"/>
              </a:defRPr>
            </a:pPr>
            <a:r>
              <a:rPr lang="en-US" dirty="0"/>
              <a:t>6M merchant locations  •  White-label for FIs &amp; merchants  •  E-comm + in-store</a:t>
            </a:r>
            <a:r>
              <a:rPr dirty="0"/>
              <a:t/>
            </a:r>
            <a:br>
              <a:rPr dirty="0"/>
            </a:br>
            <a:r>
              <a:rPr dirty="0"/>
              <a:t/>
            </a:r>
            <a:br>
              <a:rPr dirty="0"/>
            </a:br>
            <a:r>
              <a:rPr dirty="0"/>
              <a:t/>
            </a:r>
          </a:p>
        </p:txBody>
      </p:sp>
      <p:sp>
        <p:nvSpPr>
          <p:cNvPr id="22" name="TextBox 21"/>
          <p:cNvSpPr txBox="1"/>
          <p:nvPr/>
        </p:nvSpPr>
        <p:spPr>
          <a:xfrm>
            <a:off x="3206264" y="2926080"/>
            <a:ext cx="457200" cy="457200"/>
          </a:xfrm>
          <a:prstGeom prst="rect">
            <a:avLst/>
          </a:prstGeom>
          <a:noFill/>
        </p:spPr>
        <p:txBody>
          <a:bodyPr wrap="square">
            <a:spAutoFit/>
          </a:bodyPr>
          <a:lstStyle/>
          <a:p>
            <a:pPr algn="ctr">
              <a:defRPr sz="2800" b="1">
                <a:solidFill>
                  <a:srgbClr val="FF6600"/>
                </a:solidFill>
                <a:latin typeface="Calibri"/>
              </a:defRPr>
            </a:pPr>
            <a:r>
              <a:rPr dirty="0"/>
              <a:t>→</a:t>
            </a:r>
          </a:p>
        </p:txBody>
      </p:sp>
      <p:sp>
        <p:nvSpPr>
          <p:cNvPr id="23" name="TextBox 22"/>
          <p:cNvSpPr txBox="1"/>
          <p:nvPr/>
        </p:nvSpPr>
        <p:spPr>
          <a:xfrm>
            <a:off x="604090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4" name="TextBox 23"/>
          <p:cNvSpPr txBox="1"/>
          <p:nvPr/>
        </p:nvSpPr>
        <p:spPr>
          <a:xfrm>
            <a:off x="887554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5" name="TextBox 24"/>
          <p:cNvSpPr txBox="1"/>
          <p:nvPr/>
        </p:nvSpPr>
        <p:spPr>
          <a:xfrm>
            <a:off x="-61261" y="5484598"/>
            <a:ext cx="10698480" cy="323165"/>
          </a:xfrm>
          <a:prstGeom prst="rect">
            <a:avLst/>
          </a:prstGeom>
          <a:noFill/>
        </p:spPr>
        <p:txBody>
          <a:bodyPr wrap="square">
            <a:spAutoFit/>
          </a:bodyPr>
          <a:lstStyle/>
          <a:p>
            <a:pPr algn="ctr">
              <a:defRPr sz="1500" b="0">
                <a:solidFill>
                  <a:srgbClr val="FFFFFF"/>
                </a:solidFill>
                <a:latin typeface="Calibri"/>
              </a:defRPr>
            </a:pPr>
            <a:r>
              <a:rPr dirty="0">
                <a:solidFill>
                  <a:srgbClr val="FF6600"/>
                </a:solidFill>
              </a:rPr>
              <a:t>Bank issues FIUSD  →  Consumer pays merchant  →  INDX settles in real-time  →  Merchant receives USD instantly</a:t>
            </a:r>
          </a:p>
        </p:txBody>
      </p:sp>
    </p:spTree>
    <p:extLst>
      <p:ext uri="{BB962C8B-B14F-4D97-AF65-F5344CB8AC3E}">
        <p14:creationId xmlns:p14="http://schemas.microsoft.com/office/powerpoint/2010/main" val="64037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The FIUSD Flywheel</a:t>
            </a:r>
          </a:p>
        </p:txBody>
      </p:sp>
      <p:sp>
        <p:nvSpPr>
          <p:cNvPr id="4" name="Rounded Rectangle 3"/>
          <p:cNvSpPr/>
          <p:nvPr/>
        </p:nvSpPr>
        <p:spPr>
          <a:xfrm>
            <a:off x="169891" y="1205402"/>
            <a:ext cx="2118360" cy="11887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7051" y="1296842"/>
            <a:ext cx="365760" cy="365760"/>
          </a:xfrm>
          <a:prstGeom prst="rect">
            <a:avLst/>
          </a:prstGeom>
          <a:noFill/>
        </p:spPr>
        <p:txBody>
          <a:bodyPr wrap="square">
            <a:spAutoFit/>
          </a:bodyPr>
          <a:lstStyle/>
          <a:p>
            <a:pPr algn="ctr">
              <a:defRPr sz="1600" b="1">
                <a:solidFill>
                  <a:srgbClr val="FFFFFF"/>
                </a:solidFill>
                <a:latin typeface="Calibri"/>
              </a:defRPr>
            </a:pPr>
            <a:r>
              <a:t>1</a:t>
            </a:r>
          </a:p>
        </p:txBody>
      </p:sp>
      <p:sp>
        <p:nvSpPr>
          <p:cNvPr id="6" name="Oval 5"/>
          <p:cNvSpPr/>
          <p:nvPr/>
        </p:nvSpPr>
        <p:spPr>
          <a:xfrm>
            <a:off x="261331" y="1296842"/>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1331" y="1296842"/>
            <a:ext cx="365760" cy="365760"/>
          </a:xfrm>
          <a:prstGeom prst="rect">
            <a:avLst/>
          </a:prstGeom>
          <a:noFill/>
        </p:spPr>
        <p:txBody>
          <a:bodyPr wrap="square">
            <a:spAutoFit/>
          </a:bodyPr>
          <a:lstStyle/>
          <a:p>
            <a:pPr algn="ctr">
              <a:defRPr sz="1400" b="1">
                <a:solidFill>
                  <a:srgbClr val="FFFFFF"/>
                </a:solidFill>
                <a:latin typeface="Calibri"/>
              </a:defRPr>
            </a:pPr>
            <a:r>
              <a:t>1</a:t>
            </a:r>
          </a:p>
        </p:txBody>
      </p:sp>
      <p:sp>
        <p:nvSpPr>
          <p:cNvPr id="8" name="TextBox 7"/>
          <p:cNvSpPr txBox="1"/>
          <p:nvPr/>
        </p:nvSpPr>
        <p:spPr>
          <a:xfrm>
            <a:off x="672811" y="1296842"/>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FIs Issue FIUSD</a:t>
            </a:r>
          </a:p>
        </p:txBody>
      </p:sp>
      <p:sp>
        <p:nvSpPr>
          <p:cNvPr id="9" name="TextBox 8"/>
          <p:cNvSpPr txBox="1"/>
          <p:nvPr/>
        </p:nvSpPr>
        <p:spPr>
          <a:xfrm>
            <a:off x="672811" y="1616882"/>
            <a:ext cx="1395699" cy="430887"/>
          </a:xfrm>
          <a:prstGeom prst="rect">
            <a:avLst/>
          </a:prstGeom>
          <a:noFill/>
        </p:spPr>
        <p:txBody>
          <a:bodyPr wrap="square">
            <a:spAutoFit/>
          </a:bodyPr>
          <a:lstStyle/>
          <a:p>
            <a:pPr algn="l">
              <a:defRPr sz="1100" b="0">
                <a:solidFill>
                  <a:srgbClr val="333333"/>
                </a:solidFill>
                <a:latin typeface="Calibri"/>
              </a:defRPr>
            </a:pPr>
            <a:r>
              <a:rPr dirty="0"/>
              <a:t>10,000+ bank clients</a:t>
            </a:r>
            <a:br>
              <a:rPr dirty="0"/>
            </a:br>
            <a:r>
              <a:rPr dirty="0"/>
              <a:t>issue via </a:t>
            </a:r>
            <a:r>
              <a:rPr dirty="0" err="1"/>
              <a:t>Finxact</a:t>
            </a:r>
            <a:endParaRPr dirty="0"/>
          </a:p>
        </p:txBody>
      </p:sp>
      <p:sp>
        <p:nvSpPr>
          <p:cNvPr id="10" name="Rounded Rectangle 9"/>
          <p:cNvSpPr/>
          <p:nvPr/>
        </p:nvSpPr>
        <p:spPr>
          <a:xfrm>
            <a:off x="2379692" y="2027709"/>
            <a:ext cx="2149891"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6853" y="2119149"/>
            <a:ext cx="365760" cy="365760"/>
          </a:xfrm>
          <a:prstGeom prst="rect">
            <a:avLst/>
          </a:prstGeom>
          <a:noFill/>
        </p:spPr>
        <p:txBody>
          <a:bodyPr wrap="square">
            <a:spAutoFit/>
          </a:bodyPr>
          <a:lstStyle/>
          <a:p>
            <a:pPr algn="ctr">
              <a:defRPr sz="1600" b="1">
                <a:solidFill>
                  <a:srgbClr val="FFFFFF"/>
                </a:solidFill>
                <a:latin typeface="Calibri"/>
              </a:defRPr>
            </a:pPr>
            <a:r>
              <a:t>2</a:t>
            </a:r>
          </a:p>
        </p:txBody>
      </p:sp>
      <p:sp>
        <p:nvSpPr>
          <p:cNvPr id="12" name="Oval 11"/>
          <p:cNvSpPr/>
          <p:nvPr/>
        </p:nvSpPr>
        <p:spPr>
          <a:xfrm>
            <a:off x="2471133" y="2119149"/>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71133" y="2119149"/>
            <a:ext cx="365760" cy="365760"/>
          </a:xfrm>
          <a:prstGeom prst="rect">
            <a:avLst/>
          </a:prstGeom>
          <a:noFill/>
        </p:spPr>
        <p:txBody>
          <a:bodyPr wrap="square">
            <a:spAutoFit/>
          </a:bodyPr>
          <a:lstStyle/>
          <a:p>
            <a:pPr algn="ctr">
              <a:defRPr sz="1400" b="1">
                <a:solidFill>
                  <a:srgbClr val="FFFFFF"/>
                </a:solidFill>
                <a:latin typeface="Calibri"/>
              </a:defRPr>
            </a:pPr>
            <a:r>
              <a:t>2</a:t>
            </a:r>
          </a:p>
        </p:txBody>
      </p:sp>
      <p:sp>
        <p:nvSpPr>
          <p:cNvPr id="14" name="TextBox 13"/>
          <p:cNvSpPr txBox="1"/>
          <p:nvPr/>
        </p:nvSpPr>
        <p:spPr>
          <a:xfrm>
            <a:off x="2882613" y="2119149"/>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Merchants Accept</a:t>
            </a:r>
          </a:p>
        </p:txBody>
      </p:sp>
      <p:sp>
        <p:nvSpPr>
          <p:cNvPr id="15" name="TextBox 14"/>
          <p:cNvSpPr txBox="1"/>
          <p:nvPr/>
        </p:nvSpPr>
        <p:spPr>
          <a:xfrm>
            <a:off x="2882613" y="2439189"/>
            <a:ext cx="2286000" cy="640080"/>
          </a:xfrm>
          <a:prstGeom prst="rect">
            <a:avLst/>
          </a:prstGeom>
          <a:noFill/>
        </p:spPr>
        <p:txBody>
          <a:bodyPr wrap="square">
            <a:spAutoFit/>
          </a:bodyPr>
          <a:lstStyle/>
          <a:p>
            <a:pPr algn="l">
              <a:defRPr sz="1100" b="0">
                <a:solidFill>
                  <a:srgbClr val="333333"/>
                </a:solidFill>
                <a:latin typeface="Calibri"/>
              </a:defRPr>
            </a:pPr>
            <a:r>
              <a:t>Adoption still TBD — seed early-mover verticals first</a:t>
            </a:r>
            <a:br/>
            <a:r>
              <a:t/>
            </a:r>
          </a:p>
        </p:txBody>
      </p:sp>
      <p:sp>
        <p:nvSpPr>
          <p:cNvPr id="16" name="Rounded Rectangle 15"/>
          <p:cNvSpPr/>
          <p:nvPr/>
        </p:nvSpPr>
        <p:spPr>
          <a:xfrm>
            <a:off x="4674625" y="2792721"/>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11785" y="2884161"/>
            <a:ext cx="365760" cy="365760"/>
          </a:xfrm>
          <a:prstGeom prst="rect">
            <a:avLst/>
          </a:prstGeom>
          <a:noFill/>
        </p:spPr>
        <p:txBody>
          <a:bodyPr wrap="square">
            <a:spAutoFit/>
          </a:bodyPr>
          <a:lstStyle/>
          <a:p>
            <a:pPr algn="ctr">
              <a:defRPr sz="1600" b="1">
                <a:solidFill>
                  <a:srgbClr val="FFFFFF"/>
                </a:solidFill>
                <a:latin typeface="Calibri"/>
              </a:defRPr>
            </a:pPr>
            <a:r>
              <a:t>3</a:t>
            </a:r>
          </a:p>
        </p:txBody>
      </p:sp>
      <p:sp>
        <p:nvSpPr>
          <p:cNvPr id="18" name="Oval 17"/>
          <p:cNvSpPr/>
          <p:nvPr/>
        </p:nvSpPr>
        <p:spPr>
          <a:xfrm>
            <a:off x="4766065" y="2884161"/>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66065" y="2884161"/>
            <a:ext cx="365760" cy="365760"/>
          </a:xfrm>
          <a:prstGeom prst="rect">
            <a:avLst/>
          </a:prstGeom>
          <a:noFill/>
        </p:spPr>
        <p:txBody>
          <a:bodyPr wrap="square">
            <a:spAutoFit/>
          </a:bodyPr>
          <a:lstStyle/>
          <a:p>
            <a:pPr algn="ctr">
              <a:defRPr sz="1400" b="1">
                <a:solidFill>
                  <a:srgbClr val="FFFFFF"/>
                </a:solidFill>
                <a:latin typeface="Calibri"/>
              </a:defRPr>
            </a:pPr>
            <a:r>
              <a:t>3</a:t>
            </a:r>
          </a:p>
        </p:txBody>
      </p:sp>
      <p:sp>
        <p:nvSpPr>
          <p:cNvPr id="20" name="TextBox 19"/>
          <p:cNvSpPr txBox="1"/>
          <p:nvPr/>
        </p:nvSpPr>
        <p:spPr>
          <a:xfrm>
            <a:off x="5177545" y="2884161"/>
            <a:ext cx="166116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Consumers Adopt</a:t>
            </a:r>
          </a:p>
        </p:txBody>
      </p:sp>
      <p:sp>
        <p:nvSpPr>
          <p:cNvPr id="21" name="TextBox 20"/>
          <p:cNvSpPr txBox="1"/>
          <p:nvPr/>
        </p:nvSpPr>
        <p:spPr>
          <a:xfrm>
            <a:off x="5177545" y="3204201"/>
            <a:ext cx="1519872" cy="430887"/>
          </a:xfrm>
          <a:prstGeom prst="rect">
            <a:avLst/>
          </a:prstGeom>
          <a:noFill/>
        </p:spPr>
        <p:txBody>
          <a:bodyPr wrap="square">
            <a:spAutoFit/>
          </a:bodyPr>
          <a:lstStyle/>
          <a:p>
            <a:pPr algn="l">
              <a:defRPr sz="1100" b="0">
                <a:solidFill>
                  <a:srgbClr val="333333"/>
                </a:solidFill>
                <a:latin typeface="Calibri"/>
              </a:defRPr>
            </a:pPr>
            <a:r>
              <a:t>Hold FIUSD in</a:t>
            </a:r>
            <a:br/>
            <a:r>
              <a:t>bank wallets</a:t>
            </a:r>
          </a:p>
        </p:txBody>
      </p:sp>
      <p:sp>
        <p:nvSpPr>
          <p:cNvPr id="22" name="Rounded Rectangle 21"/>
          <p:cNvSpPr/>
          <p:nvPr/>
        </p:nvSpPr>
        <p:spPr>
          <a:xfrm>
            <a:off x="6938027" y="3593234"/>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75187" y="3684674"/>
            <a:ext cx="365760" cy="365760"/>
          </a:xfrm>
          <a:prstGeom prst="rect">
            <a:avLst/>
          </a:prstGeom>
          <a:noFill/>
        </p:spPr>
        <p:txBody>
          <a:bodyPr wrap="square">
            <a:spAutoFit/>
          </a:bodyPr>
          <a:lstStyle/>
          <a:p>
            <a:pPr algn="ctr">
              <a:defRPr sz="1600" b="1">
                <a:solidFill>
                  <a:srgbClr val="FFFFFF"/>
                </a:solidFill>
                <a:latin typeface="Calibri"/>
              </a:defRPr>
            </a:pPr>
            <a:r>
              <a:t>4</a:t>
            </a:r>
          </a:p>
        </p:txBody>
      </p:sp>
      <p:sp>
        <p:nvSpPr>
          <p:cNvPr id="24" name="Oval 23"/>
          <p:cNvSpPr/>
          <p:nvPr/>
        </p:nvSpPr>
        <p:spPr>
          <a:xfrm>
            <a:off x="7029467" y="3684674"/>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29467" y="3684674"/>
            <a:ext cx="365760" cy="365760"/>
          </a:xfrm>
          <a:prstGeom prst="rect">
            <a:avLst/>
          </a:prstGeom>
          <a:noFill/>
        </p:spPr>
        <p:txBody>
          <a:bodyPr wrap="square">
            <a:spAutoFit/>
          </a:bodyPr>
          <a:lstStyle/>
          <a:p>
            <a:pPr algn="ctr">
              <a:defRPr sz="1400" b="1">
                <a:solidFill>
                  <a:srgbClr val="FFFFFF"/>
                </a:solidFill>
                <a:latin typeface="Calibri"/>
              </a:defRPr>
            </a:pPr>
            <a:r>
              <a:t>4</a:t>
            </a:r>
          </a:p>
        </p:txBody>
      </p:sp>
      <p:sp>
        <p:nvSpPr>
          <p:cNvPr id="26" name="TextBox 25"/>
          <p:cNvSpPr txBox="1"/>
          <p:nvPr/>
        </p:nvSpPr>
        <p:spPr>
          <a:xfrm>
            <a:off x="7440947" y="3684674"/>
            <a:ext cx="1599675"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Volume Grows</a:t>
            </a:r>
          </a:p>
        </p:txBody>
      </p:sp>
      <p:sp>
        <p:nvSpPr>
          <p:cNvPr id="27" name="TextBox 26"/>
          <p:cNvSpPr txBox="1"/>
          <p:nvPr/>
        </p:nvSpPr>
        <p:spPr>
          <a:xfrm>
            <a:off x="7440947" y="4004714"/>
            <a:ext cx="1599675" cy="430887"/>
          </a:xfrm>
          <a:prstGeom prst="rect">
            <a:avLst/>
          </a:prstGeom>
          <a:noFill/>
        </p:spPr>
        <p:txBody>
          <a:bodyPr wrap="square">
            <a:spAutoFit/>
          </a:bodyPr>
          <a:lstStyle/>
          <a:p>
            <a:pPr algn="l">
              <a:defRPr sz="1100" b="0">
                <a:solidFill>
                  <a:srgbClr val="333333"/>
                </a:solidFill>
                <a:latin typeface="Calibri"/>
              </a:defRPr>
            </a:pPr>
            <a:r>
              <a:t>More FIs want in</a:t>
            </a:r>
            <a:br/>
            <a:r>
              <a:t>costs decrease</a:t>
            </a:r>
          </a:p>
        </p:txBody>
      </p:sp>
      <p:sp>
        <p:nvSpPr>
          <p:cNvPr id="28" name="Rounded Rectangle 27"/>
          <p:cNvSpPr/>
          <p:nvPr/>
        </p:nvSpPr>
        <p:spPr>
          <a:xfrm>
            <a:off x="9267646" y="4332607"/>
            <a:ext cx="2118360"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04806" y="4424047"/>
            <a:ext cx="365760" cy="365760"/>
          </a:xfrm>
          <a:prstGeom prst="rect">
            <a:avLst/>
          </a:prstGeom>
          <a:noFill/>
        </p:spPr>
        <p:txBody>
          <a:bodyPr wrap="square">
            <a:spAutoFit/>
          </a:bodyPr>
          <a:lstStyle/>
          <a:p>
            <a:pPr algn="ctr">
              <a:defRPr sz="1600" b="1">
                <a:solidFill>
                  <a:srgbClr val="FFFFFF"/>
                </a:solidFill>
                <a:latin typeface="Calibri"/>
              </a:defRPr>
            </a:pPr>
            <a:r>
              <a:t>5</a:t>
            </a:r>
          </a:p>
        </p:txBody>
      </p:sp>
      <p:sp>
        <p:nvSpPr>
          <p:cNvPr id="30" name="Oval 29"/>
          <p:cNvSpPr/>
          <p:nvPr/>
        </p:nvSpPr>
        <p:spPr>
          <a:xfrm>
            <a:off x="9359086" y="4424047"/>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59086" y="4424047"/>
            <a:ext cx="365760" cy="365760"/>
          </a:xfrm>
          <a:prstGeom prst="rect">
            <a:avLst/>
          </a:prstGeom>
          <a:noFill/>
        </p:spPr>
        <p:txBody>
          <a:bodyPr wrap="square">
            <a:spAutoFit/>
          </a:bodyPr>
          <a:lstStyle/>
          <a:p>
            <a:pPr algn="ctr">
              <a:defRPr sz="1400" b="1">
                <a:solidFill>
                  <a:srgbClr val="FFFFFF"/>
                </a:solidFill>
                <a:latin typeface="Calibri"/>
              </a:defRPr>
            </a:pPr>
            <a:r>
              <a:t>5</a:t>
            </a:r>
          </a:p>
        </p:txBody>
      </p:sp>
      <p:sp>
        <p:nvSpPr>
          <p:cNvPr id="32" name="TextBox 31"/>
          <p:cNvSpPr txBox="1"/>
          <p:nvPr/>
        </p:nvSpPr>
        <p:spPr>
          <a:xfrm>
            <a:off x="9770566" y="4424047"/>
            <a:ext cx="228600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Cycle Accelerates</a:t>
            </a:r>
          </a:p>
        </p:txBody>
      </p:sp>
      <p:sp>
        <p:nvSpPr>
          <p:cNvPr id="33" name="TextBox 32"/>
          <p:cNvSpPr txBox="1"/>
          <p:nvPr/>
        </p:nvSpPr>
        <p:spPr>
          <a:xfrm>
            <a:off x="9770566" y="4744087"/>
            <a:ext cx="1457785" cy="430887"/>
          </a:xfrm>
          <a:prstGeom prst="rect">
            <a:avLst/>
          </a:prstGeom>
          <a:noFill/>
        </p:spPr>
        <p:txBody>
          <a:bodyPr wrap="square">
            <a:spAutoFit/>
          </a:bodyPr>
          <a:lstStyle/>
          <a:p>
            <a:pPr algn="l">
              <a:defRPr sz="1100" b="0">
                <a:solidFill>
                  <a:srgbClr val="333333"/>
                </a:solidFill>
                <a:latin typeface="Calibri"/>
              </a:defRPr>
            </a:pPr>
            <a:r>
              <a:t>Network effects</a:t>
            </a:r>
            <a:br/>
            <a:r>
              <a:t>compound</a:t>
            </a:r>
          </a:p>
        </p:txBody>
      </p:sp>
      <p:sp>
        <p:nvSpPr>
          <p:cNvPr id="34" name="Rounded Rectangle 33"/>
          <p:cNvSpPr/>
          <p:nvPr/>
        </p:nvSpPr>
        <p:spPr>
          <a:xfrm>
            <a:off x="1389167" y="5471555"/>
            <a:ext cx="770078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2060"/>
              </a:solidFill>
            </a:endParaRPr>
          </a:p>
        </p:txBody>
      </p:sp>
      <p:sp>
        <p:nvSpPr>
          <p:cNvPr id="35" name="TextBox 34"/>
          <p:cNvSpPr txBox="1"/>
          <p:nvPr/>
        </p:nvSpPr>
        <p:spPr>
          <a:xfrm>
            <a:off x="1754927" y="5533041"/>
            <a:ext cx="7240050" cy="543739"/>
          </a:xfrm>
          <a:prstGeom prst="rect">
            <a:avLst/>
          </a:prstGeom>
          <a:noFill/>
        </p:spPr>
        <p:txBody>
          <a:bodyPr wrap="square">
            <a:spAutoFit/>
          </a:bodyPr>
          <a:lstStyle/>
          <a:p>
            <a:pPr algn="l">
              <a:spcAft>
                <a:spcPts val="400"/>
              </a:spcAft>
              <a:defRPr sz="1400" b="1">
                <a:solidFill>
                  <a:srgbClr val="FF6600"/>
                </a:solidFill>
                <a:latin typeface="Calibri"/>
              </a:defRPr>
            </a:pPr>
            <a:r>
              <a:rPr dirty="0"/>
              <a:t>Seed Strategy: Merchant &amp; consumer acceptance is still TBD — lead with early-mover verticals (cross-border, faster settlement, gaming) to build volume, learn, and optimize. Fiserv's own merchant disbursements prime the flywheel.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5224"/>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Architecture</a:t>
            </a:r>
          </a:p>
        </p:txBody>
      </p:sp>
      <p:sp>
        <p:nvSpPr>
          <p:cNvPr id="4" name="TextBox 3"/>
          <p:cNvSpPr txBox="1"/>
          <p:nvPr/>
        </p:nvSpPr>
        <p:spPr>
          <a:xfrm>
            <a:off x="731520" y="873864"/>
            <a:ext cx="10058400" cy="365760"/>
          </a:xfrm>
          <a:prstGeom prst="rect">
            <a:avLst/>
          </a:prstGeom>
          <a:noFill/>
        </p:spPr>
        <p:txBody>
          <a:bodyPr wrap="square">
            <a:spAutoFit/>
          </a:bodyPr>
          <a:lstStyle/>
          <a:p>
            <a:pPr algn="l">
              <a:defRPr sz="1300" b="0">
                <a:solidFill>
                  <a:srgbClr val="9B9B9B"/>
                </a:solidFill>
                <a:latin typeface="Calibri"/>
              </a:defRPr>
            </a:pPr>
            <a:r>
              <a:rPr dirty="0"/>
              <a:t>Layered approach behind Fiserv-owned abstraction layer — delivered as a white-label wallet for FIs &amp; merchants (not a Fiserv-consumer brand)</a:t>
            </a:r>
          </a:p>
        </p:txBody>
      </p:sp>
      <p:sp>
        <p:nvSpPr>
          <p:cNvPr id="5" name="Rounded Rectangle 4"/>
          <p:cNvSpPr/>
          <p:nvPr/>
        </p:nvSpPr>
        <p:spPr>
          <a:xfrm>
            <a:off x="3200400" y="1463040"/>
            <a:ext cx="5760720" cy="7315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0" y="1645920"/>
            <a:ext cx="5760720" cy="548640"/>
          </a:xfrm>
          <a:prstGeom prst="rect">
            <a:avLst/>
          </a:prstGeom>
          <a:noFill/>
        </p:spPr>
        <p:txBody>
          <a:bodyPr wrap="square">
            <a:spAutoFit/>
          </a:bodyPr>
          <a:lstStyle/>
          <a:p>
            <a:pPr algn="ctr">
              <a:defRPr sz="1600" b="1">
                <a:solidFill>
                  <a:srgbClr val="FFFFFF"/>
                </a:solidFill>
                <a:latin typeface="Calibri"/>
              </a:defRPr>
            </a:pPr>
            <a:r>
              <a:rPr dirty="0"/>
              <a:t>Fiserv White-Label Wallet  —  for FIs &amp; Merchants</a:t>
            </a:r>
          </a:p>
        </p:txBody>
      </p:sp>
      <p:sp>
        <p:nvSpPr>
          <p:cNvPr id="7" name="Rounded Rectangle 6"/>
          <p:cNvSpPr/>
          <p:nvPr/>
        </p:nvSpPr>
        <p:spPr>
          <a:xfrm>
            <a:off x="2286000" y="2468880"/>
            <a:ext cx="758952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000080"/>
              </a:highlight>
            </a:endParaRPr>
          </a:p>
        </p:txBody>
      </p:sp>
      <p:sp>
        <p:nvSpPr>
          <p:cNvPr id="8" name="TextBox 7"/>
          <p:cNvSpPr txBox="1"/>
          <p:nvPr/>
        </p:nvSpPr>
        <p:spPr>
          <a:xfrm>
            <a:off x="2286000" y="2641963"/>
            <a:ext cx="7589520" cy="457200"/>
          </a:xfrm>
          <a:prstGeom prst="rect">
            <a:avLst/>
          </a:prstGeom>
          <a:noFill/>
        </p:spPr>
        <p:txBody>
          <a:bodyPr wrap="square">
            <a:spAutoFit/>
          </a:bodyPr>
          <a:lstStyle/>
          <a:p>
            <a:pPr algn="ctr">
              <a:defRPr sz="1400" b="1">
                <a:solidFill>
                  <a:srgbClr val="FFFFFF"/>
                </a:solidFill>
                <a:latin typeface="Calibri"/>
              </a:defRPr>
            </a:pPr>
            <a:r>
              <a:rPr dirty="0"/>
              <a:t>CommerceHub Crypto Orchestration Layer</a:t>
            </a:r>
          </a:p>
        </p:txBody>
      </p:sp>
      <p:sp>
        <p:nvSpPr>
          <p:cNvPr id="9" name="Rounded Rectangle 8"/>
          <p:cNvSpPr/>
          <p:nvPr/>
        </p:nvSpPr>
        <p:spPr>
          <a:xfrm>
            <a:off x="91440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Coinbase </a:t>
            </a:r>
            <a:r>
              <a:rPr dirty="0" err="1">
                <a:solidFill>
                  <a:srgbClr val="002060"/>
                </a:solidFill>
              </a:rPr>
              <a:t>WaaS</a:t>
            </a:r>
            <a:r>
              <a:rPr dirty="0">
                <a:solidFill>
                  <a:srgbClr val="002060"/>
                </a:solidFill>
              </a:rPr>
              <a:t> + CDP</a:t>
            </a:r>
          </a:p>
        </p:txBody>
      </p:sp>
      <p:sp>
        <p:nvSpPr>
          <p:cNvPr id="11" name="Rounded Rectangle 10"/>
          <p:cNvSpPr/>
          <p:nvPr/>
        </p:nvSpPr>
        <p:spPr>
          <a:xfrm>
            <a:off x="164592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45920" y="3858768"/>
            <a:ext cx="1737360" cy="274320"/>
          </a:xfrm>
          <a:prstGeom prst="rect">
            <a:avLst/>
          </a:prstGeom>
          <a:noFill/>
        </p:spPr>
        <p:txBody>
          <a:bodyPr wrap="square">
            <a:spAutoFit/>
          </a:bodyPr>
          <a:lstStyle/>
          <a:p>
            <a:pPr algn="ctr">
              <a:defRPr sz="1000" b="1">
                <a:solidFill>
                  <a:srgbClr val="FFFFFF"/>
                </a:solidFill>
                <a:latin typeface="Calibri"/>
              </a:defRPr>
            </a:pPr>
            <a:r>
              <a:t>PRIMARY</a:t>
            </a:r>
          </a:p>
        </p:txBody>
      </p:sp>
      <p:sp>
        <p:nvSpPr>
          <p:cNvPr id="13" name="TextBox 12"/>
          <p:cNvSpPr txBox="1"/>
          <p:nvPr/>
        </p:nvSpPr>
        <p:spPr>
          <a:xfrm>
            <a:off x="1097280" y="4251960"/>
            <a:ext cx="2834640" cy="1463040"/>
          </a:xfrm>
          <a:prstGeom prst="rect">
            <a:avLst/>
          </a:prstGeom>
          <a:noFill/>
        </p:spPr>
        <p:txBody>
          <a:bodyPr wrap="square">
            <a:spAutoFit/>
          </a:bodyPr>
          <a:lstStyle/>
          <a:p>
            <a:pPr algn="ctr">
              <a:defRPr sz="1100" b="0">
                <a:solidFill>
                  <a:srgbClr val="333333"/>
                </a:solidFill>
                <a:latin typeface="Calibri"/>
              </a:defRPr>
            </a:pPr>
            <a:r>
              <a:t>White-label MPC wallets • x402 creator • ~$300B AUC, SOC 1+2 • 700+ wallets via WalletConnect</a:t>
            </a:r>
            <a:br/>
            <a:r>
              <a:t/>
            </a:r>
            <a:br/>
            <a:r>
              <a:t/>
            </a:r>
            <a:br/>
            <a:r>
              <a:t/>
            </a:r>
          </a:p>
        </p:txBody>
      </p:sp>
      <p:sp>
        <p:nvSpPr>
          <p:cNvPr id="14" name="Rounded Rectangle 13"/>
          <p:cNvSpPr/>
          <p:nvPr/>
        </p:nvSpPr>
        <p:spPr>
          <a:xfrm>
            <a:off x="475488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Mesh Pay</a:t>
            </a:r>
          </a:p>
        </p:txBody>
      </p:sp>
      <p:sp>
        <p:nvSpPr>
          <p:cNvPr id="16" name="Rounded Rectangle 15"/>
          <p:cNvSpPr/>
          <p:nvPr/>
        </p:nvSpPr>
        <p:spPr>
          <a:xfrm>
            <a:off x="548640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0" y="3858768"/>
            <a:ext cx="1737360" cy="274320"/>
          </a:xfrm>
          <a:prstGeom prst="rect">
            <a:avLst/>
          </a:prstGeom>
          <a:noFill/>
        </p:spPr>
        <p:txBody>
          <a:bodyPr wrap="square">
            <a:spAutoFit/>
          </a:bodyPr>
          <a:lstStyle/>
          <a:p>
            <a:pPr algn="ctr">
              <a:defRPr sz="1000" b="1">
                <a:solidFill>
                  <a:srgbClr val="FFFFFF"/>
                </a:solidFill>
                <a:latin typeface="Calibri"/>
              </a:defRPr>
            </a:pPr>
            <a:r>
              <a:t>REACH</a:t>
            </a:r>
          </a:p>
        </p:txBody>
      </p:sp>
      <p:sp>
        <p:nvSpPr>
          <p:cNvPr id="18" name="TextBox 17"/>
          <p:cNvSpPr txBox="1"/>
          <p:nvPr/>
        </p:nvSpPr>
        <p:spPr>
          <a:xfrm>
            <a:off x="4937760" y="4251960"/>
            <a:ext cx="2834640" cy="1463040"/>
          </a:xfrm>
          <a:prstGeom prst="rect">
            <a:avLst/>
          </a:prstGeom>
          <a:noFill/>
        </p:spPr>
        <p:txBody>
          <a:bodyPr wrap="square">
            <a:spAutoFit/>
          </a:bodyPr>
          <a:lstStyle/>
          <a:p>
            <a:pPr algn="ctr">
              <a:defRPr sz="1100" b="0">
                <a:solidFill>
                  <a:srgbClr val="333333"/>
                </a:solidFill>
                <a:latin typeface="Calibri"/>
              </a:defRPr>
            </a:pPr>
            <a:r>
              <a:t>300+ wallet/exchange integrations</a:t>
            </a:r>
            <a:br/>
            <a:r>
              <a:t>SmartFunding (patent-pending)</a:t>
            </a:r>
            <a:br/>
            <a:r>
              <a:t>Apple Pay bridge</a:t>
            </a:r>
            <a:br/>
            <a:r>
              <a:t>45+ countries via Shift4</a:t>
            </a:r>
          </a:p>
        </p:txBody>
      </p:sp>
      <p:sp>
        <p:nvSpPr>
          <p:cNvPr id="19" name="Rounded Rectangle 18"/>
          <p:cNvSpPr/>
          <p:nvPr/>
        </p:nvSpPr>
        <p:spPr>
          <a:xfrm>
            <a:off x="859536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0" y="3474720"/>
            <a:ext cx="2834640" cy="307777"/>
          </a:xfrm>
          <a:prstGeom prst="rect">
            <a:avLst/>
          </a:prstGeom>
          <a:noFill/>
        </p:spPr>
        <p:txBody>
          <a:bodyPr wrap="square">
            <a:spAutoFit/>
          </a:bodyPr>
          <a:lstStyle/>
          <a:p>
            <a:pPr algn="ctr">
              <a:defRPr sz="1400" b="1">
                <a:solidFill>
                  <a:srgbClr val="003B5C"/>
                </a:solidFill>
                <a:latin typeface="Calibri"/>
              </a:defRPr>
            </a:pPr>
            <a:r>
              <a:rPr>
                <a:solidFill>
                  <a:srgbClr val="002060"/>
                </a:solidFill>
              </a:rPr>
              <a:t>Finxact + FIUSD + INDX</a:t>
            </a:r>
          </a:p>
        </p:txBody>
      </p:sp>
      <p:sp>
        <p:nvSpPr>
          <p:cNvPr id="21" name="Rounded Rectangle 20"/>
          <p:cNvSpPr/>
          <p:nvPr/>
        </p:nvSpPr>
        <p:spPr>
          <a:xfrm>
            <a:off x="932688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0" y="3858768"/>
            <a:ext cx="1737360" cy="274320"/>
          </a:xfrm>
          <a:prstGeom prst="rect">
            <a:avLst/>
          </a:prstGeom>
          <a:noFill/>
        </p:spPr>
        <p:txBody>
          <a:bodyPr wrap="square">
            <a:spAutoFit/>
          </a:bodyPr>
          <a:lstStyle/>
          <a:p>
            <a:pPr algn="ctr">
              <a:defRPr sz="1000" b="1">
                <a:solidFill>
                  <a:srgbClr val="FFFFFF"/>
                </a:solidFill>
                <a:latin typeface="Calibri"/>
              </a:defRPr>
            </a:pPr>
            <a:r>
              <a:t>OWNED FALLBACK</a:t>
            </a:r>
          </a:p>
        </p:txBody>
      </p:sp>
      <p:sp>
        <p:nvSpPr>
          <p:cNvPr id="23" name="TextBox 22"/>
          <p:cNvSpPr txBox="1"/>
          <p:nvPr/>
        </p:nvSpPr>
        <p:spPr>
          <a:xfrm>
            <a:off x="8778240" y="4251960"/>
            <a:ext cx="2834640" cy="1463040"/>
          </a:xfrm>
          <a:prstGeom prst="rect">
            <a:avLst/>
          </a:prstGeom>
          <a:noFill/>
        </p:spPr>
        <p:txBody>
          <a:bodyPr wrap="square">
            <a:spAutoFit/>
          </a:bodyPr>
          <a:lstStyle/>
          <a:p>
            <a:pPr algn="ctr">
              <a:defRPr sz="1100" b="0">
                <a:solidFill>
                  <a:srgbClr val="333333"/>
                </a:solidFill>
                <a:latin typeface="Calibri"/>
              </a:defRPr>
            </a:pPr>
            <a:r>
              <a:t>Native wallet ledger</a:t>
            </a:r>
            <a:br/>
            <a:r>
              <a:t>FIUSD stablecoin</a:t>
            </a:r>
            <a:br/>
            <a:r>
              <a:t>$25M FDIC insurance</a:t>
            </a:r>
            <a:br/>
            <a:r>
              <a:t>Clover in-store path</a:t>
            </a:r>
          </a:p>
        </p:txBody>
      </p:sp>
      <p:sp>
        <p:nvSpPr>
          <p:cNvPr id="24" name="TextBox 23"/>
          <p:cNvSpPr txBox="1"/>
          <p:nvPr/>
        </p:nvSpPr>
        <p:spPr>
          <a:xfrm>
            <a:off x="731520" y="6044499"/>
            <a:ext cx="10972800" cy="365760"/>
          </a:xfrm>
          <a:prstGeom prst="rect">
            <a:avLst/>
          </a:prstGeom>
          <a:noFill/>
        </p:spPr>
        <p:txBody>
          <a:bodyPr wrap="square">
            <a:spAutoFit/>
          </a:bodyPr>
          <a:lstStyle/>
          <a:p>
            <a:pPr algn="ctr">
              <a:defRPr sz="1100" b="0">
                <a:solidFill>
                  <a:srgbClr val="9B9B9B"/>
                </a:solidFill>
                <a:latin typeface="Calibri"/>
              </a:defRPr>
            </a:pPr>
            <a:r>
              <a:t>Design Principles:  No provider &gt;40% volume  |  90-day termination clauses  |  Card-rail fallback on every transaction  |  Circuit breaker on depeg</a:t>
            </a:r>
          </a:p>
        </p:txBody>
      </p:sp>
      <p:sp>
        <p:nvSpPr>
          <p:cNvPr id="25" name="Rectangle 24"/>
          <p:cNvSpPr/>
          <p:nvPr/>
        </p:nvSpPr>
        <p:spPr>
          <a:xfrm>
            <a:off x="731520" y="4892040"/>
            <a:ext cx="10698480" cy="292608"/>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10328"/>
            <a:ext cx="10332720" cy="274320"/>
          </a:xfrm>
          <a:prstGeom prst="rect">
            <a:avLst/>
          </a:prstGeom>
          <a:noFill/>
        </p:spPr>
        <p:txBody>
          <a:bodyPr wrap="square" lIns="0" rIns="0" tIns="0" bIns="0">
            <a:spAutoFit/>
          </a:bodyPr>
          <a:lstStyle/>
          <a:p>
            <a:pPr algn="l"/>
            <a:r>
              <a:rPr sz="1200" b="1">
                <a:solidFill>
                  <a:srgbClr val="FFFFFF"/>
                </a:solidFill>
                <a:latin typeface="Calibri"/>
              </a:rPr>
              <a:t>Why both Coinbase + Mesh?  Overlap is smaller than it looks.</a:t>
            </a:r>
          </a:p>
        </p:txBody>
      </p:sp>
      <p:sp>
        <p:nvSpPr>
          <p:cNvPr id="27" name="TextBox 26"/>
          <p:cNvSpPr txBox="1"/>
          <p:nvPr/>
        </p:nvSpPr>
        <p:spPr>
          <a:xfrm>
            <a:off x="731520" y="5230368"/>
            <a:ext cx="10698480" cy="777240"/>
          </a:xfrm>
          <a:prstGeom prst="rect">
            <a:avLst/>
          </a:prstGeom>
          <a:noFill/>
        </p:spPr>
        <p:txBody>
          <a:bodyPr wrap="square" lIns="0" rIns="0" tIns="0" bIns="0">
            <a:spAutoFit/>
          </a:bodyPr>
          <a:lstStyle/>
          <a:p>
            <a:pPr algn="l"/>
            <a:r>
              <a:rPr sz="1000" b="0">
                <a:solidFill>
                  <a:srgbClr val="333333"/>
                </a:solidFill>
                <a:latin typeface="Calibri"/>
              </a:rPr>
              <a:t>Overlap (~300 wallets):  Both use WalletConnect registry — same self-custody wallet set (MetaMask, Trust, Rainbow, etc.) available through either provider.</a:t>
            </a:r>
          </a:p>
          <a:p>
            <a:pPr algn="l"/>
            <a:r>
              <a:rPr sz="1000" b="0">
                <a:solidFill>
                  <a:srgbClr val="333333"/>
                </a:solidFill>
                <a:latin typeface="Calibri"/>
              </a:rPr>
              <a:t>Coinbase uniquely adds:  first-party custodial accounts, MPC/WaaS issuance, CDP onramp in 100+ countries, SOC 1+2 Type II, native x402 rails.</a:t>
            </a:r>
          </a:p>
          <a:p>
            <a:pPr algn="l"/>
            <a:r>
              <a:rPr sz="1000" b="0">
                <a:solidFill>
                  <a:srgbClr val="333333"/>
                </a:solidFill>
                <a:latin typeface="Calibri"/>
              </a:rPr>
              <a:t>Mesh uniquely adds:  CEX deposit rails (PayPal, Binance.US, Kraken, Bybit, Gemini) — direct connection to custodial exchange balances Coinbase cannot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365760"/>
          </a:xfrm>
          <a:prstGeom prst="rect">
            <a:avLst/>
          </a:prstGeom>
          <a:noFill/>
        </p:spPr>
        <p:txBody>
          <a:bodyPr wrap="square" lIns="0" rIns="0" tIns="0" bIns="0">
            <a:spAutoFit/>
          </a:bodyPr>
          <a:lstStyle/>
          <a:p>
            <a:pPr algn="l"/>
            <a:r>
              <a:rPr sz="2200" b="1">
                <a:solidFill>
                  <a:srgbClr val="FFFFFF"/>
                </a:solidFill>
                <a:latin typeface="Calibri"/>
              </a:rPr>
              <a:t>Partner Value in Merchant Acquiring</a:t>
            </a:r>
          </a:p>
        </p:txBody>
      </p:sp>
      <p:sp>
        <p:nvSpPr>
          <p:cNvPr id="4" name="TextBox 3"/>
          <p:cNvSpPr txBox="1"/>
          <p:nvPr/>
        </p:nvSpPr>
        <p:spPr>
          <a:xfrm>
            <a:off x="548640" y="594360"/>
            <a:ext cx="10972800" cy="274320"/>
          </a:xfrm>
          <a:prstGeom prst="rect">
            <a:avLst/>
          </a:prstGeom>
          <a:noFill/>
        </p:spPr>
        <p:txBody>
          <a:bodyPr wrap="square" lIns="0" rIns="0" tIns="0" bIns="0">
            <a:spAutoFit/>
          </a:bodyPr>
          <a:lstStyle/>
          <a:p>
            <a:pPr algn="l"/>
            <a:r>
              <a:rPr sz="1100" b="0">
                <a:solidFill>
                  <a:srgbClr val="F2F2F2"/>
                </a:solidFill>
                <a:latin typeface="Calibri"/>
              </a:rPr>
              <a:t>TPV, distribution partners, and merchant-acceptance proof points — to size Fiserv-relevant revenue per provider</a:t>
            </a:r>
          </a:p>
        </p:txBody>
      </p:sp>
      <p:sp>
        <p:nvSpPr>
          <p:cNvPr id="5" name="Rounded Rectangle 4"/>
          <p:cNvSpPr/>
          <p:nvPr/>
        </p:nvSpPr>
        <p:spPr>
          <a:xfrm>
            <a:off x="50292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2377440" cy="365760"/>
          </a:xfrm>
          <a:prstGeom prst="rect">
            <a:avLst/>
          </a:prstGeom>
          <a:noFill/>
        </p:spPr>
        <p:txBody>
          <a:bodyPr wrap="square" lIns="0" rIns="0" tIns="0" bIns="0">
            <a:spAutoFit/>
          </a:bodyPr>
          <a:lstStyle/>
          <a:p>
            <a:pPr algn="l"/>
            <a:r>
              <a:rPr sz="1600" b="1">
                <a:solidFill>
                  <a:srgbClr val="003B5C"/>
                </a:solidFill>
                <a:latin typeface="Calibri"/>
              </a:rPr>
              <a:t>Coinbase</a:t>
            </a:r>
          </a:p>
        </p:txBody>
      </p:sp>
      <p:sp>
        <p:nvSpPr>
          <p:cNvPr id="7" name="Rounded Rectangle 6"/>
          <p:cNvSpPr/>
          <p:nvPr/>
        </p:nvSpPr>
        <p:spPr>
          <a:xfrm>
            <a:off x="685800" y="1691640"/>
            <a:ext cx="1920240" cy="2743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09928"/>
            <a:ext cx="1920240" cy="274320"/>
          </a:xfrm>
          <a:prstGeom prst="rect">
            <a:avLst/>
          </a:prstGeom>
          <a:noFill/>
        </p:spPr>
        <p:txBody>
          <a:bodyPr wrap="square" lIns="0" rIns="0" tIns="0" bIns="0">
            <a:spAutoFit/>
          </a:bodyPr>
          <a:lstStyle/>
          <a:p>
            <a:pPr algn="ctr"/>
            <a:r>
              <a:rPr sz="900" b="1">
                <a:solidFill>
                  <a:srgbClr val="FFFFFF"/>
                </a:solidFill>
                <a:latin typeface="Calibri"/>
              </a:rPr>
              <a:t>RECOMMENDED</a:t>
            </a:r>
          </a:p>
        </p:txBody>
      </p:sp>
      <p:sp>
        <p:nvSpPr>
          <p:cNvPr id="9" name="TextBox 8"/>
          <p:cNvSpPr txBox="1"/>
          <p:nvPr/>
        </p:nvSpPr>
        <p:spPr>
          <a:xfrm>
            <a:off x="685800" y="2103120"/>
            <a:ext cx="2377440" cy="228600"/>
          </a:xfrm>
          <a:prstGeom prst="rect">
            <a:avLst/>
          </a:prstGeom>
          <a:noFill/>
        </p:spPr>
        <p:txBody>
          <a:bodyPr wrap="square" lIns="0" rIns="0" tIns="0" bIns="0">
            <a:spAutoFit/>
          </a:bodyPr>
          <a:lstStyle/>
          <a:p>
            <a:pPr algn="l"/>
            <a:r>
              <a:rPr sz="900" b="1">
                <a:solidFill>
                  <a:srgbClr val="9B9B9B"/>
                </a:solidFill>
                <a:latin typeface="Calibri"/>
              </a:rPr>
              <a:t>CUSTODY / AUC</a:t>
            </a:r>
          </a:p>
        </p:txBody>
      </p:sp>
      <p:sp>
        <p:nvSpPr>
          <p:cNvPr id="10" name="TextBox 9"/>
          <p:cNvSpPr txBox="1"/>
          <p:nvPr/>
        </p:nvSpPr>
        <p:spPr>
          <a:xfrm>
            <a:off x="685800" y="2322576"/>
            <a:ext cx="2377440" cy="502920"/>
          </a:xfrm>
          <a:prstGeom prst="rect">
            <a:avLst/>
          </a:prstGeom>
          <a:noFill/>
        </p:spPr>
        <p:txBody>
          <a:bodyPr wrap="square" lIns="0" rIns="0" tIns="0" bIns="0">
            <a:spAutoFit/>
          </a:bodyPr>
          <a:lstStyle/>
          <a:p>
            <a:pPr algn="l"/>
            <a:r>
              <a:rPr sz="1000" b="0">
                <a:solidFill>
                  <a:srgbClr val="333333"/>
                </a:solidFill>
                <a:latin typeface="Calibri"/>
              </a:rPr>
              <a:t>~$245B AUC (Jun 2025, Coinbase Institutional); &gt;80% of digital-asset ETFs</a:t>
            </a:r>
          </a:p>
        </p:txBody>
      </p:sp>
      <p:sp>
        <p:nvSpPr>
          <p:cNvPr id="11" name="TextBox 10"/>
          <p:cNvSpPr txBox="1"/>
          <p:nvPr/>
        </p:nvSpPr>
        <p:spPr>
          <a:xfrm>
            <a:off x="68580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12" name="TextBox 11"/>
          <p:cNvSpPr txBox="1"/>
          <p:nvPr/>
        </p:nvSpPr>
        <p:spPr>
          <a:xfrm>
            <a:off x="685800" y="3072384"/>
            <a:ext cx="2377440" cy="502920"/>
          </a:xfrm>
          <a:prstGeom prst="rect">
            <a:avLst/>
          </a:prstGeom>
          <a:noFill/>
        </p:spPr>
        <p:txBody>
          <a:bodyPr wrap="square" lIns="0" rIns="0" tIns="0" bIns="0">
            <a:spAutoFit/>
          </a:bodyPr>
          <a:lstStyle/>
          <a:p>
            <a:pPr algn="l"/>
            <a:r>
              <a:rPr sz="1000" b="0">
                <a:solidFill>
                  <a:srgbClr val="333333"/>
                </a:solidFill>
                <a:latin typeface="Calibri"/>
              </a:rPr>
              <a:t>Stripe (x402 USDC on Base, Feb 2026) • Shopify Payments USDC (Jun 2025) • AWS, Google, Visa</a:t>
            </a:r>
          </a:p>
        </p:txBody>
      </p:sp>
      <p:sp>
        <p:nvSpPr>
          <p:cNvPr id="13" name="TextBox 12"/>
          <p:cNvSpPr txBox="1"/>
          <p:nvPr/>
        </p:nvSpPr>
        <p:spPr>
          <a:xfrm>
            <a:off x="68580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14" name="TextBox 13"/>
          <p:cNvSpPr txBox="1"/>
          <p:nvPr/>
        </p:nvSpPr>
        <p:spPr>
          <a:xfrm>
            <a:off x="685800" y="3822192"/>
            <a:ext cx="2377440" cy="502920"/>
          </a:xfrm>
          <a:prstGeom prst="rect">
            <a:avLst/>
          </a:prstGeom>
          <a:noFill/>
        </p:spPr>
        <p:txBody>
          <a:bodyPr wrap="square" lIns="0" rIns="0" tIns="0" bIns="0">
            <a:spAutoFit/>
          </a:bodyPr>
          <a:lstStyle/>
          <a:p>
            <a:pPr algn="l"/>
            <a:r>
              <a:rPr sz="1000" b="0">
                <a:solidFill>
                  <a:srgbClr val="333333"/>
                </a:solidFill>
                <a:latin typeface="Calibri"/>
              </a:rPr>
              <a:t>Shopify merchants (millions) via USDC on Base; Coinbase Commerce thousands of merchants</a:t>
            </a:r>
          </a:p>
        </p:txBody>
      </p:sp>
      <p:sp>
        <p:nvSpPr>
          <p:cNvPr id="15" name="TextBox 14"/>
          <p:cNvSpPr txBox="1"/>
          <p:nvPr/>
        </p:nvSpPr>
        <p:spPr>
          <a:xfrm>
            <a:off x="68580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16" name="TextBox 15"/>
          <p:cNvSpPr txBox="1"/>
          <p:nvPr/>
        </p:nvSpPr>
        <p:spPr>
          <a:xfrm>
            <a:off x="685800" y="4572000"/>
            <a:ext cx="2377440" cy="502920"/>
          </a:xfrm>
          <a:prstGeom prst="rect">
            <a:avLst/>
          </a:prstGeom>
          <a:noFill/>
        </p:spPr>
        <p:txBody>
          <a:bodyPr wrap="square" lIns="0" rIns="0" tIns="0" bIns="0">
            <a:spAutoFit/>
          </a:bodyPr>
          <a:lstStyle/>
          <a:p>
            <a:pPr algn="l"/>
            <a:r>
              <a:rPr sz="1000" b="0">
                <a:solidFill>
                  <a:srgbClr val="333333"/>
                </a:solidFill>
                <a:latin typeface="Calibri"/>
              </a:rPr>
              <a:t>Existing Fiserv customer; x402 founding member alongside Fiserv</a:t>
            </a:r>
          </a:p>
        </p:txBody>
      </p:sp>
      <p:sp>
        <p:nvSpPr>
          <p:cNvPr id="17" name="Rounded Rectangle 16"/>
          <p:cNvSpPr/>
          <p:nvPr/>
        </p:nvSpPr>
        <p:spPr>
          <a:xfrm>
            <a:off x="338328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280160"/>
            <a:ext cx="2377440" cy="365760"/>
          </a:xfrm>
          <a:prstGeom prst="rect">
            <a:avLst/>
          </a:prstGeom>
          <a:noFill/>
        </p:spPr>
        <p:txBody>
          <a:bodyPr wrap="square" lIns="0" rIns="0" tIns="0" bIns="0">
            <a:spAutoFit/>
          </a:bodyPr>
          <a:lstStyle/>
          <a:p>
            <a:pPr algn="l"/>
            <a:r>
              <a:rPr sz="1600" b="1">
                <a:solidFill>
                  <a:srgbClr val="003B5C"/>
                </a:solidFill>
                <a:latin typeface="Calibri"/>
              </a:rPr>
              <a:t>Mesh</a:t>
            </a:r>
          </a:p>
        </p:txBody>
      </p:sp>
      <p:sp>
        <p:nvSpPr>
          <p:cNvPr id="19" name="Rounded Rectangle 18"/>
          <p:cNvSpPr/>
          <p:nvPr/>
        </p:nvSpPr>
        <p:spPr>
          <a:xfrm>
            <a:off x="3566160" y="1691640"/>
            <a:ext cx="1920240" cy="274320"/>
          </a:xfrm>
          <a:prstGeom prst="round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709928"/>
            <a:ext cx="1920240" cy="274320"/>
          </a:xfrm>
          <a:prstGeom prst="rect">
            <a:avLst/>
          </a:prstGeom>
          <a:noFill/>
        </p:spPr>
        <p:txBody>
          <a:bodyPr wrap="square" lIns="0" rIns="0" tIns="0" bIns="0">
            <a:spAutoFit/>
          </a:bodyPr>
          <a:lstStyle/>
          <a:p>
            <a:pPr algn="ctr"/>
            <a:r>
              <a:rPr sz="900" b="1">
                <a:solidFill>
                  <a:srgbClr val="FFFFFF"/>
                </a:solidFill>
                <a:latin typeface="Calibri"/>
              </a:rPr>
              <a:t>REACH / OPTION</a:t>
            </a:r>
          </a:p>
        </p:txBody>
      </p:sp>
      <p:sp>
        <p:nvSpPr>
          <p:cNvPr id="21" name="TextBox 20"/>
          <p:cNvSpPr txBox="1"/>
          <p:nvPr/>
        </p:nvSpPr>
        <p:spPr>
          <a:xfrm>
            <a:off x="356616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22" name="TextBox 21"/>
          <p:cNvSpPr txBox="1"/>
          <p:nvPr/>
        </p:nvSpPr>
        <p:spPr>
          <a:xfrm>
            <a:off x="3566160" y="2322576"/>
            <a:ext cx="2377440" cy="502920"/>
          </a:xfrm>
          <a:prstGeom prst="rect">
            <a:avLst/>
          </a:prstGeom>
          <a:noFill/>
        </p:spPr>
        <p:txBody>
          <a:bodyPr wrap="square" lIns="0" rIns="0" tIns="0" bIns="0">
            <a:spAutoFit/>
          </a:bodyPr>
          <a:lstStyle/>
          <a:p>
            <a:pPr algn="l"/>
            <a:r>
              <a:rPr sz="1000" b="0">
                <a:solidFill>
                  <a:srgbClr val="333333"/>
                </a:solidFill>
                <a:latin typeface="Calibri"/>
              </a:rPr>
              <a:t>$1B valuation (Jan 2026); &gt;$130M raised; 300+ wallet/exchange integrations</a:t>
            </a:r>
          </a:p>
        </p:txBody>
      </p:sp>
      <p:sp>
        <p:nvSpPr>
          <p:cNvPr id="23" name="TextBox 22"/>
          <p:cNvSpPr txBox="1"/>
          <p:nvPr/>
        </p:nvSpPr>
        <p:spPr>
          <a:xfrm>
            <a:off x="356616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24" name="TextBox 23"/>
          <p:cNvSpPr txBox="1"/>
          <p:nvPr/>
        </p:nvSpPr>
        <p:spPr>
          <a:xfrm>
            <a:off x="3566160" y="3072384"/>
            <a:ext cx="2377440" cy="502920"/>
          </a:xfrm>
          <a:prstGeom prst="rect">
            <a:avLst/>
          </a:prstGeom>
          <a:noFill/>
        </p:spPr>
        <p:txBody>
          <a:bodyPr wrap="square" lIns="0" rIns="0" tIns="0" bIns="0">
            <a:spAutoFit/>
          </a:bodyPr>
          <a:lstStyle/>
          <a:p>
            <a:pPr algn="l"/>
            <a:r>
              <a:rPr sz="1000" b="0">
                <a:solidFill>
                  <a:srgbClr val="333333"/>
                </a:solidFill>
                <a:latin typeface="Calibri"/>
              </a:rPr>
              <a:t>PayPal Ventures portfolio — powers 'Pay with Crypto' in PayPal checkout; MetaMask</a:t>
            </a:r>
          </a:p>
        </p:txBody>
      </p:sp>
      <p:sp>
        <p:nvSpPr>
          <p:cNvPr id="25" name="TextBox 24"/>
          <p:cNvSpPr txBox="1"/>
          <p:nvPr/>
        </p:nvSpPr>
        <p:spPr>
          <a:xfrm>
            <a:off x="356616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26" name="TextBox 25"/>
          <p:cNvSpPr txBox="1"/>
          <p:nvPr/>
        </p:nvSpPr>
        <p:spPr>
          <a:xfrm>
            <a:off x="3566160" y="3822192"/>
            <a:ext cx="2377440" cy="502920"/>
          </a:xfrm>
          <a:prstGeom prst="rect">
            <a:avLst/>
          </a:prstGeom>
          <a:noFill/>
        </p:spPr>
        <p:txBody>
          <a:bodyPr wrap="square" lIns="0" rIns="0" tIns="0" bIns="0">
            <a:spAutoFit/>
          </a:bodyPr>
          <a:lstStyle/>
          <a:p>
            <a:pPr algn="l"/>
            <a:r>
              <a:rPr sz="1000" b="0">
                <a:solidFill>
                  <a:srgbClr val="333333"/>
                </a:solidFill>
                <a:latin typeface="Calibri"/>
              </a:rPr>
              <a:t>Paxos deposits, MetaMask exchange aggregation; CEX rails (Binance, Kraken, Gemini)</a:t>
            </a:r>
          </a:p>
        </p:txBody>
      </p:sp>
      <p:sp>
        <p:nvSpPr>
          <p:cNvPr id="27" name="TextBox 26"/>
          <p:cNvSpPr txBox="1"/>
          <p:nvPr/>
        </p:nvSpPr>
        <p:spPr>
          <a:xfrm>
            <a:off x="356616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28" name="TextBox 27"/>
          <p:cNvSpPr txBox="1"/>
          <p:nvPr/>
        </p:nvSpPr>
        <p:spPr>
          <a:xfrm>
            <a:off x="3566160" y="4572000"/>
            <a:ext cx="2377440" cy="502920"/>
          </a:xfrm>
          <a:prstGeom prst="rect">
            <a:avLst/>
          </a:prstGeom>
          <a:noFill/>
        </p:spPr>
        <p:txBody>
          <a:bodyPr wrap="square" lIns="0" rIns="0" tIns="0" bIns="0">
            <a:spAutoFit/>
          </a:bodyPr>
          <a:lstStyle/>
          <a:p>
            <a:pPr algn="l"/>
            <a:r>
              <a:rPr sz="1000" b="0">
                <a:solidFill>
                  <a:srgbClr val="333333"/>
                </a:solidFill>
                <a:latin typeface="Calibri"/>
              </a:rPr>
              <a:t>Adds CEX custodial rails Coinbase cannot reach</a:t>
            </a:r>
          </a:p>
        </p:txBody>
      </p:sp>
      <p:sp>
        <p:nvSpPr>
          <p:cNvPr id="29" name="Rounded Rectangle 28"/>
          <p:cNvSpPr/>
          <p:nvPr/>
        </p:nvSpPr>
        <p:spPr>
          <a:xfrm>
            <a:off x="626364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1280160"/>
            <a:ext cx="2377440" cy="365760"/>
          </a:xfrm>
          <a:prstGeom prst="rect">
            <a:avLst/>
          </a:prstGeom>
          <a:noFill/>
        </p:spPr>
        <p:txBody>
          <a:bodyPr wrap="square" lIns="0" rIns="0" tIns="0" bIns="0">
            <a:spAutoFit/>
          </a:bodyPr>
          <a:lstStyle/>
          <a:p>
            <a:pPr algn="l"/>
            <a:r>
              <a:rPr sz="1600" b="1">
                <a:solidFill>
                  <a:srgbClr val="003B5C"/>
                </a:solidFill>
                <a:latin typeface="Calibri"/>
              </a:rPr>
              <a:t>Flexa</a:t>
            </a:r>
          </a:p>
        </p:txBody>
      </p:sp>
      <p:sp>
        <p:nvSpPr>
          <p:cNvPr id="31" name="Rounded Rectangle 30"/>
          <p:cNvSpPr/>
          <p:nvPr/>
        </p:nvSpPr>
        <p:spPr>
          <a:xfrm>
            <a:off x="6446520" y="1691640"/>
            <a:ext cx="1920240" cy="2743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709928"/>
            <a:ext cx="1920240" cy="274320"/>
          </a:xfrm>
          <a:prstGeom prst="rect">
            <a:avLst/>
          </a:prstGeom>
          <a:noFill/>
        </p:spPr>
        <p:txBody>
          <a:bodyPr wrap="square" lIns="0" rIns="0" tIns="0" bIns="0">
            <a:spAutoFit/>
          </a:bodyPr>
          <a:lstStyle/>
          <a:p>
            <a:pPr algn="ctr"/>
            <a:r>
              <a:rPr sz="900" b="1">
                <a:solidFill>
                  <a:srgbClr val="FFFFFF"/>
                </a:solidFill>
                <a:latin typeface="Calibri"/>
              </a:rPr>
              <a:t>VERTICAL PROOF</a:t>
            </a:r>
          </a:p>
        </p:txBody>
      </p:sp>
      <p:sp>
        <p:nvSpPr>
          <p:cNvPr id="33" name="TextBox 32"/>
          <p:cNvSpPr txBox="1"/>
          <p:nvPr/>
        </p:nvSpPr>
        <p:spPr>
          <a:xfrm>
            <a:off x="644652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34" name="TextBox 33"/>
          <p:cNvSpPr txBox="1"/>
          <p:nvPr/>
        </p:nvSpPr>
        <p:spPr>
          <a:xfrm>
            <a:off x="6446520" y="2322576"/>
            <a:ext cx="2377440" cy="502920"/>
          </a:xfrm>
          <a:prstGeom prst="rect">
            <a:avLst/>
          </a:prstGeom>
          <a:noFill/>
        </p:spPr>
        <p:txBody>
          <a:bodyPr wrap="square" lIns="0" rIns="0" tIns="0" bIns="0">
            <a:spAutoFit/>
          </a:bodyPr>
          <a:lstStyle/>
          <a:p>
            <a:pPr algn="l"/>
            <a:r>
              <a:rPr sz="1000" b="0">
                <a:solidFill>
                  <a:srgbClr val="333333"/>
                </a:solidFill>
                <a:latin typeface="Calibri"/>
              </a:rPr>
              <a:t>$14.1M raised (7 yrs); AMP-token collateral model; US/Canada only</a:t>
            </a:r>
          </a:p>
        </p:txBody>
      </p:sp>
      <p:sp>
        <p:nvSpPr>
          <p:cNvPr id="35" name="TextBox 34"/>
          <p:cNvSpPr txBox="1"/>
          <p:nvPr/>
        </p:nvSpPr>
        <p:spPr>
          <a:xfrm>
            <a:off x="644652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36" name="TextBox 35"/>
          <p:cNvSpPr txBox="1"/>
          <p:nvPr/>
        </p:nvSpPr>
        <p:spPr>
          <a:xfrm>
            <a:off x="6446520" y="3072384"/>
            <a:ext cx="2377440" cy="502920"/>
          </a:xfrm>
          <a:prstGeom prst="rect">
            <a:avLst/>
          </a:prstGeom>
          <a:noFill/>
        </p:spPr>
        <p:txBody>
          <a:bodyPr wrap="square" lIns="0" rIns="0" tIns="0" bIns="0">
            <a:spAutoFit/>
          </a:bodyPr>
          <a:lstStyle/>
          <a:p>
            <a:pPr algn="l"/>
            <a:r>
              <a:rPr sz="1000" b="0">
                <a:solidFill>
                  <a:srgbClr val="333333"/>
                </a:solidFill>
                <a:latin typeface="Calibri"/>
              </a:rPr>
              <a:t>Gemini, SPEDN apps; 98 cryptocurrencies supported</a:t>
            </a:r>
          </a:p>
        </p:txBody>
      </p:sp>
      <p:sp>
        <p:nvSpPr>
          <p:cNvPr id="37" name="TextBox 36"/>
          <p:cNvSpPr txBox="1"/>
          <p:nvPr/>
        </p:nvSpPr>
        <p:spPr>
          <a:xfrm>
            <a:off x="644652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38" name="TextBox 37"/>
          <p:cNvSpPr txBox="1"/>
          <p:nvPr/>
        </p:nvSpPr>
        <p:spPr>
          <a:xfrm>
            <a:off x="6446520" y="3822192"/>
            <a:ext cx="2377440" cy="502920"/>
          </a:xfrm>
          <a:prstGeom prst="rect">
            <a:avLst/>
          </a:prstGeom>
          <a:noFill/>
        </p:spPr>
        <p:txBody>
          <a:bodyPr wrap="square" lIns="0" rIns="0" tIns="0" bIns="0">
            <a:spAutoFit/>
          </a:bodyPr>
          <a:lstStyle/>
          <a:p>
            <a:pPr algn="l"/>
            <a:r>
              <a:rPr sz="1000" b="0">
                <a:solidFill>
                  <a:srgbClr val="333333"/>
                </a:solidFill>
                <a:latin typeface="Calibri"/>
              </a:rPr>
              <a:t>Chipotle (2,975+ US restaurants, 2022); Regal Cinemas, GameStop, Whole Foods historic</a:t>
            </a:r>
          </a:p>
        </p:txBody>
      </p:sp>
      <p:sp>
        <p:nvSpPr>
          <p:cNvPr id="39" name="TextBox 38"/>
          <p:cNvSpPr txBox="1"/>
          <p:nvPr/>
        </p:nvSpPr>
        <p:spPr>
          <a:xfrm>
            <a:off x="644652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40" name="TextBox 39"/>
          <p:cNvSpPr txBox="1"/>
          <p:nvPr/>
        </p:nvSpPr>
        <p:spPr>
          <a:xfrm>
            <a:off x="644652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primary partner — evidence that QSR vertical will accept if rails exist</a:t>
            </a:r>
          </a:p>
        </p:txBody>
      </p:sp>
      <p:sp>
        <p:nvSpPr>
          <p:cNvPr id="41" name="Rounded Rectangle 40"/>
          <p:cNvSpPr/>
          <p:nvPr/>
        </p:nvSpPr>
        <p:spPr>
          <a:xfrm>
            <a:off x="914400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1280160"/>
            <a:ext cx="2377440" cy="365760"/>
          </a:xfrm>
          <a:prstGeom prst="rect">
            <a:avLst/>
          </a:prstGeom>
          <a:noFill/>
        </p:spPr>
        <p:txBody>
          <a:bodyPr wrap="square" lIns="0" rIns="0" tIns="0" bIns="0">
            <a:spAutoFit/>
          </a:bodyPr>
          <a:lstStyle/>
          <a:p>
            <a:pPr algn="l"/>
            <a:r>
              <a:rPr sz="1600" b="1">
                <a:solidFill>
                  <a:srgbClr val="003B5C"/>
                </a:solidFill>
                <a:latin typeface="Calibri"/>
              </a:rPr>
              <a:t>BVNK</a:t>
            </a:r>
          </a:p>
        </p:txBody>
      </p:sp>
      <p:sp>
        <p:nvSpPr>
          <p:cNvPr id="43" name="Rounded Rectangle 42"/>
          <p:cNvSpPr/>
          <p:nvPr/>
        </p:nvSpPr>
        <p:spPr>
          <a:xfrm>
            <a:off x="9326880" y="1691640"/>
            <a:ext cx="1920240" cy="2743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1709928"/>
            <a:ext cx="1920240" cy="274320"/>
          </a:xfrm>
          <a:prstGeom prst="rect">
            <a:avLst/>
          </a:prstGeom>
          <a:noFill/>
        </p:spPr>
        <p:txBody>
          <a:bodyPr wrap="square" lIns="0" rIns="0" tIns="0" bIns="0">
            <a:spAutoFit/>
          </a:bodyPr>
          <a:lstStyle/>
          <a:p>
            <a:pPr algn="ctr"/>
            <a:r>
              <a:rPr sz="900" b="1">
                <a:solidFill>
                  <a:srgbClr val="FFFFFF"/>
                </a:solidFill>
                <a:latin typeface="Calibri"/>
              </a:rPr>
              <a:t>COMPETITOR SIGNAL</a:t>
            </a:r>
          </a:p>
        </p:txBody>
      </p:sp>
      <p:sp>
        <p:nvSpPr>
          <p:cNvPr id="45" name="TextBox 44"/>
          <p:cNvSpPr txBox="1"/>
          <p:nvPr/>
        </p:nvSpPr>
        <p:spPr>
          <a:xfrm>
            <a:off x="932688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46" name="TextBox 45"/>
          <p:cNvSpPr txBox="1"/>
          <p:nvPr/>
        </p:nvSpPr>
        <p:spPr>
          <a:xfrm>
            <a:off x="9326880" y="2322576"/>
            <a:ext cx="2377440" cy="502920"/>
          </a:xfrm>
          <a:prstGeom prst="rect">
            <a:avLst/>
          </a:prstGeom>
          <a:noFill/>
        </p:spPr>
        <p:txBody>
          <a:bodyPr wrap="square" lIns="0" rIns="0" tIns="0" bIns="0">
            <a:spAutoFit/>
          </a:bodyPr>
          <a:lstStyle/>
          <a:p>
            <a:pPr algn="l"/>
            <a:r>
              <a:rPr sz="1000" b="0">
                <a:solidFill>
                  <a:srgbClr val="333333"/>
                </a:solidFill>
                <a:latin typeface="Calibri"/>
              </a:rPr>
              <a:t>Embedded wallet infrastructure; 180+ markets; stablecoin payouts</a:t>
            </a:r>
          </a:p>
        </p:txBody>
      </p:sp>
      <p:sp>
        <p:nvSpPr>
          <p:cNvPr id="47" name="TextBox 46"/>
          <p:cNvSpPr txBox="1"/>
          <p:nvPr/>
        </p:nvSpPr>
        <p:spPr>
          <a:xfrm>
            <a:off x="932688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48" name="TextBox 47"/>
          <p:cNvSpPr txBox="1"/>
          <p:nvPr/>
        </p:nvSpPr>
        <p:spPr>
          <a:xfrm>
            <a:off x="9326880" y="3072384"/>
            <a:ext cx="2377440" cy="502920"/>
          </a:xfrm>
          <a:prstGeom prst="rect">
            <a:avLst/>
          </a:prstGeom>
          <a:noFill/>
        </p:spPr>
        <p:txBody>
          <a:bodyPr wrap="square" lIns="0" rIns="0" tIns="0" bIns="0">
            <a:spAutoFit/>
          </a:bodyPr>
          <a:lstStyle/>
          <a:p>
            <a:pPr algn="l"/>
            <a:r>
              <a:rPr sz="1000" b="0">
                <a:solidFill>
                  <a:srgbClr val="333333"/>
                </a:solidFill>
                <a:latin typeface="Calibri"/>
              </a:rPr>
              <a:t>Worldpay partnership (May 2025) — complements Worldpay's 135 fiat currencies</a:t>
            </a:r>
          </a:p>
        </p:txBody>
      </p:sp>
      <p:sp>
        <p:nvSpPr>
          <p:cNvPr id="49" name="TextBox 48"/>
          <p:cNvSpPr txBox="1"/>
          <p:nvPr/>
        </p:nvSpPr>
        <p:spPr>
          <a:xfrm>
            <a:off x="932688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50" name="TextBox 49"/>
          <p:cNvSpPr txBox="1"/>
          <p:nvPr/>
        </p:nvSpPr>
        <p:spPr>
          <a:xfrm>
            <a:off x="9326880" y="3822192"/>
            <a:ext cx="2377440" cy="502920"/>
          </a:xfrm>
          <a:prstGeom prst="rect">
            <a:avLst/>
          </a:prstGeom>
          <a:noFill/>
        </p:spPr>
        <p:txBody>
          <a:bodyPr wrap="square" lIns="0" rIns="0" tIns="0" bIns="0">
            <a:spAutoFit/>
          </a:bodyPr>
          <a:lstStyle/>
          <a:p>
            <a:pPr algn="l"/>
            <a:r>
              <a:rPr sz="1000" b="0">
                <a:solidFill>
                  <a:srgbClr val="333333"/>
                </a:solidFill>
                <a:latin typeface="Calibri"/>
              </a:rPr>
              <a:t>Worldpay's 2.3T annual payments now have a stablecoin payout path</a:t>
            </a:r>
          </a:p>
        </p:txBody>
      </p:sp>
      <p:sp>
        <p:nvSpPr>
          <p:cNvPr id="51" name="TextBox 50"/>
          <p:cNvSpPr txBox="1"/>
          <p:nvPr/>
        </p:nvSpPr>
        <p:spPr>
          <a:xfrm>
            <a:off x="932688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52" name="TextBox 51"/>
          <p:cNvSpPr txBox="1"/>
          <p:nvPr/>
        </p:nvSpPr>
        <p:spPr>
          <a:xfrm>
            <a:off x="932688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Fiserv partner — example of what competitors are shipping today</a:t>
            </a:r>
          </a:p>
        </p:txBody>
      </p:sp>
      <p:sp>
        <p:nvSpPr>
          <p:cNvPr id="53" name="Rectangle 52"/>
          <p:cNvSpPr/>
          <p:nvPr/>
        </p:nvSpPr>
        <p:spPr>
          <a:xfrm>
            <a:off x="502920" y="5943600"/>
            <a:ext cx="11201400" cy="7772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6016752"/>
            <a:ext cx="10972800" cy="685800"/>
          </a:xfrm>
          <a:prstGeom prst="rect">
            <a:avLst/>
          </a:prstGeom>
          <a:noFill/>
        </p:spPr>
        <p:txBody>
          <a:bodyPr wrap="square" lIns="0" rIns="0" tIns="0" bIns="0">
            <a:spAutoFit/>
          </a:bodyPr>
          <a:lstStyle/>
          <a:p>
            <a:pPr algn="l"/>
            <a:r>
              <a:rPr sz="1200" b="1">
                <a:solidFill>
                  <a:srgbClr val="FF6600"/>
                </a:solidFill>
                <a:latin typeface="Calibri"/>
              </a:rPr>
              <a:t>Reading the table:</a:t>
            </a:r>
          </a:p>
          <a:p>
            <a:pPr algn="l"/>
            <a:r>
              <a:rPr sz="1100" b="0">
                <a:solidFill>
                  <a:srgbClr val="FFFFFF"/>
                </a:solidFill>
                <a:latin typeface="Calibri"/>
              </a:rPr>
              <a:t>Coinbase has the largest installed merchant distribution via Stripe &amp; Shopify and is already a Fiserv customer → start there. Mesh adds CEX reach as volume justifies it. Flexa/BVNK are reference points, not recommended partners.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Security &amp; Compliance Comparison</a:t>
            </a:r>
          </a:p>
        </p:txBody>
      </p:sp>
      <p:graphicFrame>
        <p:nvGraphicFramePr>
          <p:cNvPr id="4" name="Table 3"/>
          <p:cNvGraphicFramePr>
            <a:graphicFrameLocks noGrp="1"/>
          </p:cNvGraphicFramePr>
          <p:nvPr>
            <p:extLst>
              <p:ext uri="{D42A27DB-BD31-4B8C-83A1-F6EECF244321}">
                <p14:modId xmlns:p14="http://schemas.microsoft.com/office/powerpoint/2010/main" val="1635479587"/>
              </p:ext>
            </p:extLst>
          </p:nvPr>
        </p:nvGraphicFramePr>
        <p:xfrm>
          <a:off x="457200" y="1188720"/>
          <a:ext cx="1115568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87680">
                <a:tc>
                  <a:txBody>
                    <a:bodyPr/>
                    <a:lstStyle/>
                    <a:p>
                      <a:pPr>
                        <a:defRPr sz="1000" b="1">
                          <a:solidFill>
                            <a:srgbClr val="FFFFFF"/>
                          </a:solidFill>
                          <a:latin typeface="Calibri"/>
                        </a:defRPr>
                      </a:pPr>
                      <a:r>
                        <a:rPr dirty="0"/>
                        <a:t>Dimension</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endParaRPr dirty="0"/>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87680">
                <a:tc>
                  <a:txBody>
                    <a:bodyPr/>
                    <a:lstStyle/>
                    <a:p>
                      <a:pPr>
                        <a:defRPr sz="1000">
                          <a:solidFill>
                            <a:srgbClr val="333333"/>
                          </a:solidFill>
                          <a:latin typeface="Calibri"/>
                        </a:defRPr>
                      </a:pPr>
                      <a:r>
                        <a:t>SOC 2 Type II</a:t>
                      </a:r>
                    </a:p>
                  </a:txBody>
                  <a:tcPr anchor="ctr">
                    <a:solidFill>
                      <a:srgbClr val="FFFFFF"/>
                    </a:solidFill>
                  </a:tcPr>
                </a:tc>
                <a:tc>
                  <a:txBody>
                    <a:bodyPr/>
                    <a:lstStyle/>
                    <a:p>
                      <a:pPr>
                        <a:defRPr sz="1000">
                          <a:solidFill>
                            <a:srgbClr val="333333"/>
                          </a:solidFill>
                          <a:latin typeface="Calibri"/>
                        </a:defRPr>
                      </a:pPr>
                      <a:r>
                        <a:t>Yes (Deloitte)</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1"/>
                  </a:ext>
                </a:extLst>
              </a:tr>
              <a:tr h="487680">
                <a:tc>
                  <a:txBody>
                    <a:bodyPr/>
                    <a:lstStyle/>
                    <a:p>
                      <a:pPr>
                        <a:defRPr sz="1000">
                          <a:solidFill>
                            <a:srgbClr val="333333"/>
                          </a:solidFill>
                          <a:latin typeface="Calibri"/>
                        </a:defRPr>
                      </a:pPr>
                      <a:r>
                        <a:t>SOC 1 Type II</a:t>
                      </a:r>
                    </a:p>
                  </a:txBody>
                  <a:tcPr anchor="ctr">
                    <a:solidFill>
                      <a:srgbClr val="F2F2F2"/>
                    </a:solidFill>
                  </a:tcPr>
                </a:tc>
                <a:tc>
                  <a:txBody>
                    <a:bodyPr/>
                    <a:lstStyle/>
                    <a:p>
                      <a:pPr>
                        <a:defRPr sz="1000">
                          <a:solidFill>
                            <a:srgbClr val="333333"/>
                          </a:solidFill>
                          <a:latin typeface="Calibri"/>
                        </a:defRPr>
                      </a:pPr>
                      <a:r>
                        <a:t>Yes (Deloitte)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87680">
                <a:tc>
                  <a:txBody>
                    <a:bodyPr/>
                    <a:lstStyle/>
                    <a:p>
                      <a:pPr>
                        <a:defRPr sz="1000">
                          <a:solidFill>
                            <a:srgbClr val="333333"/>
                          </a:solidFill>
                          <a:latin typeface="Calibri"/>
                        </a:defRPr>
                      </a:pPr>
                      <a:r>
                        <a:t>Insurance</a:t>
                      </a:r>
                    </a:p>
                  </a:txBody>
                  <a:tcPr anchor="ctr">
                    <a:solidFill>
                      <a:srgbClr val="FFFFFF"/>
                    </a:solidFill>
                  </a:tcPr>
                </a:tc>
                <a:tc>
                  <a:txBody>
                    <a:bodyPr/>
                    <a:lstStyle/>
                    <a:p>
                      <a:pPr>
                        <a:defRPr sz="1000">
                          <a:solidFill>
                            <a:srgbClr val="333333"/>
                          </a:solidFill>
                          <a:latin typeface="Calibri"/>
                        </a:defRPr>
                      </a:pPr>
                      <a:r>
                        <a:t>$320M Lloyd's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tc>
                  <a:txBody>
                    <a:bodyPr/>
                    <a:lstStyle/>
                    <a:p>
                      <a:pPr>
                        <a:defRPr sz="1000">
                          <a:solidFill>
                            <a:srgbClr val="333333"/>
                          </a:solidFill>
                          <a:latin typeface="Calibri"/>
                        </a:defRPr>
                      </a:pPr>
                      <a:r>
                        <a:t>AMP collateral</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3"/>
                  </a:ext>
                </a:extLst>
              </a:tr>
              <a:tr h="487680">
                <a:tc>
                  <a:txBody>
                    <a:bodyPr/>
                    <a:lstStyle/>
                    <a:p>
                      <a:pPr>
                        <a:defRPr sz="1000">
                          <a:solidFill>
                            <a:srgbClr val="333333"/>
                          </a:solidFill>
                          <a:latin typeface="Calibri"/>
                        </a:defRPr>
                      </a:pPr>
                      <a:r>
                        <a:t>Assets Custody</a:t>
                      </a:r>
                    </a:p>
                  </a:txBody>
                  <a:tcPr anchor="ctr">
                    <a:solidFill>
                      <a:srgbClr val="F2F2F2"/>
                    </a:solidFill>
                  </a:tcPr>
                </a:tc>
                <a:tc>
                  <a:txBody>
                    <a:bodyPr/>
                    <a:lstStyle/>
                    <a:p>
                      <a:pPr>
                        <a:defRPr sz="1000">
                          <a:solidFill>
                            <a:srgbClr val="333333"/>
                          </a:solidFill>
                          <a:latin typeface="Calibri"/>
                        </a:defRPr>
                      </a:pPr>
                      <a:r>
                        <a:t>$370B+</a:t>
                      </a:r>
                    </a:p>
                  </a:txBody>
                  <a:tcPr anchor="ctr">
                    <a:solidFill>
                      <a:srgbClr val="F2F2F2"/>
                    </a:solidFill>
                  </a:tcPr>
                </a:tc>
                <a:tc>
                  <a:txBody>
                    <a:bodyPr/>
                    <a:lstStyle/>
                    <a:p>
                      <a:pPr>
                        <a:defRPr sz="1000">
                          <a:solidFill>
                            <a:srgbClr val="333333"/>
                          </a:solidFill>
                          <a:latin typeface="Calibri"/>
                        </a:defRPr>
                      </a:pPr>
                      <a:r>
                        <a:t>$0 (non-custodial)</a:t>
                      </a:r>
                    </a:p>
                  </a:txBody>
                  <a:tcPr anchor="ctr">
                    <a:solidFill>
                      <a:srgbClr val="F2F2F2"/>
                    </a:solidFill>
                  </a:tcPr>
                </a:tc>
                <a:tc>
                  <a:txBody>
                    <a:bodyPr/>
                    <a:lstStyle/>
                    <a:p>
                      <a:pPr>
                        <a:defRPr sz="1000">
                          <a:solidFill>
                            <a:srgbClr val="333333"/>
                          </a:solidFill>
                          <a:latin typeface="Calibri"/>
                        </a:defRPr>
                      </a:pPr>
                      <a:r>
                        <a:t>N/A</a:t>
                      </a:r>
                    </a:p>
                  </a:txBody>
                  <a:tcPr anchor="ctr">
                    <a:solidFill>
                      <a:srgbClr val="F2F2F2"/>
                    </a:solidFill>
                  </a:tcPr>
                </a:tc>
                <a:tc>
                  <a:txBody>
                    <a:bodyPr/>
                    <a:lstStyle/>
                    <a:p>
                      <a:pPr>
                        <a:defRPr sz="1000">
                          <a:solidFill>
                            <a:srgbClr val="333333"/>
                          </a:solidFill>
                          <a:latin typeface="Calibri"/>
                        </a:defRPr>
                      </a:pPr>
                      <a:r>
                        <a:t>$0</a:t>
                      </a:r>
                    </a:p>
                  </a:txBody>
                  <a:tcPr anchor="ctr">
                    <a:solidFill>
                      <a:srgbClr val="F2F2F2"/>
                    </a:solidFill>
                  </a:tcPr>
                </a:tc>
                <a:extLst>
                  <a:ext uri="{0D108BD9-81ED-4DB2-BD59-A6C34878D82A}">
                    <a16:rowId xmlns:a16="http://schemas.microsoft.com/office/drawing/2014/main" val="10004"/>
                  </a:ext>
                </a:extLst>
              </a:tr>
              <a:tr h="487680">
                <a:tc>
                  <a:txBody>
                    <a:bodyPr/>
                    <a:lstStyle/>
                    <a:p>
                      <a:pPr>
                        <a:defRPr sz="1000">
                          <a:solidFill>
                            <a:srgbClr val="333333"/>
                          </a:solidFill>
                          <a:latin typeface="Calibri"/>
                        </a:defRPr>
                      </a:pPr>
                      <a:r>
                        <a:t>US Licenses</a:t>
                      </a:r>
                    </a:p>
                  </a:txBody>
                  <a:tcPr anchor="ctr">
                    <a:solidFill>
                      <a:srgbClr val="FFFFFF"/>
                    </a:solidFill>
                  </a:tcPr>
                </a:tc>
                <a:tc>
                  <a:txBody>
                    <a:bodyPr/>
                    <a:lstStyle/>
                    <a:p>
                      <a:pPr>
                        <a:defRPr sz="1000">
                          <a:solidFill>
                            <a:srgbClr val="333333"/>
                          </a:solidFill>
                          <a:latin typeface="Calibri"/>
                        </a:defRPr>
                      </a:pPr>
                      <a:r>
                        <a:t>49 states + OCC</a:t>
                      </a:r>
                    </a:p>
                  </a:txBody>
                  <a:tcPr anchor="ctr">
                    <a:solidFill>
                      <a:srgbClr val="FFFFFF"/>
                    </a:solidFill>
                  </a:tcPr>
                </a:tc>
                <a:tc>
                  <a:txBody>
                    <a:bodyPr/>
                    <a:lstStyle/>
                    <a:p>
                      <a:pPr>
                        <a:defRPr sz="1000">
                          <a:solidFill>
                            <a:srgbClr val="333333"/>
                          </a:solidFill>
                          <a:latin typeface="Calibri"/>
                        </a:defRPr>
                      </a:pPr>
                      <a:r>
                        <a:t>None confirmed</a:t>
                      </a:r>
                    </a:p>
                  </a:txBody>
                  <a:tcPr anchor="ctr">
                    <a:solidFill>
                      <a:srgbClr val="FFFFFF"/>
                    </a:solidFill>
                  </a:tcPr>
                </a:tc>
                <a:tc>
                  <a:txBody>
                    <a:bodyPr/>
                    <a:lstStyle/>
                    <a:p>
                      <a:pPr>
                        <a:defRPr sz="1000">
                          <a:solidFill>
                            <a:srgbClr val="333333"/>
                          </a:solidFill>
                          <a:latin typeface="Calibri"/>
                        </a:defRPr>
                      </a:pPr>
                      <a:r>
                        <a:t>FinCEN MSB + MTLs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5"/>
                  </a:ext>
                </a:extLst>
              </a:tr>
              <a:tr h="487680">
                <a:tc>
                  <a:txBody>
                    <a:bodyPr/>
                    <a:lstStyle/>
                    <a:p>
                      <a:pPr>
                        <a:defRPr sz="1000">
                          <a:solidFill>
                            <a:srgbClr val="333333"/>
                          </a:solidFill>
                          <a:latin typeface="Calibri"/>
                        </a:defRPr>
                      </a:pPr>
                      <a:r>
                        <a:t>Int'l Licenses</a:t>
                      </a:r>
                    </a:p>
                  </a:txBody>
                  <a:tcPr anchor="ctr">
                    <a:solidFill>
                      <a:srgbClr val="F2F2F2"/>
                    </a:solidFill>
                  </a:tcPr>
                </a:tc>
                <a:tc>
                  <a:txBody>
                    <a:bodyPr/>
                    <a:lstStyle/>
                    <a:p>
                      <a:pPr>
                        <a:defRPr sz="1000">
                          <a:solidFill>
                            <a:srgbClr val="333333"/>
                          </a:solidFill>
                          <a:latin typeface="Calibri"/>
                        </a:defRPr>
                      </a:pPr>
                      <a:r>
                        <a:t>EU MiCA, SG, JP</a:t>
                      </a:r>
                    </a:p>
                  </a:txBody>
                  <a:tcPr anchor="ctr">
                    <a:solidFill>
                      <a:srgbClr val="F2F2F2"/>
                    </a:solidFill>
                  </a:tcPr>
                </a:tc>
                <a:tc>
                  <a:txBody>
                    <a:bodyPr/>
                    <a:lstStyle/>
                    <a:p>
                      <a:pPr>
                        <a:defRPr sz="1000">
                          <a:solidFill>
                            <a:srgbClr val="333333"/>
                          </a:solidFill>
                          <a:latin typeface="Calibri"/>
                        </a:defRPr>
                      </a:pPr>
                      <a:r>
                        <a:t>None confirmed</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extLst>
                  <a:ext uri="{0D108BD9-81ED-4DB2-BD59-A6C34878D82A}">
                    <a16:rowId xmlns:a16="http://schemas.microsoft.com/office/drawing/2014/main" val="10006"/>
                  </a:ext>
                </a:extLst>
              </a:tr>
              <a:tr h="487680">
                <a:tc>
                  <a:txBody>
                    <a:bodyPr/>
                    <a:lstStyle/>
                    <a:p>
                      <a:pPr>
                        <a:defRPr sz="1000">
                          <a:solidFill>
                            <a:srgbClr val="333333"/>
                          </a:solidFill>
                          <a:latin typeface="Calibri"/>
                        </a:defRPr>
                      </a:pPr>
                      <a:r>
                        <a:t>KYC/AML</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Delegated</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Unknown</a:t>
                      </a:r>
                    </a:p>
                  </a:txBody>
                  <a:tcPr anchor="ctr">
                    <a:solidFill>
                      <a:srgbClr val="FFFFFF"/>
                    </a:solidFill>
                  </a:tcPr>
                </a:tc>
                <a:extLst>
                  <a:ext uri="{0D108BD9-81ED-4DB2-BD59-A6C34878D82A}">
                    <a16:rowId xmlns:a16="http://schemas.microsoft.com/office/drawing/2014/main" val="10007"/>
                  </a:ext>
                </a:extLst>
              </a:tr>
              <a:tr h="487680">
                <a:tc>
                  <a:txBody>
                    <a:bodyPr/>
                    <a:lstStyle/>
                    <a:p>
                      <a:pPr>
                        <a:defRPr sz="1000">
                          <a:solidFill>
                            <a:srgbClr val="333333"/>
                          </a:solidFill>
                          <a:latin typeface="Calibri"/>
                        </a:defRPr>
                      </a:pPr>
                      <a:r>
                        <a:t>Security Incidents</a:t>
                      </a:r>
                    </a:p>
                  </a:txBody>
                  <a:tcPr anchor="ctr">
                    <a:solidFill>
                      <a:srgbClr val="F2F2F2"/>
                    </a:solidFill>
                  </a:tcPr>
                </a:tc>
                <a:tc>
                  <a:txBody>
                    <a:bodyPr/>
                    <a:lstStyle/>
                    <a:p>
                      <a:pPr>
                        <a:defRPr sz="1000">
                          <a:solidFill>
                            <a:srgbClr val="333333"/>
                          </a:solidFill>
                          <a:latin typeface="Calibri"/>
                        </a:defRPr>
                      </a:pPr>
                      <a:r>
                        <a:t>1 (no crypto lost)</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rPr dirty="0"/>
                        <a:t>Unknown</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760720"/>
            <a:ext cx="10698480" cy="7315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5991797"/>
            <a:ext cx="10241280" cy="548640"/>
          </a:xfrm>
          <a:prstGeom prst="rect">
            <a:avLst/>
          </a:prstGeom>
          <a:noFill/>
        </p:spPr>
        <p:txBody>
          <a:bodyPr wrap="square">
            <a:spAutoFit/>
          </a:bodyPr>
          <a:lstStyle/>
          <a:p>
            <a:pPr algn="ctr">
              <a:defRPr sz="1200" b="0">
                <a:solidFill>
                  <a:srgbClr val="333333"/>
                </a:solidFill>
                <a:latin typeface="Calibri"/>
              </a:defRPr>
            </a:pPr>
            <a:r>
              <a:t>Coinbase is the only provider with both SOC 1 and SOC 2 Type II certifications audited by a Big Four firm (Deloitte), plus $320M insurance via Lloyd's of London.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Scoring: 7 Requirements</a:t>
            </a:r>
          </a:p>
        </p:txBody>
      </p:sp>
      <p:graphicFrame>
        <p:nvGraphicFramePr>
          <p:cNvPr id="4" name="Table 3"/>
          <p:cNvGraphicFramePr>
            <a:graphicFrameLocks noGrp="1"/>
          </p:cNvGraphicFramePr>
          <p:nvPr>
            <p:extLst>
              <p:ext uri="{D42A27DB-BD31-4B8C-83A1-F6EECF244321}">
                <p14:modId xmlns:p14="http://schemas.microsoft.com/office/powerpoint/2010/main" val="3778404588"/>
              </p:ext>
            </p:extLst>
          </p:nvPr>
        </p:nvGraphicFramePr>
        <p:xfrm>
          <a:off x="548640" y="1188720"/>
          <a:ext cx="10241280" cy="41148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a:defRPr sz="1000" b="1">
                          <a:solidFill>
                            <a:srgbClr val="FFFFFF"/>
                          </a:solidFill>
                          <a:latin typeface="Calibri"/>
                        </a:defRPr>
                      </a:pPr>
                      <a:r>
                        <a:rPr dirty="0"/>
                        <a:t>Requirement</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r>
                        <a:rPr dirty="0"/>
                        <a:t>*</a:t>
                      </a:r>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1. Crypto pay-in (global)</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2. Stablecoin pay-in (global)</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7/10</a:t>
                      </a:r>
                    </a:p>
                  </a:txBody>
                  <a:tcPr anchor="ctr">
                    <a:solidFill>
                      <a:srgbClr val="F2F2F2"/>
                    </a:solidFill>
                  </a:tcPr>
                </a:tc>
                <a:tc>
                  <a:txBody>
                    <a:bodyPr/>
                    <a:lstStyle/>
                    <a:p>
                      <a:pPr>
                        <a:defRPr sz="1000">
                          <a:solidFill>
                            <a:srgbClr val="333333"/>
                          </a:solidFill>
                          <a:latin typeface="Calibri"/>
                        </a:defRPr>
                      </a:pPr>
                      <a:r>
                        <a:t>3/10</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3. E-commerce + in-store</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3"/>
                  </a:ext>
                </a:extLst>
              </a:tr>
              <a:tr h="457200">
                <a:tc>
                  <a:txBody>
                    <a:bodyPr/>
                    <a:lstStyle/>
                    <a:p>
                      <a:pPr>
                        <a:defRPr sz="1000">
                          <a:solidFill>
                            <a:srgbClr val="333333"/>
                          </a:solidFill>
                          <a:latin typeface="Calibri"/>
                        </a:defRPr>
                      </a:pPr>
                      <a:r>
                        <a:t>4. Stablecoin disbursement</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tc>
                  <a:txBody>
                    <a:bodyPr/>
                    <a:lstStyle/>
                    <a:p>
                      <a:pPr>
                        <a:defRPr sz="1000">
                          <a:solidFill>
                            <a:srgbClr val="333333"/>
                          </a:solidFill>
                          <a:latin typeface="Calibri"/>
                        </a:defRPr>
                      </a:pPr>
                      <a:r>
                        <a:t>2/10</a:t>
                      </a:r>
                    </a:p>
                  </a:txBody>
                  <a:tcPr anchor="ctr">
                    <a:solidFill>
                      <a:srgbClr val="F2F2F2"/>
                    </a:solidFill>
                  </a:tcPr>
                </a:tc>
                <a:tc>
                  <a:txBody>
                    <a:bodyPr/>
                    <a:lstStyle/>
                    <a:p>
                      <a:pPr>
                        <a:defRPr sz="1000">
                          <a:solidFill>
                            <a:srgbClr val="333333"/>
                          </a:solidFill>
                          <a:latin typeface="Calibri"/>
                        </a:defRPr>
                      </a:pPr>
                      <a:r>
                        <a:t>5/10</a:t>
                      </a:r>
                    </a:p>
                  </a:txBody>
                  <a:tcPr anchor="ctr">
                    <a:solidFill>
                      <a:srgbClr val="F2F2F2"/>
                    </a:solidFill>
                  </a:tcPr>
                </a:tc>
                <a:extLst>
                  <a:ext uri="{0D108BD9-81ED-4DB2-BD59-A6C34878D82A}">
                    <a16:rowId xmlns:a16="http://schemas.microsoft.com/office/drawing/2014/main" val="10004"/>
                  </a:ext>
                </a:extLst>
              </a:tr>
              <a:tr h="457200">
                <a:tc>
                  <a:txBody>
                    <a:bodyPr/>
                    <a:lstStyle/>
                    <a:p>
                      <a:pPr>
                        <a:defRPr sz="1000">
                          <a:solidFill>
                            <a:srgbClr val="333333"/>
                          </a:solidFill>
                          <a:latin typeface="Calibri"/>
                        </a:defRPr>
                      </a:pPr>
                      <a:r>
                        <a:t>5. Wallet storage on Finxact</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4/10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extLst>
                  <a:ext uri="{0D108BD9-81ED-4DB2-BD59-A6C34878D82A}">
                    <a16:rowId xmlns:a16="http://schemas.microsoft.com/office/drawing/2014/main" val="10005"/>
                  </a:ext>
                </a:extLst>
              </a:tr>
              <a:tr h="457200">
                <a:tc>
                  <a:txBody>
                    <a:bodyPr/>
                    <a:lstStyle/>
                    <a:p>
                      <a:pPr>
                        <a:defRPr sz="1000">
                          <a:solidFill>
                            <a:srgbClr val="333333"/>
                          </a:solidFill>
                          <a:latin typeface="Calibri"/>
                        </a:defRPr>
                      </a:pPr>
                      <a:r>
                        <a:t>6. Stablecoin-to-fiat</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extLst>
                  <a:ext uri="{0D108BD9-81ED-4DB2-BD59-A6C34878D82A}">
                    <a16:rowId xmlns:a16="http://schemas.microsoft.com/office/drawing/2014/main" val="10006"/>
                  </a:ext>
                </a:extLst>
              </a:tr>
              <a:tr h="457200">
                <a:tc>
                  <a:txBody>
                    <a:bodyPr/>
                    <a:lstStyle/>
                    <a:p>
                      <a:pPr>
                        <a:defRPr sz="1000">
                          <a:solidFill>
                            <a:srgbClr val="333333"/>
                          </a:solidFill>
                          <a:latin typeface="Calibri"/>
                        </a:defRPr>
                      </a:pPr>
                      <a:r>
                        <a:t>7. Any crypto-to-fiat (global)</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8/10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7"/>
                  </a:ext>
                </a:extLst>
              </a:tr>
              <a:tr h="457200">
                <a:tc>
                  <a:txBody>
                    <a:bodyPr/>
                    <a:lstStyle/>
                    <a:p>
                      <a:pPr>
                        <a:defRPr sz="1000">
                          <a:solidFill>
                            <a:srgbClr val="333333"/>
                          </a:solidFill>
                          <a:latin typeface="Calibri"/>
                        </a:defRPr>
                      </a:pPr>
                      <a:r>
                        <a:t>TOTAL</a:t>
                      </a:r>
                    </a:p>
                  </a:txBody>
                  <a:tcPr anchor="ctr">
                    <a:solidFill>
                      <a:srgbClr val="F2F2F2"/>
                    </a:solidFill>
                  </a:tcPr>
                </a:tc>
                <a:tc>
                  <a:txBody>
                    <a:bodyPr/>
                    <a:lstStyle/>
                    <a:p>
                      <a:pPr>
                        <a:defRPr sz="1000">
                          <a:solidFill>
                            <a:srgbClr val="333333"/>
                          </a:solidFill>
                          <a:latin typeface="Calibri"/>
                        </a:defRPr>
                      </a:pPr>
                      <a:r>
                        <a:t>56/70</a:t>
                      </a:r>
                    </a:p>
                  </a:txBody>
                  <a:tcPr anchor="ctr">
                    <a:solidFill>
                      <a:srgbClr val="F2F2F2"/>
                    </a:solidFill>
                  </a:tcPr>
                </a:tc>
                <a:tc>
                  <a:txBody>
                    <a:bodyPr/>
                    <a:lstStyle/>
                    <a:p>
                      <a:pPr>
                        <a:defRPr sz="1000">
                          <a:solidFill>
                            <a:srgbClr val="333333"/>
                          </a:solidFill>
                          <a:latin typeface="Calibri"/>
                        </a:defRPr>
                      </a:pPr>
                      <a:r>
                        <a:t>47/70</a:t>
                      </a:r>
                    </a:p>
                  </a:txBody>
                  <a:tcPr anchor="ctr">
                    <a:solidFill>
                      <a:srgbClr val="F2F2F2"/>
                    </a:solidFill>
                  </a:tcPr>
                </a:tc>
                <a:tc>
                  <a:txBody>
                    <a:bodyPr/>
                    <a:lstStyle/>
                    <a:p>
                      <a:pPr>
                        <a:defRPr sz="1000">
                          <a:solidFill>
                            <a:srgbClr val="333333"/>
                          </a:solidFill>
                          <a:latin typeface="Calibri"/>
                        </a:defRPr>
                      </a:pPr>
                      <a:r>
                        <a:t>41/70</a:t>
                      </a:r>
                    </a:p>
                  </a:txBody>
                  <a:tcPr anchor="ctr">
                    <a:solidFill>
                      <a:srgbClr val="F2F2F2"/>
                    </a:solidFill>
                  </a:tcPr>
                </a:tc>
                <a:tc>
                  <a:txBody>
                    <a:bodyPr/>
                    <a:lstStyle/>
                    <a:p>
                      <a:pPr>
                        <a:defRPr sz="1000">
                          <a:solidFill>
                            <a:srgbClr val="333333"/>
                          </a:solidFill>
                          <a:latin typeface="Calibri"/>
                        </a:defRPr>
                      </a:pPr>
                      <a:r>
                        <a:rPr dirty="0"/>
                        <a:t>17/70</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486400"/>
            <a:ext cx="502920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5577840"/>
            <a:ext cx="4572000" cy="822960"/>
          </a:xfrm>
          <a:prstGeom prst="rect">
            <a:avLst/>
          </a:prstGeom>
          <a:noFill/>
        </p:spPr>
        <p:txBody>
          <a:bodyPr wrap="square">
            <a:spAutoFit/>
          </a:bodyPr>
          <a:lstStyle/>
          <a:p>
            <a:pPr algn="l">
              <a:spcAft>
                <a:spcPts val="400"/>
              </a:spcAft>
              <a:defRPr sz="1200" b="1">
                <a:solidFill>
                  <a:srgbClr val="C62828"/>
                </a:solidFill>
                <a:latin typeface="Calibri"/>
              </a:defRPr>
            </a:pPr>
            <a:r>
              <a:t>*Flexa Removed:</a:t>
            </a:r>
          </a:p>
          <a:p>
            <a:pPr algn="l">
              <a:spcAft>
                <a:spcPts val="400"/>
              </a:spcAft>
              <a:defRPr sz="1000" b="0">
                <a:solidFill>
                  <a:srgbClr val="333333"/>
                </a:solidFill>
                <a:latin typeface="Calibri"/>
              </a:defRPr>
            </a:pPr>
            <a:r>
              <a:t>AMP token lost 98% of value. Only $14.1M raised after 7+ years. US/Canada only. No Clover integration confirmed.</a:t>
            </a:r>
          </a:p>
        </p:txBody>
      </p:sp>
      <p:sp>
        <p:nvSpPr>
          <p:cNvPr id="7" name="Rounded Rectangle 6"/>
          <p:cNvSpPr/>
          <p:nvPr/>
        </p:nvSpPr>
        <p:spPr>
          <a:xfrm>
            <a:off x="6217920" y="5486400"/>
            <a:ext cx="521208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5577840"/>
            <a:ext cx="4754880" cy="482183"/>
          </a:xfrm>
          <a:prstGeom prst="rect">
            <a:avLst/>
          </a:prstGeom>
          <a:noFill/>
        </p:spPr>
        <p:txBody>
          <a:bodyPr wrap="square">
            <a:spAutoFit/>
          </a:bodyPr>
          <a:lstStyle/>
          <a:p>
            <a:pPr algn="l">
              <a:spcAft>
                <a:spcPts val="400"/>
              </a:spcAft>
              <a:defRPr sz="1200" b="1">
                <a:solidFill>
                  <a:srgbClr val="C62828"/>
                </a:solidFill>
                <a:latin typeface="Calibri"/>
              </a:defRPr>
            </a:pPr>
            <a:r>
              <a:rPr dirty="0"/>
              <a:t>*Heron Removed:</a:t>
            </a:r>
          </a:p>
          <a:p>
            <a:pPr algn="l">
              <a:spcAft>
                <a:spcPts val="400"/>
              </a:spcAft>
              <a:defRPr sz="1000" b="0">
                <a:solidFill>
                  <a:srgbClr val="333333"/>
                </a:solidFill>
                <a:latin typeface="Calibri"/>
              </a:defRPr>
            </a:pPr>
            <a:r>
              <a:rPr dirty="0"/>
              <a:t>Zero verifiable funding, team, customers, or certifications.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E96DB-C6B2-FA57-6AC9-C92A753A08E5}"/>
              </a:ext>
            </a:extLst>
          </p:cNvPr>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The Agent-to-Agent Payment Gap</a:t>
            </a:r>
          </a:p>
        </p:txBody>
      </p:sp>
      <p:sp>
        <p:nvSpPr>
          <p:cNvPr id="5" name="TextBox 4">
            <a:extLst>
              <a:ext uri="{FF2B5EF4-FFF2-40B4-BE49-F238E27FC236}">
                <a16:creationId xmlns:a16="http://schemas.microsoft.com/office/drawing/2014/main" id="{C0200C23-2EB5-F087-F6B8-E14954FA94D7}"/>
              </a:ext>
            </a:extLst>
          </p:cNvPr>
          <p:cNvSpPr txBox="1"/>
          <p:nvPr/>
        </p:nvSpPr>
        <p:spPr>
          <a:xfrm>
            <a:off x="731520" y="896384"/>
            <a:ext cx="10058400" cy="365760"/>
          </a:xfrm>
          <a:prstGeom prst="rect">
            <a:avLst/>
          </a:prstGeom>
          <a:noFill/>
        </p:spPr>
        <p:txBody>
          <a:bodyPr wrap="square">
            <a:spAutoFit/>
          </a:bodyPr>
          <a:lstStyle/>
          <a:p>
            <a:pPr algn="l">
              <a:defRPr sz="1300" b="0">
                <a:solidFill>
                  <a:srgbClr val="FF6600"/>
                </a:solidFill>
                <a:latin typeface="Calibri"/>
              </a:defRPr>
            </a:pPr>
            <a:r>
              <a:rPr dirty="0"/>
              <a:t>Machine-to-machine &amp; agent-to-agent transactions are emerging. Crypto + microtransaction support is the gap Fiserv needs to close.</a:t>
            </a:r>
          </a:p>
        </p:txBody>
      </p:sp>
      <p:sp>
        <p:nvSpPr>
          <p:cNvPr id="6" name="Rounded Rectangle 5"/>
          <p:cNvSpPr/>
          <p:nvPr/>
        </p:nvSpPr>
        <p:spPr>
          <a:xfrm>
            <a:off x="91440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965960"/>
            <a:ext cx="4572000" cy="457200"/>
          </a:xfrm>
          <a:prstGeom prst="rect">
            <a:avLst/>
          </a:prstGeom>
          <a:noFill/>
        </p:spPr>
        <p:txBody>
          <a:bodyPr wrap="square" lIns="0" rIns="0" tIns="0" bIns="0">
            <a:spAutoFit/>
          </a:bodyPr>
          <a:lstStyle/>
          <a:p>
            <a:pPr algn="l"/>
            <a:r>
              <a:rPr sz="2800" b="1">
                <a:solidFill>
                  <a:srgbClr val="003B5C"/>
                </a:solidFill>
                <a:latin typeface="Calibri"/>
              </a:rPr>
              <a:t>x402</a:t>
            </a:r>
          </a:p>
        </p:txBody>
      </p:sp>
      <p:sp>
        <p:nvSpPr>
          <p:cNvPr id="8" name="TextBox 7"/>
          <p:cNvSpPr txBox="1"/>
          <p:nvPr/>
        </p:nvSpPr>
        <p:spPr>
          <a:xfrm>
            <a:off x="1143000" y="2514600"/>
            <a:ext cx="4572000" cy="274320"/>
          </a:xfrm>
          <a:prstGeom prst="rect">
            <a:avLst/>
          </a:prstGeom>
          <a:noFill/>
        </p:spPr>
        <p:txBody>
          <a:bodyPr wrap="square" lIns="0" rIns="0" tIns="0" bIns="0">
            <a:spAutoFit/>
          </a:bodyPr>
          <a:lstStyle/>
          <a:p>
            <a:pPr algn="l"/>
            <a:r>
              <a:rPr sz="1200" b="0">
                <a:solidFill>
                  <a:srgbClr val="9B9B9B"/>
                </a:solidFill>
                <a:latin typeface="Calibri"/>
              </a:rPr>
              <a:t>Linux Foundation  (Coinbase-created, Apr 2026)</a:t>
            </a:r>
          </a:p>
        </p:txBody>
      </p:sp>
      <p:sp>
        <p:nvSpPr>
          <p:cNvPr id="9" name="TextBox 8"/>
          <p:cNvSpPr txBox="1"/>
          <p:nvPr/>
        </p:nvSpPr>
        <p:spPr>
          <a:xfrm>
            <a:off x="1143000" y="2834640"/>
            <a:ext cx="4572000" cy="1280160"/>
          </a:xfrm>
          <a:prstGeom prst="rect">
            <a:avLst/>
          </a:prstGeom>
          <a:noFill/>
        </p:spPr>
        <p:txBody>
          <a:bodyPr wrap="square" lIns="0" rIns="0" tIns="0" bIns="0">
            <a:spAutoFit/>
          </a:bodyPr>
          <a:lstStyle/>
          <a:p>
            <a:pPr algn="l"/>
            <a:r>
              <a:rPr sz="1300" b="0">
                <a:solidFill>
                  <a:srgbClr val="333333"/>
                </a:solidFill>
                <a:latin typeface="Calibri"/>
              </a:rPr>
              <a:t>HTTP-native stablecoin settlement for machine-to-machine payments. Uses the dormant HTTP 402 status code to request payment inline. Stripe already integrated on USDC/Base; Shopify, AWS, Google, Visa backing it.</a:t>
            </a:r>
          </a:p>
        </p:txBody>
      </p:sp>
      <p:sp>
        <p:nvSpPr>
          <p:cNvPr id="10" name="Rounded Rectangle 9"/>
          <p:cNvSpPr/>
          <p:nvPr/>
        </p:nvSpPr>
        <p:spPr>
          <a:xfrm>
            <a:off x="1143000" y="4160520"/>
            <a:ext cx="457200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  FOUNDING MEMBER</a:t>
            </a:r>
          </a:p>
        </p:txBody>
      </p:sp>
      <p:sp>
        <p:nvSpPr>
          <p:cNvPr id="12" name="Rounded Rectangle 11"/>
          <p:cNvSpPr/>
          <p:nvPr/>
        </p:nvSpPr>
        <p:spPr>
          <a:xfrm>
            <a:off x="621792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65960"/>
            <a:ext cx="4572000" cy="457200"/>
          </a:xfrm>
          <a:prstGeom prst="rect">
            <a:avLst/>
          </a:prstGeom>
          <a:noFill/>
        </p:spPr>
        <p:txBody>
          <a:bodyPr wrap="square" lIns="0" rIns="0" tIns="0" bIns="0">
            <a:spAutoFit/>
          </a:bodyPr>
          <a:lstStyle/>
          <a:p>
            <a:pPr algn="l"/>
            <a:r>
              <a:rPr sz="2800" b="1">
                <a:solidFill>
                  <a:srgbClr val="003B5C"/>
                </a:solidFill>
                <a:latin typeface="Calibri"/>
              </a:rPr>
              <a:t>MPP</a:t>
            </a:r>
          </a:p>
        </p:txBody>
      </p:sp>
      <p:sp>
        <p:nvSpPr>
          <p:cNvPr id="14" name="TextBox 13"/>
          <p:cNvSpPr txBox="1"/>
          <p:nvPr/>
        </p:nvSpPr>
        <p:spPr>
          <a:xfrm>
            <a:off x="6446520" y="2514600"/>
            <a:ext cx="4572000" cy="274320"/>
          </a:xfrm>
          <a:prstGeom prst="rect">
            <a:avLst/>
          </a:prstGeom>
          <a:noFill/>
        </p:spPr>
        <p:txBody>
          <a:bodyPr wrap="square" lIns="0" rIns="0" tIns="0" bIns="0">
            <a:spAutoFit/>
          </a:bodyPr>
          <a:lstStyle/>
          <a:p>
            <a:pPr algn="l"/>
            <a:r>
              <a:rPr sz="1200" b="0">
                <a:solidFill>
                  <a:srgbClr val="9B9B9B"/>
                </a:solidFill>
                <a:latin typeface="Calibri"/>
              </a:rPr>
              <a:t>Stripe / Tempo  (Machine Payment Protocol)</a:t>
            </a:r>
          </a:p>
        </p:txBody>
      </p:sp>
      <p:sp>
        <p:nvSpPr>
          <p:cNvPr id="15" name="TextBox 14"/>
          <p:cNvSpPr txBox="1"/>
          <p:nvPr/>
        </p:nvSpPr>
        <p:spPr>
          <a:xfrm>
            <a:off x="6446520" y="2834640"/>
            <a:ext cx="4572000" cy="1280160"/>
          </a:xfrm>
          <a:prstGeom prst="rect">
            <a:avLst/>
          </a:prstGeom>
          <a:noFill/>
        </p:spPr>
        <p:txBody>
          <a:bodyPr wrap="square" lIns="0" rIns="0" tIns="0" bIns="0">
            <a:spAutoFit/>
          </a:bodyPr>
          <a:lstStyle/>
          <a:p>
            <a:pPr algn="l"/>
            <a:r>
              <a:rPr sz="1300" b="0">
                <a:solidFill>
                  <a:srgbClr val="333333"/>
                </a:solidFill>
                <a:latin typeface="Calibri"/>
              </a:rPr>
              <a:t>Session-based, batched agent payments — depends on stablecoin/crypto rails under the hood. Stripe launched with 100+ services in March 2026. Card-only Fiserv cannot route these flows.</a:t>
            </a:r>
          </a:p>
        </p:txBody>
      </p:sp>
      <p:sp>
        <p:nvSpPr>
          <p:cNvPr id="16" name="Rounded Rectangle 15"/>
          <p:cNvSpPr/>
          <p:nvPr/>
        </p:nvSpPr>
        <p:spPr>
          <a:xfrm>
            <a:off x="6446520" y="4160520"/>
            <a:ext cx="4572000" cy="347472"/>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GAP  —  NO CRYPTO ACCEPTANCE</a:t>
            </a:r>
          </a:p>
        </p:txBody>
      </p:sp>
      <p:sp>
        <p:nvSpPr>
          <p:cNvPr id="18" name="Rectangle 17"/>
          <p:cNvSpPr/>
          <p:nvPr/>
        </p:nvSpPr>
        <p:spPr>
          <a:xfrm>
            <a:off x="731520" y="4937760"/>
            <a:ext cx="1069848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29200"/>
            <a:ext cx="10332720" cy="1188720"/>
          </a:xfrm>
          <a:prstGeom prst="rect">
            <a:avLst/>
          </a:prstGeom>
          <a:noFill/>
        </p:spPr>
        <p:txBody>
          <a:bodyPr wrap="square" lIns="0" rIns="0" tIns="0" bIns="0">
            <a:spAutoFit/>
          </a:bodyPr>
          <a:lstStyle/>
          <a:p>
            <a:pPr algn="l"/>
            <a:r>
              <a:rPr sz="1400" b="1">
                <a:solidFill>
                  <a:srgbClr val="FF6600"/>
                </a:solidFill>
                <a:latin typeface="Calibri"/>
              </a:rPr>
              <a:t>The point:</a:t>
            </a:r>
          </a:p>
          <a:p>
            <a:pPr algn="l"/>
            <a:r>
              <a:rPr sz="1200" b="0">
                <a:solidFill>
                  <a:srgbClr val="FFFFFF"/>
                </a:solidFill>
                <a:latin typeface="Calibri"/>
              </a:rPr>
              <a:t>Agent-to-agent / machine-to-machine commerce is real, and the two leading protocols (x402 and MPP) both require crypto + microtransaction rails.</a:t>
            </a:r>
          </a:p>
          <a:p>
            <a:pPr algn="l"/>
            <a:r>
              <a:rPr sz="1200" b="0">
                <a:solidFill>
                  <a:srgbClr val="FFFFFF"/>
                </a:solidFill>
                <a:latin typeface="Calibri"/>
              </a:rPr>
              <a:t>Without crypto acceptance, Fiserv cannot route AI-agent payments at all — neither through x402 (where we are a founding member) nor through MPP (where Stripe already ships).</a:t>
            </a:r>
          </a:p>
          <a:p>
            <a:pPr algn="l"/>
            <a:r>
              <a:rPr sz="1200" b="1">
                <a:solidFill>
                  <a:srgbClr val="FF6600"/>
                </a:solidFill>
                <a:latin typeface="Calibri"/>
              </a:rPr>
              <a:t>Coinbase partnership closes both gaps in one integration.</a:t>
            </a:r>
          </a:p>
        </p:txBody>
      </p:sp>
    </p:spTree>
    <p:extLst>
      <p:ext uri="{BB962C8B-B14F-4D97-AF65-F5344CB8AC3E}">
        <p14:creationId xmlns:p14="http://schemas.microsoft.com/office/powerpoint/2010/main" val="9942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
        <p:nvSpPr>
          <p:cNvPr id="4" name="Rounded Rectangle 3"/>
          <p:cNvSpPr/>
          <p:nvPr/>
        </p:nvSpPr>
        <p:spPr>
          <a:xfrm>
            <a:off x="731520" y="1280160"/>
            <a:ext cx="5245863" cy="37873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2952" y="1371600"/>
            <a:ext cx="4937760" cy="369332"/>
          </a:xfrm>
          <a:prstGeom prst="rect">
            <a:avLst/>
          </a:prstGeom>
          <a:noFill/>
        </p:spPr>
        <p:txBody>
          <a:bodyPr wrap="square">
            <a:spAutoFit/>
          </a:bodyPr>
          <a:lstStyle/>
          <a:p>
            <a:pPr algn="l">
              <a:defRPr sz="1800" b="1">
                <a:solidFill>
                  <a:srgbClr val="C62828"/>
                </a:solidFill>
                <a:latin typeface="Calibri"/>
              </a:defRPr>
            </a:pPr>
            <a:r>
              <a:rPr dirty="0">
                <a:solidFill>
                  <a:srgbClr val="FF6600"/>
                </a:solidFill>
              </a:rPr>
              <a:t>Don't Build a Proprietary Protocol</a:t>
            </a:r>
          </a:p>
        </p:txBody>
      </p:sp>
      <p:sp>
        <p:nvSpPr>
          <p:cNvPr id="6" name="Rectangle 5"/>
          <p:cNvSpPr/>
          <p:nvPr/>
        </p:nvSpPr>
        <p:spPr>
          <a:xfrm>
            <a:off x="1097280" y="196596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874519"/>
            <a:ext cx="4389120" cy="457200"/>
          </a:xfrm>
          <a:prstGeom prst="rect">
            <a:avLst/>
          </a:prstGeom>
          <a:noFill/>
        </p:spPr>
        <p:txBody>
          <a:bodyPr wrap="square">
            <a:spAutoFit/>
          </a:bodyPr>
          <a:lstStyle/>
          <a:p>
            <a:pPr algn="l">
              <a:defRPr sz="1200" b="0">
                <a:solidFill>
                  <a:srgbClr val="333333"/>
                </a:solidFill>
                <a:latin typeface="Calibri"/>
              </a:defRPr>
            </a:pPr>
            <a:r>
              <a:t>Fiserv publicly committed to x402 Foundation (Apr 2, 2026)</a:t>
            </a:r>
          </a:p>
        </p:txBody>
      </p:sp>
      <p:sp>
        <p:nvSpPr>
          <p:cNvPr id="8" name="Rectangle 7"/>
          <p:cNvSpPr/>
          <p:nvPr/>
        </p:nvSpPr>
        <p:spPr>
          <a:xfrm>
            <a:off x="1097280" y="246888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377439"/>
            <a:ext cx="4389120" cy="457200"/>
          </a:xfrm>
          <a:prstGeom prst="rect">
            <a:avLst/>
          </a:prstGeom>
          <a:noFill/>
        </p:spPr>
        <p:txBody>
          <a:bodyPr wrap="square">
            <a:spAutoFit/>
          </a:bodyPr>
          <a:lstStyle/>
          <a:p>
            <a:pPr algn="l">
              <a:defRPr sz="1200" b="0">
                <a:solidFill>
                  <a:srgbClr val="333333"/>
                </a:solidFill>
                <a:latin typeface="Calibri"/>
              </a:defRPr>
            </a:pPr>
            <a:r>
              <a:t>Adyen (closest analog) is NOT building their own</a:t>
            </a:r>
          </a:p>
        </p:txBody>
      </p:sp>
      <p:sp>
        <p:nvSpPr>
          <p:cNvPr id="10" name="Rectangle 9"/>
          <p:cNvSpPr/>
          <p:nvPr/>
        </p:nvSpPr>
        <p:spPr>
          <a:xfrm>
            <a:off x="1097280" y="297180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2880360"/>
            <a:ext cx="4389120" cy="457200"/>
          </a:xfrm>
          <a:prstGeom prst="rect">
            <a:avLst/>
          </a:prstGeom>
          <a:noFill/>
        </p:spPr>
        <p:txBody>
          <a:bodyPr wrap="square">
            <a:spAutoFit/>
          </a:bodyPr>
          <a:lstStyle/>
          <a:p>
            <a:pPr algn="l">
              <a:defRPr sz="1200" b="0">
                <a:solidFill>
                  <a:srgbClr val="333333"/>
                </a:solidFill>
                <a:latin typeface="Calibri"/>
              </a:defRPr>
            </a:pPr>
            <a:r>
              <a:t>Protocol adoption requires ecosystem (22+ members vs 0)</a:t>
            </a:r>
          </a:p>
        </p:txBody>
      </p:sp>
      <p:sp>
        <p:nvSpPr>
          <p:cNvPr id="12" name="Rectangle 11"/>
          <p:cNvSpPr/>
          <p:nvPr/>
        </p:nvSpPr>
        <p:spPr>
          <a:xfrm>
            <a:off x="1097280" y="347472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3383280"/>
            <a:ext cx="4389120" cy="457200"/>
          </a:xfrm>
          <a:prstGeom prst="rect">
            <a:avLst/>
          </a:prstGeom>
          <a:noFill/>
        </p:spPr>
        <p:txBody>
          <a:bodyPr wrap="square">
            <a:spAutoFit/>
          </a:bodyPr>
          <a:lstStyle/>
          <a:p>
            <a:pPr algn="l">
              <a:defRPr sz="1200" b="0">
                <a:solidFill>
                  <a:srgbClr val="333333"/>
                </a:solidFill>
                <a:latin typeface="Calibri"/>
              </a:defRPr>
            </a:pPr>
            <a:r>
              <a:t>12-18 months engineering cost for zero network effects</a:t>
            </a:r>
          </a:p>
        </p:txBody>
      </p:sp>
      <p:sp>
        <p:nvSpPr>
          <p:cNvPr id="14" name="Rectangle 13"/>
          <p:cNvSpPr/>
          <p:nvPr/>
        </p:nvSpPr>
        <p:spPr>
          <a:xfrm>
            <a:off x="1097280" y="3977639"/>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3886200"/>
            <a:ext cx="4389120" cy="457200"/>
          </a:xfrm>
          <a:prstGeom prst="rect">
            <a:avLst/>
          </a:prstGeom>
          <a:noFill/>
        </p:spPr>
        <p:txBody>
          <a:bodyPr wrap="square">
            <a:spAutoFit/>
          </a:bodyPr>
          <a:lstStyle/>
          <a:p>
            <a:pPr algn="l">
              <a:defRPr sz="1200" b="0">
                <a:solidFill>
                  <a:srgbClr val="333333"/>
                </a:solidFill>
                <a:latin typeface="Calibri"/>
              </a:defRPr>
            </a:pPr>
            <a:r>
              <a:t>Every Fiserv advantage deliverable as implementation layer</a:t>
            </a:r>
          </a:p>
        </p:txBody>
      </p:sp>
      <p:sp>
        <p:nvSpPr>
          <p:cNvPr id="16" name="Rounded Rectangle 15"/>
          <p:cNvSpPr/>
          <p:nvPr/>
        </p:nvSpPr>
        <p:spPr>
          <a:xfrm>
            <a:off x="6400800" y="1280160"/>
            <a:ext cx="5029200" cy="3787328"/>
          </a:xfrm>
          <a:prstGeom prst="round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2232" y="1371600"/>
            <a:ext cx="4937760" cy="369332"/>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Build the Best Implementation Layer</a:t>
            </a:r>
          </a:p>
        </p:txBody>
      </p:sp>
      <p:sp>
        <p:nvSpPr>
          <p:cNvPr id="18" name="Rectangle 17"/>
          <p:cNvSpPr/>
          <p:nvPr/>
        </p:nvSpPr>
        <p:spPr>
          <a:xfrm>
            <a:off x="6766560" y="19659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0" y="1874519"/>
            <a:ext cx="4389120" cy="276999"/>
          </a:xfrm>
          <a:prstGeom prst="rect">
            <a:avLst/>
          </a:prstGeom>
          <a:noFill/>
        </p:spPr>
        <p:txBody>
          <a:bodyPr wrap="square">
            <a:spAutoFit/>
          </a:bodyPr>
          <a:lstStyle/>
          <a:p>
            <a:pPr algn="l">
              <a:defRPr sz="1200" b="0">
                <a:solidFill>
                  <a:srgbClr val="333333"/>
                </a:solidFill>
                <a:latin typeface="Calibri"/>
              </a:defRPr>
            </a:pPr>
            <a:r>
              <a:rPr dirty="0">
                <a:solidFill>
                  <a:srgbClr val="002060"/>
                </a:solidFill>
              </a:rPr>
              <a:t>Protocol-agnostic gateway (x402 + MPP + AP2 + TAP)</a:t>
            </a:r>
          </a:p>
        </p:txBody>
      </p:sp>
      <p:sp>
        <p:nvSpPr>
          <p:cNvPr id="20" name="Rectangle 19"/>
          <p:cNvSpPr/>
          <p:nvPr/>
        </p:nvSpPr>
        <p:spPr>
          <a:xfrm>
            <a:off x="6766560" y="246888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0" y="2377439"/>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Default to FIUSD settlement on Solana</a:t>
            </a:r>
          </a:p>
        </p:txBody>
      </p:sp>
      <p:sp>
        <p:nvSpPr>
          <p:cNvPr id="22" name="Rectangle 21"/>
          <p:cNvSpPr/>
          <p:nvPr/>
        </p:nvSpPr>
        <p:spPr>
          <a:xfrm>
            <a:off x="6766560" y="297180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0" y="288036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Bank-verified agent identity via Finxact KYC</a:t>
            </a:r>
          </a:p>
        </p:txBody>
      </p:sp>
      <p:sp>
        <p:nvSpPr>
          <p:cNvPr id="24" name="Rectangle 23"/>
          <p:cNvSpPr/>
          <p:nvPr/>
        </p:nvSpPr>
        <p:spPr>
          <a:xfrm>
            <a:off x="6766560" y="347472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0" y="338328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6M merchant auto-enablement via software update</a:t>
            </a:r>
          </a:p>
        </p:txBody>
      </p:sp>
      <p:sp>
        <p:nvSpPr>
          <p:cNvPr id="26" name="Rectangle 25"/>
          <p:cNvSpPr/>
          <p:nvPr/>
        </p:nvSpPr>
        <p:spPr>
          <a:xfrm>
            <a:off x="6766560" y="3977639"/>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388620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Agent SDK (TypeScript + Python)</a:t>
            </a:r>
          </a:p>
        </p:txBody>
      </p:sp>
      <p:sp>
        <p:nvSpPr>
          <p:cNvPr id="28" name="Rectangle 27"/>
          <p:cNvSpPr/>
          <p:nvPr/>
        </p:nvSpPr>
        <p:spPr>
          <a:xfrm>
            <a:off x="6766560" y="44805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0" y="438912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Commerce Profile" within x402 specs</a:t>
            </a:r>
          </a:p>
        </p:txBody>
      </p:sp>
      <p:sp>
        <p:nvSpPr>
          <p:cNvPr id="30" name="Rounded Rectangle 29"/>
          <p:cNvSpPr/>
          <p:nvPr/>
        </p:nvSpPr>
        <p:spPr>
          <a:xfrm>
            <a:off x="746760" y="5608785"/>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2520" y="5654505"/>
            <a:ext cx="10058400" cy="365760"/>
          </a:xfrm>
          <a:prstGeom prst="rect">
            <a:avLst/>
          </a:prstGeom>
          <a:noFill/>
        </p:spPr>
        <p:txBody>
          <a:bodyPr wrap="square">
            <a:spAutoFit/>
          </a:bodyPr>
          <a:lstStyle/>
          <a:p>
            <a:pPr algn="ctr">
              <a:defRPr sz="1300" b="0">
                <a:solidFill>
                  <a:srgbClr val="FFFFFF"/>
                </a:solidFill>
                <a:latin typeface="Calibri"/>
              </a:defRPr>
            </a:pPr>
            <a:r>
              <a:t>Same strategic pattern that made CommerceHub successful: don't own the network, own the orchestration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A05EF3-8D1D-5B61-286C-A74814C15B88}"/>
              </a:ext>
            </a:extLst>
          </p:cNvPr>
          <p:cNvSpPr txBox="1"/>
          <p:nvPr/>
        </p:nvSpPr>
        <p:spPr>
          <a:xfrm>
            <a:off x="914400" y="1371600"/>
            <a:ext cx="10332720" cy="1371600"/>
          </a:xfrm>
          <a:prstGeom prst="rect">
            <a:avLst/>
          </a:prstGeom>
          <a:noFill/>
        </p:spPr>
        <p:txBody>
          <a:bodyPr wrap="square">
            <a:spAutoFit/>
          </a:bodyPr>
          <a:lstStyle/>
          <a:p>
            <a:pPr algn="ctr">
              <a:defRPr sz="4000" b="1">
                <a:solidFill>
                  <a:srgbClr val="FF6600"/>
                </a:solidFill>
                <a:latin typeface="Calibri"/>
              </a:defRPr>
            </a:pPr>
            <a:r>
              <a:rPr dirty="0"/>
              <a:t>One Software Update =</a:t>
            </a:r>
            <a:br>
              <a:rPr dirty="0"/>
            </a:br>
            <a:r>
              <a:rPr lang="en-US" dirty="0"/>
              <a:t>All</a:t>
            </a:r>
            <a:r>
              <a:rPr dirty="0"/>
              <a:t> Agent-Payable Merchants</a:t>
            </a:r>
          </a:p>
        </p:txBody>
      </p:sp>
      <p:sp>
        <p:nvSpPr>
          <p:cNvPr id="6" name="Rounded Rectangle 4">
            <a:extLst>
              <a:ext uri="{FF2B5EF4-FFF2-40B4-BE49-F238E27FC236}">
                <a16:creationId xmlns:a16="http://schemas.microsoft.com/office/drawing/2014/main" id="{2BC7BC54-A21B-D018-BAC9-9E39A69F2933}"/>
              </a:ext>
            </a:extLst>
          </p:cNvPr>
          <p:cNvSpPr/>
          <p:nvPr/>
        </p:nvSpPr>
        <p:spPr>
          <a:xfrm>
            <a:off x="91440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7FA3997-D93D-4090-2CCA-11A591C7B3B2}"/>
              </a:ext>
            </a:extLst>
          </p:cNvPr>
          <p:cNvSpPr txBox="1"/>
          <p:nvPr/>
        </p:nvSpPr>
        <p:spPr>
          <a:xfrm>
            <a:off x="1188720" y="3383280"/>
            <a:ext cx="4206240" cy="365760"/>
          </a:xfrm>
          <a:prstGeom prst="rect">
            <a:avLst/>
          </a:prstGeom>
          <a:noFill/>
        </p:spPr>
        <p:txBody>
          <a:bodyPr wrap="square">
            <a:spAutoFit/>
          </a:bodyPr>
          <a:lstStyle/>
          <a:p>
            <a:pPr algn="l">
              <a:defRPr sz="1800" b="1">
                <a:solidFill>
                  <a:srgbClr val="C62828"/>
                </a:solidFill>
                <a:latin typeface="Calibri"/>
              </a:defRPr>
            </a:pPr>
            <a:r>
              <a:t>Stripe's Approach</a:t>
            </a:r>
          </a:p>
        </p:txBody>
      </p:sp>
      <p:sp>
        <p:nvSpPr>
          <p:cNvPr id="8" name="TextBox 7">
            <a:extLst>
              <a:ext uri="{FF2B5EF4-FFF2-40B4-BE49-F238E27FC236}">
                <a16:creationId xmlns:a16="http://schemas.microsoft.com/office/drawing/2014/main" id="{C89CC33F-1B06-F994-7FEB-4D9638950AB9}"/>
              </a:ext>
            </a:extLst>
          </p:cNvPr>
          <p:cNvSpPr txBox="1"/>
          <p:nvPr/>
        </p:nvSpPr>
        <p:spPr>
          <a:xfrm>
            <a:off x="1188720" y="3840480"/>
            <a:ext cx="4206240" cy="914400"/>
          </a:xfrm>
          <a:prstGeom prst="rect">
            <a:avLst/>
          </a:prstGeom>
          <a:noFill/>
        </p:spPr>
        <p:txBody>
          <a:bodyPr wrap="square">
            <a:spAutoFit/>
          </a:bodyPr>
          <a:lstStyle/>
          <a:p>
            <a:pPr algn="l">
              <a:defRPr sz="1300" b="0">
                <a:solidFill>
                  <a:srgbClr val="FFFFFF"/>
                </a:solidFill>
                <a:latin typeface="Calibri"/>
              </a:defRPr>
            </a:pPr>
            <a:r>
              <a:t>Convince merchants one by one</a:t>
            </a:r>
            <a:br/>
            <a:r>
              <a:t>Each integration requires developer effort</a:t>
            </a:r>
            <a:br/>
            <a:r>
              <a:t>100+ services at MPP launch (March 2026)</a:t>
            </a:r>
          </a:p>
        </p:txBody>
      </p:sp>
      <p:sp>
        <p:nvSpPr>
          <p:cNvPr id="9" name="Rounded Rectangle 7">
            <a:extLst>
              <a:ext uri="{FF2B5EF4-FFF2-40B4-BE49-F238E27FC236}">
                <a16:creationId xmlns:a16="http://schemas.microsoft.com/office/drawing/2014/main" id="{4D68C9F0-2181-FB51-7A25-97364A34DA80}"/>
              </a:ext>
            </a:extLst>
          </p:cNvPr>
          <p:cNvSpPr/>
          <p:nvPr/>
        </p:nvSpPr>
        <p:spPr>
          <a:xfrm>
            <a:off x="649224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8740885-A532-A860-1B1E-0CEF5FB1CA44}"/>
              </a:ext>
            </a:extLst>
          </p:cNvPr>
          <p:cNvSpPr txBox="1"/>
          <p:nvPr/>
        </p:nvSpPr>
        <p:spPr>
          <a:xfrm>
            <a:off x="6766560" y="3383280"/>
            <a:ext cx="4206240" cy="365760"/>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Fiserv's Approach</a:t>
            </a:r>
          </a:p>
        </p:txBody>
      </p:sp>
      <p:sp>
        <p:nvSpPr>
          <p:cNvPr id="11" name="TextBox 10">
            <a:extLst>
              <a:ext uri="{FF2B5EF4-FFF2-40B4-BE49-F238E27FC236}">
                <a16:creationId xmlns:a16="http://schemas.microsoft.com/office/drawing/2014/main" id="{876CAFF5-F4F1-98DA-58B5-4341C7A726FB}"/>
              </a:ext>
            </a:extLst>
          </p:cNvPr>
          <p:cNvSpPr txBox="1"/>
          <p:nvPr/>
        </p:nvSpPr>
        <p:spPr>
          <a:xfrm>
            <a:off x="6766560" y="3840480"/>
            <a:ext cx="4206240" cy="692497"/>
          </a:xfrm>
          <a:prstGeom prst="rect">
            <a:avLst/>
          </a:prstGeom>
          <a:noFill/>
        </p:spPr>
        <p:txBody>
          <a:bodyPr wrap="square">
            <a:spAutoFit/>
          </a:bodyPr>
          <a:lstStyle/>
          <a:p>
            <a:pPr algn="l">
              <a:defRPr sz="1300" b="0">
                <a:solidFill>
                  <a:srgbClr val="FFFFFF"/>
                </a:solidFill>
                <a:latin typeface="Calibri"/>
              </a:defRPr>
            </a:pPr>
            <a:r>
              <a:rPr dirty="0"/>
              <a:t>Push software update to Clover + CommerceHub</a:t>
            </a:r>
            <a:br>
              <a:rPr dirty="0"/>
            </a:br>
            <a:r>
              <a:rPr dirty="0"/>
              <a:t>Zero merchant effort required</a:t>
            </a:r>
            <a:br>
              <a:rPr dirty="0"/>
            </a:br>
            <a:r>
              <a:rPr lang="en-US" dirty="0"/>
              <a:t>All</a:t>
            </a:r>
            <a:r>
              <a:rPr dirty="0"/>
              <a:t> merchants overnight</a:t>
            </a:r>
          </a:p>
        </p:txBody>
      </p:sp>
      <p:sp>
        <p:nvSpPr>
          <p:cNvPr id="12" name="TextBox 11">
            <a:extLst>
              <a:ext uri="{FF2B5EF4-FFF2-40B4-BE49-F238E27FC236}">
                <a16:creationId xmlns:a16="http://schemas.microsoft.com/office/drawing/2014/main" id="{D816CCF7-7B68-5BA4-84A3-3F33ADA9F278}"/>
              </a:ext>
            </a:extLst>
          </p:cNvPr>
          <p:cNvSpPr txBox="1"/>
          <p:nvPr/>
        </p:nvSpPr>
        <p:spPr>
          <a:xfrm>
            <a:off x="5356898" y="3941379"/>
            <a:ext cx="1371600" cy="457200"/>
          </a:xfrm>
          <a:prstGeom prst="rect">
            <a:avLst/>
          </a:prstGeom>
          <a:noFill/>
        </p:spPr>
        <p:txBody>
          <a:bodyPr wrap="square">
            <a:spAutoFit/>
          </a:bodyPr>
          <a:lstStyle/>
          <a:p>
            <a:pPr algn="ctr">
              <a:defRPr sz="2400" b="1">
                <a:solidFill>
                  <a:srgbClr val="FF6600"/>
                </a:solidFill>
                <a:latin typeface="Calibri"/>
              </a:defRPr>
            </a:pPr>
            <a:r>
              <a:rPr dirty="0"/>
              <a:t>VS</a:t>
            </a:r>
          </a:p>
        </p:txBody>
      </p:sp>
      <p:sp>
        <p:nvSpPr>
          <p:cNvPr id="13" name="TextBox 12">
            <a:extLst>
              <a:ext uri="{FF2B5EF4-FFF2-40B4-BE49-F238E27FC236}">
                <a16:creationId xmlns:a16="http://schemas.microsoft.com/office/drawing/2014/main" id="{102DCC97-858F-D191-E677-1AFC8EF5895B}"/>
              </a:ext>
            </a:extLst>
          </p:cNvPr>
          <p:cNvSpPr txBox="1"/>
          <p:nvPr/>
        </p:nvSpPr>
        <p:spPr>
          <a:xfrm>
            <a:off x="914400" y="5486400"/>
            <a:ext cx="10332720" cy="523220"/>
          </a:xfrm>
          <a:prstGeom prst="rect">
            <a:avLst/>
          </a:prstGeom>
          <a:noFill/>
        </p:spPr>
        <p:txBody>
          <a:bodyPr wrap="square">
            <a:spAutoFit/>
          </a:bodyPr>
          <a:lstStyle/>
          <a:p>
            <a:pPr algn="ctr">
              <a:defRPr sz="1400" b="0">
                <a:solidFill>
                  <a:srgbClr val="FFFFFF"/>
                </a:solidFill>
                <a:latin typeface="Calibri"/>
              </a:defRPr>
            </a:pPr>
            <a:r>
              <a:rPr dirty="0">
                <a:solidFill>
                  <a:srgbClr val="FF6600"/>
                </a:solidFill>
              </a:rPr>
              <a:t>Every AI shopping agent that speaks x402 can immediately pay at every Fiserv merchant.</a:t>
            </a:r>
            <a:br>
              <a:rPr dirty="0">
                <a:solidFill>
                  <a:srgbClr val="FF6600"/>
                </a:solidFill>
              </a:rPr>
            </a:br>
            <a:r>
              <a:rPr dirty="0">
                <a:solidFill>
                  <a:srgbClr val="FF6600"/>
                </a:solidFill>
              </a:rPr>
              <a:t>Fiserv becomes the largest x402 merchant network overnight.</a:t>
            </a:r>
          </a:p>
        </p:txBody>
      </p:sp>
      <p:sp>
        <p:nvSpPr>
          <p:cNvPr id="17" name="TextBox 16">
            <a:extLst>
              <a:ext uri="{FF2B5EF4-FFF2-40B4-BE49-F238E27FC236}">
                <a16:creationId xmlns:a16="http://schemas.microsoft.com/office/drawing/2014/main" id="{70D08771-9543-A475-B46F-DF5D3B19631E}"/>
              </a:ext>
            </a:extLst>
          </p:cNvPr>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Tree>
    <p:extLst>
      <p:ext uri="{BB962C8B-B14F-4D97-AF65-F5344CB8AC3E}">
        <p14:creationId xmlns:p14="http://schemas.microsoft.com/office/powerpoint/2010/main" val="3853012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Blue Ocean: Four Actions Framework</a:t>
            </a:r>
          </a:p>
        </p:txBody>
      </p:sp>
      <p:sp>
        <p:nvSpPr>
          <p:cNvPr id="4" name="TextBox 3"/>
          <p:cNvSpPr txBox="1"/>
          <p:nvPr/>
        </p:nvSpPr>
        <p:spPr>
          <a:xfrm>
            <a:off x="731520" y="868680"/>
            <a:ext cx="10058400" cy="365760"/>
          </a:xfrm>
          <a:prstGeom prst="rect">
            <a:avLst/>
          </a:prstGeom>
          <a:noFill/>
        </p:spPr>
        <p:txBody>
          <a:bodyPr wrap="square">
            <a:spAutoFit/>
          </a:bodyPr>
          <a:lstStyle/>
          <a:p>
            <a:pPr algn="l">
              <a:defRPr sz="1300" b="0">
                <a:solidFill>
                  <a:srgbClr val="9B9B9B"/>
                </a:solidFill>
                <a:latin typeface="Calibri"/>
              </a:defRPr>
            </a:pPr>
            <a:r>
              <a:rPr dirty="0"/>
              <a:t>The blue ocean is not "crypto payments for merchants" -- it's a bank-issued stablecoin payment network</a:t>
            </a:r>
          </a:p>
        </p:txBody>
      </p:sp>
      <p:sp>
        <p:nvSpPr>
          <p:cNvPr id="5" name="Rounded Rectangle 4"/>
          <p:cNvSpPr/>
          <p:nvPr/>
        </p:nvSpPr>
        <p:spPr>
          <a:xfrm>
            <a:off x="73152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63040"/>
            <a:ext cx="73152" cy="19202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00200"/>
            <a:ext cx="4572000" cy="365760"/>
          </a:xfrm>
          <a:prstGeom prst="rect">
            <a:avLst/>
          </a:prstGeom>
          <a:noFill/>
        </p:spPr>
        <p:txBody>
          <a:bodyPr wrap="square">
            <a:spAutoFit/>
          </a:bodyPr>
          <a:lstStyle/>
          <a:p>
            <a:pPr algn="l">
              <a:defRPr sz="1800" b="1">
                <a:solidFill>
                  <a:srgbClr val="C62828"/>
                </a:solidFill>
                <a:latin typeface="Calibri"/>
              </a:defRPr>
            </a:pPr>
            <a:r>
              <a:t>ELIMINATE</a:t>
            </a:r>
          </a:p>
        </p:txBody>
      </p:sp>
      <p:sp>
        <p:nvSpPr>
          <p:cNvPr id="8" name="TextBox 7"/>
          <p:cNvSpPr txBox="1"/>
          <p:nvPr/>
        </p:nvSpPr>
        <p:spPr>
          <a:xfrm>
            <a:off x="1005840" y="1965960"/>
            <a:ext cx="4572000" cy="1280160"/>
          </a:xfrm>
          <a:prstGeom prst="rect">
            <a:avLst/>
          </a:prstGeom>
          <a:noFill/>
        </p:spPr>
        <p:txBody>
          <a:bodyPr wrap="square">
            <a:spAutoFit/>
          </a:bodyPr>
          <a:lstStyle/>
          <a:p>
            <a:pPr algn="l">
              <a:defRPr sz="1200" b="0">
                <a:solidFill>
                  <a:srgbClr val="333333"/>
                </a:solidFill>
                <a:latin typeface="Calibri"/>
              </a:defRPr>
            </a:pPr>
            <a:r>
              <a:rPr dirty="0"/>
              <a:t>Crypto volatility risk for merchants</a:t>
            </a:r>
            <a:br>
              <a:rPr dirty="0"/>
            </a:br>
            <a:br>
              <a:rPr dirty="0"/>
            </a:br>
            <a:r>
              <a:rPr dirty="0"/>
              <a:t>Auto-convert everything to USD via INDX in real-time. Merchants never touch crypto.</a:t>
            </a:r>
          </a:p>
        </p:txBody>
      </p:sp>
      <p:sp>
        <p:nvSpPr>
          <p:cNvPr id="9" name="Rounded Rectangle 8"/>
          <p:cNvSpPr/>
          <p:nvPr/>
        </p:nvSpPr>
        <p:spPr>
          <a:xfrm>
            <a:off x="640080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463040"/>
            <a:ext cx="73152" cy="19202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600200"/>
            <a:ext cx="4572000" cy="365760"/>
          </a:xfrm>
          <a:prstGeom prst="rect">
            <a:avLst/>
          </a:prstGeom>
          <a:noFill/>
        </p:spPr>
        <p:txBody>
          <a:bodyPr wrap="square">
            <a:spAutoFit/>
          </a:bodyPr>
          <a:lstStyle/>
          <a:p>
            <a:pPr algn="l">
              <a:defRPr sz="1800" b="1">
                <a:solidFill>
                  <a:srgbClr val="E65C00"/>
                </a:solidFill>
                <a:latin typeface="Calibri"/>
              </a:defRPr>
            </a:pPr>
            <a:r>
              <a:t>REDUCE</a:t>
            </a:r>
          </a:p>
        </p:txBody>
      </p:sp>
      <p:sp>
        <p:nvSpPr>
          <p:cNvPr id="12" name="TextBox 11"/>
          <p:cNvSpPr txBox="1"/>
          <p:nvPr/>
        </p:nvSpPr>
        <p:spPr>
          <a:xfrm>
            <a:off x="6675120" y="1965960"/>
            <a:ext cx="4572000" cy="1280160"/>
          </a:xfrm>
          <a:prstGeom prst="rect">
            <a:avLst/>
          </a:prstGeom>
          <a:noFill/>
        </p:spPr>
        <p:txBody>
          <a:bodyPr wrap="square">
            <a:spAutoFit/>
          </a:bodyPr>
          <a:lstStyle/>
          <a:p>
            <a:pPr algn="l">
              <a:defRPr sz="1200" b="0">
                <a:solidFill>
                  <a:srgbClr val="333333"/>
                </a:solidFill>
                <a:latin typeface="Calibri"/>
              </a:defRPr>
            </a:pPr>
            <a:r>
              <a:t>Integration complexity</a:t>
            </a:r>
            <a:br/>
            <a:br/>
            <a:r>
              <a:t>One API toggle in CommerceHub. One button on Clover. Merchant does nothing.</a:t>
            </a:r>
          </a:p>
        </p:txBody>
      </p:sp>
      <p:sp>
        <p:nvSpPr>
          <p:cNvPr id="13" name="Rounded Rectangle 12"/>
          <p:cNvSpPr/>
          <p:nvPr/>
        </p:nvSpPr>
        <p:spPr>
          <a:xfrm>
            <a:off x="73152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657600"/>
            <a:ext cx="73152" cy="192024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794760"/>
            <a:ext cx="4572000" cy="365760"/>
          </a:xfrm>
          <a:prstGeom prst="rect">
            <a:avLst/>
          </a:prstGeom>
          <a:noFill/>
        </p:spPr>
        <p:txBody>
          <a:bodyPr wrap="square">
            <a:spAutoFit/>
          </a:bodyPr>
          <a:lstStyle/>
          <a:p>
            <a:pPr algn="l">
              <a:defRPr sz="1800" b="1">
                <a:solidFill>
                  <a:srgbClr val="008090"/>
                </a:solidFill>
                <a:latin typeface="Calibri"/>
              </a:defRPr>
            </a:pPr>
            <a:r>
              <a:t>RAISE</a:t>
            </a:r>
          </a:p>
        </p:txBody>
      </p:sp>
      <p:sp>
        <p:nvSpPr>
          <p:cNvPr id="16" name="TextBox 15"/>
          <p:cNvSpPr txBox="1"/>
          <p:nvPr/>
        </p:nvSpPr>
        <p:spPr>
          <a:xfrm>
            <a:off x="1005840" y="4160520"/>
            <a:ext cx="4572000" cy="1280160"/>
          </a:xfrm>
          <a:prstGeom prst="rect">
            <a:avLst/>
          </a:prstGeom>
          <a:noFill/>
        </p:spPr>
        <p:txBody>
          <a:bodyPr wrap="square">
            <a:spAutoFit/>
          </a:bodyPr>
          <a:lstStyle/>
          <a:p>
            <a:pPr algn="l">
              <a:defRPr sz="1200" b="0">
                <a:solidFill>
                  <a:srgbClr val="333333"/>
                </a:solidFill>
                <a:latin typeface="Calibri"/>
              </a:defRPr>
            </a:pPr>
            <a:r>
              <a:t>Regulatory confidence</a:t>
            </a:r>
            <a:br/>
            <a:br/>
            <a:r>
              <a:t>FDIC-insured settlement. Bank-embedded stablecoin. Regulated banking core. GENIUS Act compliant.</a:t>
            </a:r>
          </a:p>
        </p:txBody>
      </p:sp>
      <p:sp>
        <p:nvSpPr>
          <p:cNvPr id="17" name="Rounded Rectangle 16"/>
          <p:cNvSpPr/>
          <p:nvPr/>
        </p:nvSpPr>
        <p:spPr>
          <a:xfrm>
            <a:off x="640080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3657600"/>
            <a:ext cx="73152" cy="19202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794760"/>
            <a:ext cx="4572000" cy="365760"/>
          </a:xfrm>
          <a:prstGeom prst="rect">
            <a:avLst/>
          </a:prstGeom>
          <a:noFill/>
        </p:spPr>
        <p:txBody>
          <a:bodyPr wrap="square">
            <a:spAutoFit/>
          </a:bodyPr>
          <a:lstStyle/>
          <a:p>
            <a:pPr algn="l">
              <a:defRPr sz="1800" b="1">
                <a:solidFill>
                  <a:srgbClr val="2E7D32"/>
                </a:solidFill>
                <a:latin typeface="Calibri"/>
              </a:defRPr>
            </a:pPr>
            <a:r>
              <a:t>CREATE</a:t>
            </a:r>
          </a:p>
        </p:txBody>
      </p:sp>
      <p:sp>
        <p:nvSpPr>
          <p:cNvPr id="20" name="TextBox 19"/>
          <p:cNvSpPr txBox="1"/>
          <p:nvPr/>
        </p:nvSpPr>
        <p:spPr>
          <a:xfrm>
            <a:off x="6675120" y="4160520"/>
            <a:ext cx="4572000" cy="1280160"/>
          </a:xfrm>
          <a:prstGeom prst="rect">
            <a:avLst/>
          </a:prstGeom>
          <a:noFill/>
        </p:spPr>
        <p:txBody>
          <a:bodyPr wrap="square">
            <a:spAutoFit/>
          </a:bodyPr>
          <a:lstStyle/>
          <a:p>
            <a:pPr algn="l">
              <a:defRPr sz="1200" b="0">
                <a:solidFill>
                  <a:srgbClr val="333333"/>
                </a:solidFill>
                <a:latin typeface="Calibri"/>
              </a:defRPr>
            </a:pPr>
            <a:r>
              <a:t>Bank-merchant stablecoin loop</a:t>
            </a:r>
            <a:br/>
            <a:br/>
            <a:r>
              <a:t>Banks earn 60-80bps (more than interchange). Merchants pay 80-100bps (less than cards). Card networks eliminated from the equation.</a:t>
            </a:r>
          </a:p>
        </p:txBody>
      </p:sp>
      <p:sp>
        <p:nvSpPr>
          <p:cNvPr id="21" name="Rounded Rectangle 20"/>
          <p:cNvSpPr/>
          <p:nvPr/>
        </p:nvSpPr>
        <p:spPr>
          <a:xfrm>
            <a:off x="731520" y="5852160"/>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925312"/>
            <a:ext cx="10058400" cy="457200"/>
          </a:xfrm>
          <a:prstGeom prst="rect">
            <a:avLst/>
          </a:prstGeom>
          <a:noFill/>
        </p:spPr>
        <p:txBody>
          <a:bodyPr wrap="square">
            <a:spAutoFit/>
          </a:bodyPr>
          <a:lstStyle/>
          <a:p>
            <a:pPr algn="ctr">
              <a:defRPr sz="1400" b="1">
                <a:solidFill>
                  <a:srgbClr val="FF6600"/>
                </a:solidFill>
                <a:latin typeface="Calibri"/>
              </a:defRPr>
            </a:pPr>
            <a:r>
              <a:rPr dirty="0"/>
              <a:t>Result: Bank earns MORE per transaction, merchant pays LESS -- because the card network's share is eliminated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4944" y="47686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495148"/>
            <a:ext cx="1645920" cy="274320"/>
          </a:xfrm>
          <a:prstGeom prst="rect">
            <a:avLst/>
          </a:prstGeom>
          <a:noFill/>
        </p:spPr>
        <p:txBody>
          <a:bodyPr wrap="square">
            <a:spAutoFit/>
          </a:bodyPr>
          <a:lstStyle/>
          <a:p>
            <a:pPr algn="ctr">
              <a:defRPr sz="1100" b="1">
                <a:solidFill>
                  <a:srgbClr val="FFFFFF"/>
                </a:solidFill>
                <a:latin typeface="Calibri"/>
              </a:defRPr>
            </a:pPr>
            <a:r>
              <a:rPr dirty="0"/>
              <a:t>PROTOTYPE 1</a:t>
            </a:r>
          </a:p>
        </p:txBody>
      </p:sp>
      <p:sp>
        <p:nvSpPr>
          <p:cNvPr id="5" name="TextBox 4"/>
          <p:cNvSpPr txBox="1"/>
          <p:nvPr/>
        </p:nvSpPr>
        <p:spPr>
          <a:xfrm>
            <a:off x="2523744" y="365760"/>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Clover Direct</a:t>
            </a:r>
          </a:p>
        </p:txBody>
      </p:sp>
      <p:sp>
        <p:nvSpPr>
          <p:cNvPr id="6" name="Rounded Rectangle 5"/>
          <p:cNvSpPr/>
          <p:nvPr/>
        </p:nvSpPr>
        <p:spPr>
          <a:xfrm>
            <a:off x="640080" y="1620825"/>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20825"/>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39347"/>
            <a:ext cx="5029200" cy="759182"/>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DoorDash takes 25-30%. Uber Eats takes 20-30%. All-in marketplace take rate hits 40%+. Toast built a $36K/yr-savings wedge against this with commission-free online ordering; Clover has no equivalent. Meanwhile a new demand channel is emerging: AI shopping agents (ChatGPT, Gemini, Perplexity, Apple Intelligence) that no SMB acquirer is reachable through today.</a:t>
            </a:r>
            <a:r>
              <a:rPr lang="en-US" dirty="0"/>
              <a:t/>
            </a:r>
            <a:r>
              <a:rPr dirty="0"/>
              <a:t/>
            </a:r>
          </a:p>
        </p:txBody>
      </p:sp>
      <p:sp>
        <p:nvSpPr>
          <p:cNvPr id="9" name="Rounded Rectangle 8"/>
          <p:cNvSpPr/>
          <p:nvPr/>
        </p:nvSpPr>
        <p:spPr>
          <a:xfrm>
            <a:off x="640080" y="2946705"/>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46705"/>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55729"/>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Every Clover restaurant becomes discoverable by every major AI agent and accepts agent-initiated orders as normal Clover tickets. Mastercard Agent Pay Acceptance Framework (integrated into Clover Dec 2025) handles the rails. The Agent Order Translation Layer converts agent intent (ACP / AP2 / Agent Pay) into Clover Platform API orders with line items, modifiers, tip, and delivery. Merchant take rate: 8% all-in.</a:t>
            </a:r>
            <a:r>
              <a:rPr dirty="0" err="1"/>
              <a:t/>
            </a:r>
            <a:r>
              <a:rPr dirty="0"/>
              <a:t/>
            </a:r>
          </a:p>
        </p:txBody>
      </p:sp>
      <p:sp>
        <p:nvSpPr>
          <p:cNvPr id="12" name="TextBox 11"/>
          <p:cNvSpPr txBox="1"/>
          <p:nvPr/>
        </p:nvSpPr>
        <p:spPr>
          <a:xfrm>
            <a:off x="6492240" y="1514448"/>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92240" y="192592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944216"/>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925928"/>
            <a:ext cx="4572000" cy="411480"/>
          </a:xfrm>
          <a:prstGeom prst="rect">
            <a:avLst/>
          </a:prstGeom>
          <a:noFill/>
        </p:spPr>
        <p:txBody>
          <a:bodyPr wrap="square">
            <a:spAutoFit/>
          </a:bodyPr>
          <a:lstStyle/>
          <a:p>
            <a:pPr algn="l">
              <a:defRPr sz="900" b="0">
                <a:solidFill>
                  <a:srgbClr val="333333"/>
                </a:solidFill>
                <a:latin typeface="Calibri"/>
              </a:defRPr>
            </a:pPr>
            <a:r>
              <a:t>AI agent sends purchase intent via ACP / AP2 / Mastercard Agent Pay protocol</a:t>
            </a:r>
          </a:p>
        </p:txBody>
      </p:sp>
      <p:sp>
        <p:nvSpPr>
          <p:cNvPr id="16" name="Oval 15"/>
          <p:cNvSpPr/>
          <p:nvPr/>
        </p:nvSpPr>
        <p:spPr>
          <a:xfrm>
            <a:off x="6492240" y="240141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419704"/>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401416"/>
            <a:ext cx="4572000" cy="411480"/>
          </a:xfrm>
          <a:prstGeom prst="rect">
            <a:avLst/>
          </a:prstGeom>
          <a:noFill/>
        </p:spPr>
        <p:txBody>
          <a:bodyPr wrap="square">
            <a:spAutoFit/>
          </a:bodyPr>
          <a:lstStyle/>
          <a:p>
            <a:pPr algn="l">
              <a:defRPr sz="900" b="0">
                <a:solidFill>
                  <a:srgbClr val="333333"/>
                </a:solidFill>
                <a:latin typeface="Calibri"/>
              </a:defRPr>
            </a:pPr>
            <a:r>
              <a:t>Clover Agent Checkout Gateway verifies agent identity, spending guardrails, Fiserv tokenization</a:t>
            </a:r>
          </a:p>
        </p:txBody>
      </p:sp>
      <p:sp>
        <p:nvSpPr>
          <p:cNvPr id="19" name="Oval 18"/>
          <p:cNvSpPr/>
          <p:nvPr/>
        </p:nvSpPr>
        <p:spPr>
          <a:xfrm>
            <a:off x="6492240" y="287690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95192"/>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876904"/>
            <a:ext cx="4572000" cy="411480"/>
          </a:xfrm>
          <a:prstGeom prst="rect">
            <a:avLst/>
          </a:prstGeom>
          <a:noFill/>
        </p:spPr>
        <p:txBody>
          <a:bodyPr wrap="square">
            <a:spAutoFit/>
          </a:bodyPr>
          <a:lstStyle/>
          <a:p>
            <a:pPr algn="l">
              <a:defRPr sz="900" b="0">
                <a:solidFill>
                  <a:srgbClr val="333333"/>
                </a:solidFill>
                <a:latin typeface="Calibri"/>
              </a:defRPr>
            </a:pPr>
            <a:r>
              <a:t>Agent Order Translation Layer maps intent to Clover Platform API order (modifiers, tip, delivery)</a:t>
            </a:r>
          </a:p>
        </p:txBody>
      </p:sp>
      <p:sp>
        <p:nvSpPr>
          <p:cNvPr id="22" name="Oval 21"/>
          <p:cNvSpPr/>
          <p:nvPr/>
        </p:nvSpPr>
        <p:spPr>
          <a:xfrm>
            <a:off x="6492240" y="335239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370680"/>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352392"/>
            <a:ext cx="4572000" cy="230832"/>
          </a:xfrm>
          <a:prstGeom prst="rect">
            <a:avLst/>
          </a:prstGeom>
          <a:noFill/>
        </p:spPr>
        <p:txBody>
          <a:bodyPr wrap="square">
            <a:spAutoFit/>
          </a:bodyPr>
          <a:lstStyle/>
          <a:p>
            <a:pPr algn="l">
              <a:defRPr sz="900" b="0">
                <a:solidFill>
                  <a:srgbClr val="333333"/>
                </a:solidFill>
                <a:latin typeface="Calibri"/>
              </a:defRPr>
            </a:pPr>
            <a:r>
              <a:rPr dirty="0"/>
              <a:t>Mastercard Agent Pay token drives acceptance; cryptographic mandate stored for dispute evidence</a:t>
            </a:r>
            <a:r>
              <a:rPr dirty="0" err="1"/>
              <a:t/>
            </a:r>
            <a:r>
              <a:rPr dirty="0"/>
              <a:t/>
            </a:r>
            <a:r>
              <a:rPr lang="en-US" dirty="0"/>
              <a:t/>
            </a:r>
            <a:r>
              <a:rPr dirty="0"/>
              <a:t/>
            </a:r>
          </a:p>
        </p:txBody>
      </p:sp>
      <p:sp>
        <p:nvSpPr>
          <p:cNvPr id="25" name="Oval 24"/>
          <p:cNvSpPr/>
          <p:nvPr/>
        </p:nvSpPr>
        <p:spPr>
          <a:xfrm>
            <a:off x="6492240" y="38278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846168"/>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827880"/>
            <a:ext cx="4572000" cy="411480"/>
          </a:xfrm>
          <a:prstGeom prst="rect">
            <a:avLst/>
          </a:prstGeom>
          <a:noFill/>
        </p:spPr>
        <p:txBody>
          <a:bodyPr wrap="square">
            <a:spAutoFit/>
          </a:bodyPr>
          <a:lstStyle/>
          <a:p>
            <a:pPr algn="l">
              <a:defRPr sz="900" b="0">
                <a:solidFill>
                  <a:srgbClr val="333333"/>
                </a:solidFill>
                <a:latin typeface="Calibri"/>
              </a:defRPr>
            </a:pPr>
            <a:r>
              <a:t>Order lands on merchant's Clover POS as a normal ticket; FIUSD-backed settlement on the back end</a:t>
            </a:r>
          </a:p>
        </p:txBody>
      </p:sp>
      <p:sp>
        <p:nvSpPr>
          <p:cNvPr id="28" name="Rounded Rectangle 27"/>
          <p:cNvSpPr/>
          <p:nvPr/>
        </p:nvSpPr>
        <p:spPr>
          <a:xfrm>
            <a:off x="640080" y="4531968"/>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7688"/>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852008"/>
            <a:ext cx="2468880" cy="457200"/>
          </a:xfrm>
          <a:prstGeom prst="rect">
            <a:avLst/>
          </a:prstGeom>
          <a:noFill/>
        </p:spPr>
        <p:txBody>
          <a:bodyPr wrap="square">
            <a:spAutoFit/>
          </a:bodyPr>
          <a:lstStyle/>
          <a:p>
            <a:pPr algn="ctr">
              <a:defRPr sz="2400" b="1">
                <a:solidFill>
                  <a:srgbClr val="FF6600"/>
                </a:solidFill>
                <a:latin typeface="Calibri"/>
              </a:defRPr>
            </a:pPr>
            <a:r>
              <a:rPr dirty="0"/>
              <a:t>8% vs 28%</a:t>
            </a:r>
            <a:r>
              <a:rPr lang="en-US" dirty="0"/>
              <a:t/>
            </a:r>
            <a:r>
              <a:rPr dirty="0"/>
              <a:t/>
            </a:r>
            <a:r>
              <a:rPr dirty="0" err="1"/>
              <a:t/>
            </a:r>
            <a:endParaRPr dirty="0"/>
          </a:p>
        </p:txBody>
      </p:sp>
      <p:sp>
        <p:nvSpPr>
          <p:cNvPr id="31" name="TextBox 30"/>
          <p:cNvSpPr txBox="1"/>
          <p:nvPr/>
        </p:nvSpPr>
        <p:spPr>
          <a:xfrm>
            <a:off x="822960" y="5309208"/>
            <a:ext cx="2468880" cy="411480"/>
          </a:xfrm>
          <a:prstGeom prst="rect">
            <a:avLst/>
          </a:prstGeom>
          <a:noFill/>
        </p:spPr>
        <p:txBody>
          <a:bodyPr wrap="square">
            <a:spAutoFit/>
          </a:bodyPr>
          <a:lstStyle/>
          <a:p>
            <a:pPr algn="ctr">
              <a:defRPr sz="900" b="0">
                <a:solidFill>
                  <a:srgbClr val="FFFFFF"/>
                </a:solidFill>
                <a:latin typeface="Calibri"/>
              </a:defRPr>
            </a:pPr>
            <a:r>
              <a:t>Merchant take rate</a:t>
            </a:r>
            <a:br/>
            <a:r>
              <a:t>vs DoorDash</a:t>
            </a:r>
          </a:p>
        </p:txBody>
      </p:sp>
      <p:sp>
        <p:nvSpPr>
          <p:cNvPr id="32" name="TextBox 31"/>
          <p:cNvSpPr txBox="1"/>
          <p:nvPr/>
        </p:nvSpPr>
        <p:spPr>
          <a:xfrm>
            <a:off x="3611879" y="4852008"/>
            <a:ext cx="2468880" cy="457200"/>
          </a:xfrm>
          <a:prstGeom prst="rect">
            <a:avLst/>
          </a:prstGeom>
          <a:noFill/>
        </p:spPr>
        <p:txBody>
          <a:bodyPr wrap="square">
            <a:spAutoFit/>
          </a:bodyPr>
          <a:lstStyle/>
          <a:p>
            <a:pPr algn="ctr">
              <a:defRPr sz="2400" b="1">
                <a:solidFill>
                  <a:srgbClr val="FF6600"/>
                </a:solidFill>
                <a:latin typeface="Calibri"/>
              </a:defRPr>
            </a:pPr>
            <a:r>
              <a:rPr dirty="0"/>
              <a:t>6 M</a:t>
            </a:r>
            <a:r>
              <a:rPr lang="en-US" dirty="0"/>
              <a:t/>
            </a:r>
            <a:r>
              <a:rPr dirty="0"/>
              <a:t/>
            </a:r>
          </a:p>
        </p:txBody>
      </p:sp>
      <p:sp>
        <p:nvSpPr>
          <p:cNvPr id="33" name="TextBox 32"/>
          <p:cNvSpPr txBox="1"/>
          <p:nvPr/>
        </p:nvSpPr>
        <p:spPr>
          <a:xfrm>
            <a:off x="3611879" y="5309208"/>
            <a:ext cx="2468880" cy="369332"/>
          </a:xfrm>
          <a:prstGeom prst="rect">
            <a:avLst/>
          </a:prstGeom>
          <a:noFill/>
        </p:spPr>
        <p:txBody>
          <a:bodyPr wrap="square">
            <a:spAutoFit/>
          </a:bodyPr>
          <a:lstStyle/>
          <a:p>
            <a:pPr algn="ctr">
              <a:defRPr sz="900" b="0">
                <a:solidFill>
                  <a:srgbClr val="FFFFFF"/>
                </a:solidFill>
                <a:latin typeface="Calibri"/>
              </a:defRPr>
            </a:pPr>
            <a:r>
              <a:rPr dirty="0"/>
              <a:t>Clover merchants</a:t>
            </a:r>
            <a:br>
              <a:rPr dirty="0"/>
            </a:br>
            <a:r>
              <a:rPr dirty="0"/>
              <a:t>agent-payable day one</a:t>
            </a:r>
          </a:p>
        </p:txBody>
      </p:sp>
      <p:sp>
        <p:nvSpPr>
          <p:cNvPr id="34" name="TextBox 33"/>
          <p:cNvSpPr txBox="1"/>
          <p:nvPr/>
        </p:nvSpPr>
        <p:spPr>
          <a:xfrm>
            <a:off x="6400799" y="4852008"/>
            <a:ext cx="2468880" cy="457200"/>
          </a:xfrm>
          <a:prstGeom prst="rect">
            <a:avLst/>
          </a:prstGeom>
          <a:noFill/>
        </p:spPr>
        <p:txBody>
          <a:bodyPr wrap="square">
            <a:spAutoFit/>
          </a:bodyPr>
          <a:lstStyle/>
          <a:p>
            <a:pPr algn="ctr">
              <a:defRPr sz="2400" b="1">
                <a:solidFill>
                  <a:srgbClr val="FF6600"/>
                </a:solidFill>
                <a:latin typeface="Calibri"/>
              </a:defRPr>
            </a:pPr>
            <a:r>
              <a:rPr lang="en-US" dirty="0"/>
              <a:t>0 dev work</a:t>
            </a:r>
            <a:r>
              <a:rPr dirty="0"/>
              <a:t/>
            </a:r>
          </a:p>
        </p:txBody>
      </p:sp>
      <p:sp>
        <p:nvSpPr>
          <p:cNvPr id="35" name="TextBox 34"/>
          <p:cNvSpPr txBox="1"/>
          <p:nvPr/>
        </p:nvSpPr>
        <p:spPr>
          <a:xfrm>
            <a:off x="6400799" y="5309208"/>
            <a:ext cx="2468880" cy="411480"/>
          </a:xfrm>
          <a:prstGeom prst="rect">
            <a:avLst/>
          </a:prstGeom>
          <a:noFill/>
        </p:spPr>
        <p:txBody>
          <a:bodyPr wrap="square">
            <a:spAutoFit/>
          </a:bodyPr>
          <a:lstStyle/>
          <a:p>
            <a:pPr algn="ctr">
              <a:defRPr sz="900" b="0">
                <a:solidFill>
                  <a:srgbClr val="FFFFFF"/>
                </a:solidFill>
                <a:latin typeface="Calibri"/>
              </a:defRPr>
            </a:pPr>
            <a:r>
              <a:rPr dirty="0"/>
              <a:t>Zero merchant</a:t>
            </a:r>
            <a:endParaRPr dirty="0"/>
            <a:br>
              <a:rPr dirty="0"/>
            </a:br>
            <a:r>
              <a:rPr dirty="0"/>
              <a:t>integration required</a:t>
            </a:r>
          </a:p>
        </p:txBody>
      </p:sp>
      <p:sp>
        <p:nvSpPr>
          <p:cNvPr id="36" name="TextBox 35"/>
          <p:cNvSpPr txBox="1"/>
          <p:nvPr/>
        </p:nvSpPr>
        <p:spPr>
          <a:xfrm>
            <a:off x="9189720" y="4852008"/>
            <a:ext cx="2468880" cy="457200"/>
          </a:xfrm>
          <a:prstGeom prst="rect">
            <a:avLst/>
          </a:prstGeom>
          <a:noFill/>
        </p:spPr>
        <p:txBody>
          <a:bodyPr wrap="square">
            <a:spAutoFit/>
          </a:bodyPr>
          <a:lstStyle/>
          <a:p>
            <a:pPr algn="ctr">
              <a:defRPr sz="2400" b="1">
                <a:solidFill>
                  <a:srgbClr val="FF6600"/>
                </a:solidFill>
                <a:latin typeface="Calibri"/>
              </a:defRPr>
            </a:pPr>
            <a:r>
              <a:t>$50M GPV</a:t>
            </a:r>
          </a:p>
        </p:txBody>
      </p:sp>
      <p:sp>
        <p:nvSpPr>
          <p:cNvPr id="37" name="TextBox 36"/>
          <p:cNvSpPr txBox="1"/>
          <p:nvPr/>
        </p:nvSpPr>
        <p:spPr>
          <a:xfrm>
            <a:off x="9189720" y="5309208"/>
            <a:ext cx="2468880" cy="411480"/>
          </a:xfrm>
          <a:prstGeom prst="rect">
            <a:avLst/>
          </a:prstGeom>
          <a:noFill/>
        </p:spPr>
        <p:txBody>
          <a:bodyPr wrap="square">
            <a:spAutoFit/>
          </a:bodyPr>
          <a:lstStyle/>
          <a:p>
            <a:pPr algn="ctr">
              <a:defRPr sz="900" b="0">
                <a:solidFill>
                  <a:srgbClr val="FFFFFF"/>
                </a:solidFill>
                <a:latin typeface="Calibri"/>
              </a:defRPr>
            </a:pPr>
            <a:r>
              <a:t>Kill threshold</a:t>
            </a:r>
            <a:br/>
            <a:r>
              <a:t>by Q4 2026</a:t>
            </a:r>
          </a:p>
        </p:txBody>
      </p:sp>
      <p:sp>
        <p:nvSpPr>
          <p:cNvPr id="38" name="TextBox 37"/>
          <p:cNvSpPr txBox="1"/>
          <p:nvPr/>
        </p:nvSpPr>
        <p:spPr>
          <a:xfrm>
            <a:off x="914400" y="5697451"/>
            <a:ext cx="10515600" cy="365760"/>
          </a:xfrm>
          <a:prstGeom prst="rect">
            <a:avLst/>
          </a:prstGeom>
          <a:noFill/>
        </p:spPr>
        <p:txBody>
          <a:bodyPr wrap="square">
            <a:spAutoFit/>
          </a:bodyPr>
          <a:lstStyle/>
          <a:p>
            <a:pPr algn="ctr">
              <a:defRPr sz="1100" b="0">
                <a:solidFill>
                  <a:srgbClr val="FFFFFF"/>
                </a:solidFill>
                <a:latin typeface="Calibri"/>
              </a:defRPr>
            </a:pPr>
            <a:r>
              <a:rPr dirty="0"/>
              <a:t>Fiserv is the only SMB acquirer whose merchants are ready for AI agent payments today. Toast and Square have no comparable integration.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48640" y="495082"/>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13370"/>
            <a:ext cx="1645920" cy="274320"/>
          </a:xfrm>
          <a:prstGeom prst="rect">
            <a:avLst/>
          </a:prstGeom>
          <a:noFill/>
        </p:spPr>
        <p:txBody>
          <a:bodyPr wrap="square">
            <a:spAutoFit/>
          </a:bodyPr>
          <a:lstStyle/>
          <a:p>
            <a:pPr algn="ctr">
              <a:defRPr sz="1100" b="1">
                <a:solidFill>
                  <a:srgbClr val="FFFFFF"/>
                </a:solidFill>
                <a:latin typeface="Calibri"/>
              </a:defRPr>
            </a:pPr>
            <a:r>
              <a:rPr dirty="0"/>
              <a:t>PROTOTYPE 2</a:t>
            </a:r>
          </a:p>
        </p:txBody>
      </p:sp>
      <p:sp>
        <p:nvSpPr>
          <p:cNvPr id="5" name="TextBox 4"/>
          <p:cNvSpPr txBox="1"/>
          <p:nvPr/>
        </p:nvSpPr>
        <p:spPr>
          <a:xfrm>
            <a:off x="2377440" y="36581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SmartDeposit</a:t>
            </a:r>
          </a:p>
        </p:txBody>
      </p:sp>
      <p:sp>
        <p:nvSpPr>
          <p:cNvPr id="6" name="Rounded Rectangle 5"/>
          <p:cNvSpPr/>
          <p:nvPr/>
        </p:nvSpPr>
        <p:spPr>
          <a:xfrm>
            <a:off x="548640" y="1513151"/>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513151"/>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64208"/>
            <a:ext cx="5029200" cy="913070"/>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Clover services merchants (beauty, home, professional) lose 10-20% of booked revenue to no-shows. Deposit-protected salons reduce no-shows by 29-70%, but taking a deposit today requires CNP infrastructure most merchants don't have, and when they do, the deposit is chargeback-vulnerable the moment a customer disputes. Restaurant catering leads go cold in the window before a deposit can be locked.</a:t>
            </a:r>
            <a:r>
              <a:rPr lang="en-US" dirty="0"/>
              <a:t/>
            </a:r>
            <a:r>
              <a:rPr dirty="0"/>
              <a:t/>
            </a:r>
          </a:p>
        </p:txBody>
      </p:sp>
      <p:sp>
        <p:nvSpPr>
          <p:cNvPr id="9" name="Rounded Rectangle 8"/>
          <p:cNvSpPr/>
          <p:nvPr/>
        </p:nvSpPr>
        <p:spPr>
          <a:xfrm>
            <a:off x="548640" y="2839031"/>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839031"/>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944368"/>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One-click enforceable deposits for services bookings and restaurant catering. Initiated via text link or AI assistant. Mastercard Agent Pay tokenization creates a cryptographic mandate that doubles as dispute evidence (instrumented at MVP; claim held until six months of data). Card-funded today, FIUSD-settled to the merchant on the back end. Same backbone as Clover Direct.</a:t>
            </a:r>
            <a:r>
              <a:rPr dirty="0" err="1"/>
              <a:t/>
            </a:r>
            <a:r>
              <a:rPr dirty="0"/>
              <a:t/>
            </a:r>
          </a:p>
        </p:txBody>
      </p:sp>
      <p:sp>
        <p:nvSpPr>
          <p:cNvPr id="12" name="TextBox 11"/>
          <p:cNvSpPr txBox="1"/>
          <p:nvPr/>
        </p:nvSpPr>
        <p:spPr>
          <a:xfrm>
            <a:off x="6400800" y="1444571"/>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00800" y="185605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874339"/>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12280" y="1856051"/>
            <a:ext cx="4572000" cy="411480"/>
          </a:xfrm>
          <a:prstGeom prst="rect">
            <a:avLst/>
          </a:prstGeom>
          <a:noFill/>
        </p:spPr>
        <p:txBody>
          <a:bodyPr wrap="square">
            <a:spAutoFit/>
          </a:bodyPr>
          <a:lstStyle/>
          <a:p>
            <a:pPr algn="l">
              <a:defRPr sz="900" b="0">
                <a:solidFill>
                  <a:srgbClr val="333333"/>
                </a:solidFill>
                <a:latin typeface="Calibri"/>
              </a:defRPr>
            </a:pPr>
            <a:r>
              <a:t>AI assistant (or merchant text link) initiates a booking with deposit requirement</a:t>
            </a:r>
          </a:p>
        </p:txBody>
      </p:sp>
      <p:sp>
        <p:nvSpPr>
          <p:cNvPr id="16" name="Oval 15"/>
          <p:cNvSpPr/>
          <p:nvPr/>
        </p:nvSpPr>
        <p:spPr>
          <a:xfrm>
            <a:off x="6400800" y="2331539"/>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349827"/>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12280" y="2331539"/>
            <a:ext cx="4572000" cy="411480"/>
          </a:xfrm>
          <a:prstGeom prst="rect">
            <a:avLst/>
          </a:prstGeom>
          <a:noFill/>
        </p:spPr>
        <p:txBody>
          <a:bodyPr wrap="square">
            <a:spAutoFit/>
          </a:bodyPr>
          <a:lstStyle/>
          <a:p>
            <a:pPr algn="l">
              <a:defRPr sz="900" b="0">
                <a:solidFill>
                  <a:srgbClr val="333333"/>
                </a:solidFill>
                <a:latin typeface="Calibri"/>
              </a:defRPr>
            </a:pPr>
            <a:r>
              <a:t>Customer authorizes via Mastercard Agent Pay or one-tap web flow; cryptographic mandate signed</a:t>
            </a:r>
          </a:p>
        </p:txBody>
      </p:sp>
      <p:sp>
        <p:nvSpPr>
          <p:cNvPr id="19" name="Oval 18"/>
          <p:cNvSpPr/>
          <p:nvPr/>
        </p:nvSpPr>
        <p:spPr>
          <a:xfrm>
            <a:off x="6400800" y="2807027"/>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825315"/>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12280" y="2807027"/>
            <a:ext cx="4572000" cy="411480"/>
          </a:xfrm>
          <a:prstGeom prst="rect">
            <a:avLst/>
          </a:prstGeom>
          <a:noFill/>
        </p:spPr>
        <p:txBody>
          <a:bodyPr wrap="square">
            <a:spAutoFit/>
          </a:bodyPr>
          <a:lstStyle/>
          <a:p>
            <a:pPr algn="l">
              <a:defRPr sz="900" b="0">
                <a:solidFill>
                  <a:srgbClr val="333333"/>
                </a:solidFill>
                <a:latin typeface="Calibri"/>
              </a:defRPr>
            </a:pPr>
            <a:r>
              <a:t>Deposit locked in the merchant's Finxact account; booking confirmed in Clover calendar</a:t>
            </a:r>
          </a:p>
        </p:txBody>
      </p:sp>
      <p:sp>
        <p:nvSpPr>
          <p:cNvPr id="22" name="Oval 21"/>
          <p:cNvSpPr/>
          <p:nvPr/>
        </p:nvSpPr>
        <p:spPr>
          <a:xfrm>
            <a:off x="6400800" y="3282515"/>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3300803"/>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12280" y="3282515"/>
            <a:ext cx="4572000" cy="411480"/>
          </a:xfrm>
          <a:prstGeom prst="rect">
            <a:avLst/>
          </a:prstGeom>
          <a:noFill/>
        </p:spPr>
        <p:txBody>
          <a:bodyPr wrap="square">
            <a:spAutoFit/>
          </a:bodyPr>
          <a:lstStyle/>
          <a:p>
            <a:pPr algn="l">
              <a:defRPr sz="900" b="0">
                <a:solidFill>
                  <a:srgbClr val="333333"/>
                </a:solidFill>
                <a:latin typeface="Calibri"/>
              </a:defRPr>
            </a:pPr>
            <a:r>
              <a:t>Cancellation rules enforced; mandate becomes dispute evidence packet if challenged</a:t>
            </a:r>
          </a:p>
        </p:txBody>
      </p:sp>
      <p:sp>
        <p:nvSpPr>
          <p:cNvPr id="25" name="Oval 24"/>
          <p:cNvSpPr/>
          <p:nvPr/>
        </p:nvSpPr>
        <p:spPr>
          <a:xfrm>
            <a:off x="6400800" y="3758003"/>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776291"/>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12280" y="3758003"/>
            <a:ext cx="4572000" cy="411480"/>
          </a:xfrm>
          <a:prstGeom prst="rect">
            <a:avLst/>
          </a:prstGeom>
          <a:noFill/>
        </p:spPr>
        <p:txBody>
          <a:bodyPr wrap="square">
            <a:spAutoFit/>
          </a:bodyPr>
          <a:lstStyle/>
          <a:p>
            <a:pPr algn="l">
              <a:defRPr sz="900" b="0">
                <a:solidFill>
                  <a:srgbClr val="333333"/>
                </a:solidFill>
                <a:latin typeface="Calibri"/>
              </a:defRPr>
            </a:pPr>
            <a:r>
              <a:t>Dispute win-rate lift instrumented (claim sellable once 6-month data supports &gt;10pp delta)</a:t>
            </a:r>
          </a:p>
        </p:txBody>
      </p:sp>
      <p:sp>
        <p:nvSpPr>
          <p:cNvPr id="28" name="Oval 27"/>
          <p:cNvSpPr/>
          <p:nvPr/>
        </p:nvSpPr>
        <p:spPr>
          <a:xfrm>
            <a:off x="6400800" y="423349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251779"/>
            <a:ext cx="274320" cy="228600"/>
          </a:xfrm>
          <a:prstGeom prst="rect">
            <a:avLst/>
          </a:prstGeom>
          <a:noFill/>
        </p:spPr>
        <p:txBody>
          <a:bodyPr wrap="square">
            <a:spAutoFit/>
          </a:bodyPr>
          <a:lstStyle/>
          <a:p>
            <a:pPr algn="ctr">
              <a:defRPr sz="1000" b="1">
                <a:solidFill>
                  <a:srgbClr val="FFFFFF"/>
                </a:solidFill>
                <a:latin typeface="Calibri"/>
              </a:defRPr>
            </a:pPr>
            <a:r>
              <a:t/>
            </a:r>
          </a:p>
        </p:txBody>
      </p:sp>
      <p:sp>
        <p:nvSpPr>
          <p:cNvPr id="30" name="TextBox 29"/>
          <p:cNvSpPr txBox="1"/>
          <p:nvPr/>
        </p:nvSpPr>
        <p:spPr>
          <a:xfrm>
            <a:off x="6812280" y="4233491"/>
            <a:ext cx="4572000" cy="411480"/>
          </a:xfrm>
          <a:prstGeom prst="rect">
            <a:avLst/>
          </a:prstGeom>
          <a:noFill/>
        </p:spPr>
        <p:txBody>
          <a:bodyPr wrap="square">
            <a:spAutoFit/>
          </a:bodyPr>
          <a:lstStyle/>
          <a:p>
            <a:pPr algn="l">
              <a:defRPr sz="900" b="0">
                <a:solidFill>
                  <a:srgbClr val="333333"/>
                </a:solidFill>
                <a:latin typeface="Calibri"/>
              </a:defRPr>
            </a:pPr>
            <a:r>
              <a:t/>
            </a:r>
          </a:p>
        </p:txBody>
      </p:sp>
      <p:sp>
        <p:nvSpPr>
          <p:cNvPr id="31" name="Rounded Rectangle 30"/>
          <p:cNvSpPr/>
          <p:nvPr/>
        </p:nvSpPr>
        <p:spPr>
          <a:xfrm>
            <a:off x="548640" y="4544567"/>
            <a:ext cx="10881360" cy="1380563"/>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569971"/>
            <a:ext cx="2743200" cy="274320"/>
          </a:xfrm>
          <a:prstGeom prst="rect">
            <a:avLst/>
          </a:prstGeom>
          <a:noFill/>
        </p:spPr>
        <p:txBody>
          <a:bodyPr wrap="square">
            <a:spAutoFit/>
          </a:bodyPr>
          <a:lstStyle/>
          <a:p>
            <a:pPr algn="l">
              <a:defRPr sz="1000" b="1">
                <a:solidFill>
                  <a:srgbClr val="FF6600"/>
                </a:solidFill>
                <a:latin typeface="Calibri"/>
              </a:defRPr>
            </a:pPr>
            <a:r>
              <a:rPr dirty="0"/>
              <a:t>POTENTIAL IMPACT</a:t>
            </a:r>
          </a:p>
        </p:txBody>
      </p:sp>
      <p:sp>
        <p:nvSpPr>
          <p:cNvPr id="33" name="TextBox 32"/>
          <p:cNvSpPr txBox="1"/>
          <p:nvPr/>
        </p:nvSpPr>
        <p:spPr>
          <a:xfrm>
            <a:off x="731520" y="4782131"/>
            <a:ext cx="2468880" cy="457200"/>
          </a:xfrm>
          <a:prstGeom prst="rect">
            <a:avLst/>
          </a:prstGeom>
          <a:noFill/>
        </p:spPr>
        <p:txBody>
          <a:bodyPr wrap="square">
            <a:spAutoFit/>
          </a:bodyPr>
          <a:lstStyle/>
          <a:p>
            <a:pPr algn="ctr">
              <a:defRPr sz="2400" b="1">
                <a:solidFill>
                  <a:srgbClr val="FF6600"/>
                </a:solidFill>
                <a:latin typeface="Calibri"/>
              </a:defRPr>
            </a:pPr>
            <a:r>
              <a:rPr lang="en-US" dirty="0"/>
              <a:t>0 no-shows</a:t>
            </a:r>
            <a:r>
              <a:rPr dirty="0"/>
              <a:t/>
            </a:r>
          </a:p>
        </p:txBody>
      </p:sp>
      <p:sp>
        <p:nvSpPr>
          <p:cNvPr id="34" name="TextBox 33"/>
          <p:cNvSpPr txBox="1"/>
          <p:nvPr/>
        </p:nvSpPr>
        <p:spPr>
          <a:xfrm>
            <a:off x="731520" y="5239331"/>
            <a:ext cx="2468880" cy="411480"/>
          </a:xfrm>
          <a:prstGeom prst="rect">
            <a:avLst/>
          </a:prstGeom>
          <a:noFill/>
        </p:spPr>
        <p:txBody>
          <a:bodyPr wrap="square">
            <a:spAutoFit/>
          </a:bodyPr>
          <a:lstStyle/>
          <a:p>
            <a:pPr algn="ctr">
              <a:defRPr sz="900" b="0">
                <a:solidFill>
                  <a:srgbClr val="FFFFFF"/>
                </a:solidFill>
                <a:latin typeface="Calibri"/>
              </a:defRPr>
            </a:pPr>
            <a:r>
              <a:t>Saturday night,</a:t>
            </a:r>
            <a:br/>
            <a:r>
              <a:t>all bookings protected</a:t>
            </a:r>
          </a:p>
        </p:txBody>
      </p:sp>
      <p:sp>
        <p:nvSpPr>
          <p:cNvPr id="35" name="TextBox 34"/>
          <p:cNvSpPr txBox="1"/>
          <p:nvPr/>
        </p:nvSpPr>
        <p:spPr>
          <a:xfrm>
            <a:off x="3520439" y="4782131"/>
            <a:ext cx="2468880" cy="457200"/>
          </a:xfrm>
          <a:prstGeom prst="rect">
            <a:avLst/>
          </a:prstGeom>
          <a:noFill/>
        </p:spPr>
        <p:txBody>
          <a:bodyPr wrap="square">
            <a:spAutoFit/>
          </a:bodyPr>
          <a:lstStyle/>
          <a:p>
            <a:pPr algn="ctr">
              <a:defRPr sz="2400" b="1">
                <a:solidFill>
                  <a:srgbClr val="FF6600"/>
                </a:solidFill>
                <a:latin typeface="Calibri"/>
              </a:defRPr>
            </a:pPr>
            <a:r>
              <a:t>1 click</a:t>
            </a:r>
          </a:p>
        </p:txBody>
      </p:sp>
      <p:sp>
        <p:nvSpPr>
          <p:cNvPr id="36" name="TextBox 35"/>
          <p:cNvSpPr txBox="1"/>
          <p:nvPr/>
        </p:nvSpPr>
        <p:spPr>
          <a:xfrm>
            <a:off x="3520439" y="5239331"/>
            <a:ext cx="2468880" cy="411480"/>
          </a:xfrm>
          <a:prstGeom prst="rect">
            <a:avLst/>
          </a:prstGeom>
          <a:noFill/>
        </p:spPr>
        <p:txBody>
          <a:bodyPr wrap="square">
            <a:spAutoFit/>
          </a:bodyPr>
          <a:lstStyle/>
          <a:p>
            <a:pPr algn="ctr">
              <a:defRPr sz="900" b="0">
                <a:solidFill>
                  <a:srgbClr val="FFFFFF"/>
                </a:solidFill>
                <a:latin typeface="Calibri"/>
              </a:defRPr>
            </a:pPr>
            <a:r>
              <a:t>Deposit locked in</a:t>
            </a:r>
            <a:br/>
            <a:r>
              <a:t>the booking flow</a:t>
            </a:r>
          </a:p>
        </p:txBody>
      </p:sp>
      <p:sp>
        <p:nvSpPr>
          <p:cNvPr id="37" name="TextBox 36"/>
          <p:cNvSpPr txBox="1"/>
          <p:nvPr/>
        </p:nvSpPr>
        <p:spPr>
          <a:xfrm>
            <a:off x="6309359" y="4782131"/>
            <a:ext cx="2468880" cy="457200"/>
          </a:xfrm>
          <a:prstGeom prst="rect">
            <a:avLst/>
          </a:prstGeom>
          <a:noFill/>
        </p:spPr>
        <p:txBody>
          <a:bodyPr wrap="square">
            <a:spAutoFit/>
          </a:bodyPr>
          <a:lstStyle/>
          <a:p>
            <a:pPr algn="ctr">
              <a:defRPr sz="2400" b="1">
                <a:solidFill>
                  <a:srgbClr val="FF6600"/>
                </a:solidFill>
                <a:latin typeface="Calibri"/>
              </a:defRPr>
            </a:pPr>
            <a:r>
              <a:t>1 backbone</a:t>
            </a:r>
          </a:p>
        </p:txBody>
      </p:sp>
      <p:sp>
        <p:nvSpPr>
          <p:cNvPr id="38" name="TextBox 37"/>
          <p:cNvSpPr txBox="1"/>
          <p:nvPr/>
        </p:nvSpPr>
        <p:spPr>
          <a:xfrm>
            <a:off x="6309359" y="5239331"/>
            <a:ext cx="2468880" cy="411480"/>
          </a:xfrm>
          <a:prstGeom prst="rect">
            <a:avLst/>
          </a:prstGeom>
          <a:noFill/>
        </p:spPr>
        <p:txBody>
          <a:bodyPr wrap="square">
            <a:spAutoFit/>
          </a:bodyPr>
          <a:lstStyle/>
          <a:p>
            <a:pPr algn="ctr">
              <a:defRPr sz="900" b="0">
                <a:solidFill>
                  <a:srgbClr val="FFFFFF"/>
                </a:solidFill>
                <a:latin typeface="Calibri"/>
              </a:defRPr>
            </a:pPr>
            <a:r>
              <a:t>Shared with</a:t>
            </a:r>
            <a:br/>
            <a:r>
              <a:t>Clover Direct</a:t>
            </a:r>
          </a:p>
        </p:txBody>
      </p:sp>
      <p:sp>
        <p:nvSpPr>
          <p:cNvPr id="39" name="TextBox 38"/>
          <p:cNvSpPr txBox="1"/>
          <p:nvPr/>
        </p:nvSpPr>
        <p:spPr>
          <a:xfrm>
            <a:off x="9098280" y="4782131"/>
            <a:ext cx="2468880" cy="457200"/>
          </a:xfrm>
          <a:prstGeom prst="rect">
            <a:avLst/>
          </a:prstGeom>
          <a:noFill/>
        </p:spPr>
        <p:txBody>
          <a:bodyPr wrap="square">
            <a:spAutoFit/>
          </a:bodyPr>
          <a:lstStyle/>
          <a:p>
            <a:pPr algn="ctr">
              <a:defRPr sz="2400" b="1">
                <a:solidFill>
                  <a:srgbClr val="FF6600"/>
                </a:solidFill>
                <a:latin typeface="Calibri"/>
              </a:defRPr>
            </a:pPr>
            <a:r>
              <a:rPr dirty="0"/>
              <a:t>10pp</a:t>
            </a:r>
            <a:r>
              <a:rPr lang="en-US" dirty="0"/>
              <a:t/>
            </a:r>
            <a:r>
              <a:rPr dirty="0"/>
              <a:t/>
            </a:r>
          </a:p>
        </p:txBody>
      </p:sp>
      <p:sp>
        <p:nvSpPr>
          <p:cNvPr id="40" name="TextBox 39"/>
          <p:cNvSpPr txBox="1"/>
          <p:nvPr/>
        </p:nvSpPr>
        <p:spPr>
          <a:xfrm>
            <a:off x="9098280" y="5239331"/>
            <a:ext cx="2468880" cy="411480"/>
          </a:xfrm>
          <a:prstGeom prst="rect">
            <a:avLst/>
          </a:prstGeom>
          <a:noFill/>
        </p:spPr>
        <p:txBody>
          <a:bodyPr wrap="square">
            <a:spAutoFit/>
          </a:bodyPr>
          <a:lstStyle/>
          <a:p>
            <a:pPr algn="ctr">
              <a:defRPr sz="900" b="0">
                <a:solidFill>
                  <a:srgbClr val="FFFFFF"/>
                </a:solidFill>
                <a:latin typeface="Calibri"/>
              </a:defRPr>
            </a:pPr>
            <a:r>
              <a:t>Dispute-lift threshold</a:t>
            </a:r>
            <a:br/>
            <a:r>
              <a:t>(claim held pending data)</a:t>
            </a:r>
          </a:p>
        </p:txBody>
      </p:sp>
      <p:sp>
        <p:nvSpPr>
          <p:cNvPr id="41" name="TextBox 40"/>
          <p:cNvSpPr txBox="1"/>
          <p:nvPr/>
        </p:nvSpPr>
        <p:spPr>
          <a:xfrm>
            <a:off x="525781" y="5636622"/>
            <a:ext cx="10515600" cy="261610"/>
          </a:xfrm>
          <a:prstGeom prst="rect">
            <a:avLst/>
          </a:prstGeom>
          <a:noFill/>
        </p:spPr>
        <p:txBody>
          <a:bodyPr wrap="square">
            <a:spAutoFit/>
          </a:bodyPr>
          <a:lstStyle/>
          <a:p>
            <a:pPr algn="ctr">
              <a:defRPr sz="1100" b="0">
                <a:solidFill>
                  <a:srgbClr val="FFFFFF"/>
                </a:solidFill>
                <a:latin typeface="Calibri"/>
              </a:defRPr>
            </a:pPr>
            <a:r>
              <a:rPr dirty="0"/>
              <a:t>Your client said they'd show up. Now prove it. Same backbone, second vertical. May fold as a named capability under Clover Direct.</a:t>
            </a:r>
            <a:r>
              <a:rPr lang="en-US" dirty="0"/>
              <a:t/>
            </a:r>
            <a:r>
              <a:rPr dirty="0"/>
              <a:t/>
            </a:r>
            <a:r>
              <a:rPr lang="en-US" dirty="0"/>
              <a:t/>
            </a:r>
            <a:endParaRPr dirty="0"/>
          </a:p>
        </p:txBody>
      </p:sp>
      <p:sp>
        <p:nvSpPr>
          <p:cNvPr id="43" name="Text Placeholder 42">
            <a:extLst>
              <a:ext uri="{FF2B5EF4-FFF2-40B4-BE49-F238E27FC236}">
                <a16:creationId xmlns:a16="http://schemas.microsoft.com/office/drawing/2014/main" id="{5F54F111-20C4-CFD6-5DA2-F386841F8A88}"/>
              </a:ext>
            </a:extLst>
          </p:cNvPr>
          <p:cNvSpPr>
            <a:spLocks noGrp="1"/>
          </p:cNvSpPr>
          <p:nvPr>
            <p:ph type="body" sz="quarter" idx="13"/>
          </p:nvPr>
        </p:nvSpPr>
        <p:spPr>
          <a:xfrm>
            <a:off x="525781" y="6954947"/>
            <a:ext cx="9658350" cy="239650"/>
          </a:xfrm>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4864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66928"/>
            <a:ext cx="1645920" cy="274320"/>
          </a:xfrm>
          <a:prstGeom prst="rect">
            <a:avLst/>
          </a:prstGeom>
          <a:noFill/>
        </p:spPr>
        <p:txBody>
          <a:bodyPr wrap="square">
            <a:spAutoFit/>
          </a:bodyPr>
          <a:lstStyle/>
          <a:p>
            <a:pPr algn="ctr">
              <a:defRPr sz="1100" b="1">
                <a:solidFill>
                  <a:srgbClr val="FFFFFF"/>
                </a:solidFill>
                <a:latin typeface="Calibri"/>
              </a:defRPr>
            </a:pPr>
            <a:r>
              <a:t>PROTOTYPE 3</a:t>
            </a:r>
          </a:p>
        </p:txBody>
      </p:sp>
      <p:sp>
        <p:nvSpPr>
          <p:cNvPr id="5" name="TextBox 4"/>
          <p:cNvSpPr txBox="1"/>
          <p:nvPr/>
        </p:nvSpPr>
        <p:spPr>
          <a:xfrm>
            <a:off x="2560320" y="40998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WeekendCash  (reshape of P1 Yield Sweep)</a:t>
            </a:r>
          </a:p>
        </p:txBody>
      </p:sp>
      <p:sp>
        <p:nvSpPr>
          <p:cNvPr id="6" name="Rounded Rectangle 5"/>
          <p:cNvSpPr/>
          <p:nvPr/>
        </p:nvSpPr>
        <p:spPr>
          <a:xfrm>
            <a:off x="640080" y="13725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725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182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Clover merchants sit on weekend card revenue until Tuesday. A restaurant closes strong Saturday night and pays Sunday prep from Friday reserves. Stripe Instant Payout charges 1.5%, Square Instant Transfer charges 1.75% — both are fee-for-service via external bank partners. The original Yield Sweep prototype aimed the same Finxact + decision-gate code at the wrong job ('earn yield on idle'); the job merchants actually feel is 'give me my Saturday money on Saturday.'</a:t>
            </a:r>
          </a:p>
        </p:txBody>
      </p:sp>
      <p:sp>
        <p:nvSpPr>
          <p:cNvPr id="9" name="Rounded Rectangle 8"/>
          <p:cNvSpPr/>
          <p:nvPr/>
        </p:nvSpPr>
        <p:spPr>
          <a:xfrm>
            <a:off x="640080" y="26983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6983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7441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Post-payment settlement acceleration on weekends and holidays via the Finxact + INDX + FIUSD closed loop. No TILA, no lending — structurally identical to Stripe/Square instant payouts except funded from Fiserv's internal balance sheet (INDX live Feb 12, 2026). Free to the merchant. Backed by Fiserv: the 60-min balance-sheet backstop is the product.</a:t>
            </a:r>
          </a:p>
        </p:txBody>
      </p:sp>
      <p:sp>
        <p:nvSpPr>
          <p:cNvPr id="12" name="TextBox 11"/>
          <p:cNvSpPr txBox="1"/>
          <p:nvPr/>
        </p:nvSpPr>
        <p:spPr>
          <a:xfrm>
            <a:off x="6492240" y="1372500"/>
            <a:ext cx="5029200" cy="365760"/>
          </a:xfrm>
          <a:prstGeom prst="rect">
            <a:avLst/>
          </a:prstGeom>
          <a:noFill/>
        </p:spPr>
        <p:txBody>
          <a:bodyPr wrap="square">
            <a:spAutoFit/>
          </a:bodyPr>
          <a:lstStyle/>
          <a:p>
            <a:pPr algn="l">
              <a:defRPr sz="1000" b="1">
                <a:solidFill>
                  <a:srgbClr val="003B5C"/>
                </a:solidFill>
                <a:latin typeface="Calibri"/>
              </a:defRPr>
            </a:pPr>
            <a:r>
              <a:t>HOW IT WORKS</a:t>
            </a:r>
          </a:p>
        </p:txBody>
      </p:sp>
      <p:sp>
        <p:nvSpPr>
          <p:cNvPr id="13" name="Oval 12"/>
          <p:cNvSpPr/>
          <p:nvPr/>
        </p:nvSpPr>
        <p:spPr>
          <a:xfrm>
            <a:off x="6492240" y="17839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8022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783980"/>
            <a:ext cx="4572000" cy="411480"/>
          </a:xfrm>
          <a:prstGeom prst="rect">
            <a:avLst/>
          </a:prstGeom>
          <a:noFill/>
        </p:spPr>
        <p:txBody>
          <a:bodyPr wrap="square">
            <a:spAutoFit/>
          </a:bodyPr>
          <a:lstStyle/>
          <a:p>
            <a:pPr algn="l">
              <a:defRPr sz="900" b="0">
                <a:solidFill>
                  <a:srgbClr val="333333"/>
                </a:solidFill>
                <a:latin typeface="Calibri"/>
              </a:defRPr>
            </a:pPr>
            <a:r>
              <a:t>Friday 11pm: merchant closes out; weekend card volume calculated</a:t>
            </a:r>
          </a:p>
        </p:txBody>
      </p:sp>
      <p:sp>
        <p:nvSpPr>
          <p:cNvPr id="16" name="Oval 15"/>
          <p:cNvSpPr/>
          <p:nvPr/>
        </p:nvSpPr>
        <p:spPr>
          <a:xfrm>
            <a:off x="6492240" y="22594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2777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259468"/>
            <a:ext cx="4572000" cy="411480"/>
          </a:xfrm>
          <a:prstGeom prst="rect">
            <a:avLst/>
          </a:prstGeom>
          <a:noFill/>
        </p:spPr>
        <p:txBody>
          <a:bodyPr wrap="square">
            <a:spAutoFit/>
          </a:bodyPr>
          <a:lstStyle/>
          <a:p>
            <a:pPr algn="l">
              <a:defRPr sz="900" b="0">
                <a:solidFill>
                  <a:srgbClr val="333333"/>
                </a:solidFill>
                <a:latin typeface="Calibri"/>
              </a:defRPr>
            </a:pPr>
            <a:r>
              <a:t>WeekendCash decision gate checks eligibility, SLA status, conservative-ramp tier</a:t>
            </a:r>
          </a:p>
        </p:txBody>
      </p:sp>
      <p:sp>
        <p:nvSpPr>
          <p:cNvPr id="19" name="Oval 18"/>
          <p:cNvSpPr/>
          <p:nvPr/>
        </p:nvSpPr>
        <p:spPr>
          <a:xfrm>
            <a:off x="6492240" y="27349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7532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734956"/>
            <a:ext cx="4572000" cy="411480"/>
          </a:xfrm>
          <a:prstGeom prst="rect">
            <a:avLst/>
          </a:prstGeom>
          <a:noFill/>
        </p:spPr>
        <p:txBody>
          <a:bodyPr wrap="square">
            <a:spAutoFit/>
          </a:bodyPr>
          <a:lstStyle/>
          <a:p>
            <a:pPr algn="l">
              <a:defRPr sz="900" b="0">
                <a:solidFill>
                  <a:srgbClr val="333333"/>
                </a:solidFill>
                <a:latin typeface="Calibri"/>
              </a:defRPr>
            </a:pPr>
            <a:r>
              <a:t>Finxact advances funds via INDX to merchant's account (funded from Fiserv balance sheet)</a:t>
            </a:r>
          </a:p>
        </p:txBody>
      </p:sp>
      <p:sp>
        <p:nvSpPr>
          <p:cNvPr id="22" name="Oval 21"/>
          <p:cNvSpPr/>
          <p:nvPr/>
        </p:nvSpPr>
        <p:spPr>
          <a:xfrm>
            <a:off x="6492240" y="32104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2287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210444"/>
            <a:ext cx="4572000" cy="411480"/>
          </a:xfrm>
          <a:prstGeom prst="rect">
            <a:avLst/>
          </a:prstGeom>
          <a:noFill/>
        </p:spPr>
        <p:txBody>
          <a:bodyPr wrap="square">
            <a:spAutoFit/>
          </a:bodyPr>
          <a:lstStyle/>
          <a:p>
            <a:pPr algn="l">
              <a:defRPr sz="900" b="0">
                <a:solidFill>
                  <a:srgbClr val="333333"/>
                </a:solidFill>
                <a:latin typeface="Calibri"/>
              </a:defRPr>
            </a:pPr>
            <a:r>
              <a:t>Saturday 6am: merchant sees 'weekend revenue — landed' in dashboard</a:t>
            </a:r>
          </a:p>
        </p:txBody>
      </p:sp>
      <p:sp>
        <p:nvSpPr>
          <p:cNvPr id="25" name="Oval 24"/>
          <p:cNvSpPr/>
          <p:nvPr/>
        </p:nvSpPr>
        <p:spPr>
          <a:xfrm>
            <a:off x="6492240" y="36859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7042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685932"/>
            <a:ext cx="4572000" cy="411480"/>
          </a:xfrm>
          <a:prstGeom prst="rect">
            <a:avLst/>
          </a:prstGeom>
          <a:noFill/>
        </p:spPr>
        <p:txBody>
          <a:bodyPr wrap="square">
            <a:spAutoFit/>
          </a:bodyPr>
          <a:lstStyle/>
          <a:p>
            <a:pPr algn="l">
              <a:defRPr sz="900" b="0">
                <a:solidFill>
                  <a:srgbClr val="333333"/>
                </a:solidFill>
                <a:latin typeface="Calibri"/>
              </a:defRPr>
            </a:pPr>
            <a:r>
              <a:t>Monday/Tuesday: card network settlement clears, reconcile runs, merchant sees nothing</a:t>
            </a:r>
          </a:p>
        </p:txBody>
      </p:sp>
      <p:sp>
        <p:nvSpPr>
          <p:cNvPr id="28" name="Rounded Rectangle 27"/>
          <p:cNvSpPr/>
          <p:nvPr/>
        </p:nvSpPr>
        <p:spPr>
          <a:xfrm>
            <a:off x="640080" y="43900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4357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710060"/>
            <a:ext cx="2468880" cy="457200"/>
          </a:xfrm>
          <a:prstGeom prst="rect">
            <a:avLst/>
          </a:prstGeom>
          <a:noFill/>
        </p:spPr>
        <p:txBody>
          <a:bodyPr wrap="square">
            <a:spAutoFit/>
          </a:bodyPr>
          <a:lstStyle/>
          <a:p>
            <a:pPr algn="ctr">
              <a:defRPr sz="2400" b="1">
                <a:solidFill>
                  <a:srgbClr val="FF6600"/>
                </a:solidFill>
                <a:latin typeface="Calibri"/>
              </a:defRPr>
            </a:pPr>
            <a:r>
              <a:rPr dirty="0"/>
              <a:t>Sat 6am</a:t>
            </a:r>
            <a:r>
              <a:rPr dirty="0" err="1"/>
              <a:t/>
            </a:r>
            <a:endParaRPr dirty="0"/>
          </a:p>
        </p:txBody>
      </p:sp>
      <p:sp>
        <p:nvSpPr>
          <p:cNvPr id="31" name="TextBox 30"/>
          <p:cNvSpPr txBox="1"/>
          <p:nvPr/>
        </p:nvSpPr>
        <p:spPr>
          <a:xfrm>
            <a:off x="822960" y="5167260"/>
            <a:ext cx="2468880" cy="411480"/>
          </a:xfrm>
          <a:prstGeom prst="rect">
            <a:avLst/>
          </a:prstGeom>
          <a:noFill/>
        </p:spPr>
        <p:txBody>
          <a:bodyPr wrap="square">
            <a:spAutoFit/>
          </a:bodyPr>
          <a:lstStyle/>
          <a:p>
            <a:pPr algn="ctr">
              <a:defRPr sz="900" b="0">
                <a:solidFill>
                  <a:srgbClr val="FFFFFF"/>
                </a:solidFill>
                <a:latin typeface="Calibri"/>
              </a:defRPr>
            </a:pPr>
            <a:r>
              <a:t>Money lands,</a:t>
            </a:r>
            <a:br/>
            <a:r>
              <a:t>not Tuesday afternoon</a:t>
            </a:r>
          </a:p>
        </p:txBody>
      </p:sp>
      <p:sp>
        <p:nvSpPr>
          <p:cNvPr id="32" name="TextBox 31"/>
          <p:cNvSpPr txBox="1"/>
          <p:nvPr/>
        </p:nvSpPr>
        <p:spPr>
          <a:xfrm>
            <a:off x="3611879" y="4710060"/>
            <a:ext cx="2468880" cy="457200"/>
          </a:xfrm>
          <a:prstGeom prst="rect">
            <a:avLst/>
          </a:prstGeom>
          <a:noFill/>
        </p:spPr>
        <p:txBody>
          <a:bodyPr wrap="square">
            <a:spAutoFit/>
          </a:bodyPr>
          <a:lstStyle/>
          <a:p>
            <a:pPr algn="ctr">
              <a:defRPr sz="2400" b="1">
                <a:solidFill>
                  <a:srgbClr val="FF6600"/>
                </a:solidFill>
                <a:latin typeface="Calibri"/>
              </a:defRPr>
            </a:pPr>
            <a:r>
              <a:t>Free</a:t>
            </a:r>
          </a:p>
        </p:txBody>
      </p:sp>
      <p:sp>
        <p:nvSpPr>
          <p:cNvPr id="33" name="TextBox 32"/>
          <p:cNvSpPr txBox="1"/>
          <p:nvPr/>
        </p:nvSpPr>
        <p:spPr>
          <a:xfrm>
            <a:off x="3611879" y="5167260"/>
            <a:ext cx="2468880" cy="411480"/>
          </a:xfrm>
          <a:prstGeom prst="rect">
            <a:avLst/>
          </a:prstGeom>
          <a:noFill/>
        </p:spPr>
        <p:txBody>
          <a:bodyPr wrap="square">
            <a:spAutoFit/>
          </a:bodyPr>
          <a:lstStyle/>
          <a:p>
            <a:pPr algn="ctr">
              <a:defRPr sz="900" b="0">
                <a:solidFill>
                  <a:srgbClr val="FFFFFF"/>
                </a:solidFill>
                <a:latin typeface="Calibri"/>
              </a:defRPr>
            </a:pPr>
            <a:r>
              <a:t>No fee</a:t>
            </a:r>
            <a:br/>
            <a:r>
              <a:t>(vs Stripe 1.5%, Square 1.75%)</a:t>
            </a:r>
          </a:p>
        </p:txBody>
      </p:sp>
      <p:sp>
        <p:nvSpPr>
          <p:cNvPr id="34" name="TextBox 33"/>
          <p:cNvSpPr txBox="1"/>
          <p:nvPr/>
        </p:nvSpPr>
        <p:spPr>
          <a:xfrm>
            <a:off x="6400799" y="4710060"/>
            <a:ext cx="2468880" cy="457200"/>
          </a:xfrm>
          <a:prstGeom prst="rect">
            <a:avLst/>
          </a:prstGeom>
          <a:noFill/>
        </p:spPr>
        <p:txBody>
          <a:bodyPr wrap="square">
            <a:spAutoFit/>
          </a:bodyPr>
          <a:lstStyle/>
          <a:p>
            <a:pPr algn="ctr">
              <a:defRPr sz="2400" b="1">
                <a:solidFill>
                  <a:srgbClr val="FF6600"/>
                </a:solidFill>
                <a:latin typeface="Calibri"/>
              </a:defRPr>
            </a:pPr>
            <a:r>
              <a:t>99.9%</a:t>
            </a:r>
          </a:p>
        </p:txBody>
      </p:sp>
      <p:sp>
        <p:nvSpPr>
          <p:cNvPr id="35" name="TextBox 34"/>
          <p:cNvSpPr txBox="1"/>
          <p:nvPr/>
        </p:nvSpPr>
        <p:spPr>
          <a:xfrm>
            <a:off x="6400799" y="5167260"/>
            <a:ext cx="2468880" cy="411480"/>
          </a:xfrm>
          <a:prstGeom prst="rect">
            <a:avLst/>
          </a:prstGeom>
          <a:noFill/>
        </p:spPr>
        <p:txBody>
          <a:bodyPr wrap="square">
            <a:spAutoFit/>
          </a:bodyPr>
          <a:lstStyle/>
          <a:p>
            <a:pPr algn="ctr">
              <a:defRPr sz="900" b="0">
                <a:solidFill>
                  <a:srgbClr val="FFFFFF"/>
                </a:solidFill>
                <a:latin typeface="Calibri"/>
              </a:defRPr>
            </a:pPr>
            <a:r>
              <a:t>Rolling 30-day SLA</a:t>
            </a:r>
            <a:br/>
            <a:r>
              <a:t>auto-pause threshold</a:t>
            </a:r>
          </a:p>
        </p:txBody>
      </p:sp>
      <p:sp>
        <p:nvSpPr>
          <p:cNvPr id="36" name="TextBox 35"/>
          <p:cNvSpPr txBox="1"/>
          <p:nvPr/>
        </p:nvSpPr>
        <p:spPr>
          <a:xfrm>
            <a:off x="9189720" y="4710060"/>
            <a:ext cx="2468880" cy="457200"/>
          </a:xfrm>
          <a:prstGeom prst="rect">
            <a:avLst/>
          </a:prstGeom>
          <a:noFill/>
        </p:spPr>
        <p:txBody>
          <a:bodyPr wrap="square">
            <a:spAutoFit/>
          </a:bodyPr>
          <a:lstStyle/>
          <a:p>
            <a:pPr algn="ctr">
              <a:defRPr sz="2400" b="1">
                <a:solidFill>
                  <a:srgbClr val="FF6600"/>
                </a:solidFill>
                <a:latin typeface="Calibri"/>
              </a:defRPr>
            </a:pPr>
            <a:r>
              <a:rPr dirty="0"/>
              <a:t>60 min</a:t>
            </a:r>
            <a:r>
              <a:rPr lang="en-US" dirty="0"/>
              <a:t/>
            </a:r>
            <a:r>
              <a:rPr dirty="0"/>
              <a:t/>
            </a:r>
          </a:p>
        </p:txBody>
      </p:sp>
      <p:sp>
        <p:nvSpPr>
          <p:cNvPr id="37" name="TextBox 36"/>
          <p:cNvSpPr txBox="1"/>
          <p:nvPr/>
        </p:nvSpPr>
        <p:spPr>
          <a:xfrm>
            <a:off x="9189720" y="5167260"/>
            <a:ext cx="2468880" cy="411480"/>
          </a:xfrm>
          <a:prstGeom prst="rect">
            <a:avLst/>
          </a:prstGeom>
          <a:noFill/>
        </p:spPr>
        <p:txBody>
          <a:bodyPr wrap="square">
            <a:spAutoFit/>
          </a:bodyPr>
          <a:lstStyle/>
          <a:p>
            <a:pPr algn="ctr">
              <a:defRPr sz="900" b="0">
                <a:solidFill>
                  <a:srgbClr val="FFFFFF"/>
                </a:solidFill>
                <a:latin typeface="Calibri"/>
              </a:defRPr>
            </a:pPr>
            <a:r>
              <a:t>Fiserv backstop on</a:t>
            </a:r>
            <a:br/>
            <a:r>
              <a:t>any SLA miss</a:t>
            </a:r>
          </a:p>
        </p:txBody>
      </p:sp>
      <p:sp>
        <p:nvSpPr>
          <p:cNvPr id="38" name="TextBox 37"/>
          <p:cNvSpPr txBox="1"/>
          <p:nvPr/>
        </p:nvSpPr>
        <p:spPr>
          <a:xfrm>
            <a:off x="914400" y="5578740"/>
            <a:ext cx="10515600" cy="365760"/>
          </a:xfrm>
          <a:prstGeom prst="rect">
            <a:avLst/>
          </a:prstGeom>
          <a:noFill/>
        </p:spPr>
        <p:txBody>
          <a:bodyPr wrap="square">
            <a:spAutoFit/>
          </a:bodyPr>
          <a:lstStyle/>
          <a:p>
            <a:pPr algn="ctr">
              <a:defRPr sz="1100" b="0">
                <a:solidFill>
                  <a:srgbClr val="FFFFFF"/>
                </a:solidFill>
                <a:latin typeface="Calibri"/>
              </a:defRPr>
            </a:pPr>
            <a:r>
              <a:rPr dirty="0"/>
              <a:t>Your Saturday money, on Saturday. Backed by Fiserv. Reshape of prototype-1 code: same Finxact + decision-gate scaffolding, correct job.</a:t>
            </a:r>
          </a:p>
        </p:txBody>
      </p:sp>
      <p:sp>
        <p:nvSpPr>
          <p:cNvPr id="40" name="Text Placeholder 39">
            <a:extLst>
              <a:ext uri="{FF2B5EF4-FFF2-40B4-BE49-F238E27FC236}">
                <a16:creationId xmlns:a16="http://schemas.microsoft.com/office/drawing/2014/main" id="{2B068D00-0FBB-4159-06BF-142B8643F1BE}"/>
              </a:ext>
            </a:extLst>
          </p:cNvPr>
          <p:cNvSpPr>
            <a:spLocks noGrp="1"/>
          </p:cNvSpPr>
          <p:nvPr>
            <p:ph type="body" sz="quarter" idx="13"/>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63880" y="481176"/>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3880" y="499464"/>
            <a:ext cx="1645920" cy="274320"/>
          </a:xfrm>
          <a:prstGeom prst="rect">
            <a:avLst/>
          </a:prstGeom>
          <a:noFill/>
        </p:spPr>
        <p:txBody>
          <a:bodyPr wrap="square">
            <a:spAutoFit/>
          </a:bodyPr>
          <a:lstStyle/>
          <a:p>
            <a:pPr algn="ctr">
              <a:defRPr sz="1100" b="1">
                <a:solidFill>
                  <a:srgbClr val="FFFFFF"/>
                </a:solidFill>
                <a:latin typeface="Calibri"/>
              </a:defRPr>
            </a:pPr>
            <a:r>
              <a:rPr dirty="0"/>
              <a:t>PROTOTYPE 4</a:t>
            </a:r>
          </a:p>
        </p:txBody>
      </p:sp>
      <p:sp>
        <p:nvSpPr>
          <p:cNvPr id="5" name="TextBox 4"/>
          <p:cNvSpPr txBox="1"/>
          <p:nvPr/>
        </p:nvSpPr>
        <p:spPr>
          <a:xfrm>
            <a:off x="2392680" y="369247"/>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Clover Agent Checkout Backbone  (reshape of P2)</a:t>
            </a:r>
          </a:p>
        </p:txBody>
      </p:sp>
      <p:sp>
        <p:nvSpPr>
          <p:cNvPr id="6" name="Rounded Rectangle 5"/>
          <p:cNvSpPr/>
          <p:nvPr/>
        </p:nvSpPr>
        <p:spPr>
          <a:xfrm>
            <a:off x="563880" y="13590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3880" y="13590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8200" y="14047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The Fiserv-Mastercard Agent Pay integration (Dec 2025) terminates at tokenized-card acceptance. It does not translate agent intent (line items, modifiers, tip, delivery) into Clover Platform API orders. Without a layer that bridges agent-layer protocols to Clover's order model, Clover Direct is just 'tokenized card acceptance from an agent' — indistinguishable from any other card-on-file transaction.</a:t>
            </a:r>
          </a:p>
        </p:txBody>
      </p:sp>
      <p:sp>
        <p:nvSpPr>
          <p:cNvPr id="9" name="Rounded Rectangle 8"/>
          <p:cNvSpPr/>
          <p:nvPr/>
        </p:nvSpPr>
        <p:spPr>
          <a:xfrm>
            <a:off x="563880" y="26848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3880" y="26848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200" y="27306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Load-bearing infrastructure reshape of prototype-2 (Pay-by-Agent x402). Gateway + Verifier + Settler + Agent SDK, plus the new Agent Order Translation Layer that converts ACP / AP2 / Mastercard Agent Pay payloads into full Clover orders with line items, modifiers, tip, and delivery metadata. The single most technically differentiating component in the portfolio. Clover Direct and SmartDeposit both ride on it.</a:t>
            </a:r>
          </a:p>
        </p:txBody>
      </p:sp>
      <p:sp>
        <p:nvSpPr>
          <p:cNvPr id="12" name="TextBox 11"/>
          <p:cNvSpPr txBox="1"/>
          <p:nvPr/>
        </p:nvSpPr>
        <p:spPr>
          <a:xfrm>
            <a:off x="6416040" y="1359000"/>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16040" y="17704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6040" y="17887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27520" y="1770480"/>
            <a:ext cx="4572000" cy="411480"/>
          </a:xfrm>
          <a:prstGeom prst="rect">
            <a:avLst/>
          </a:prstGeom>
          <a:noFill/>
        </p:spPr>
        <p:txBody>
          <a:bodyPr wrap="square">
            <a:spAutoFit/>
          </a:bodyPr>
          <a:lstStyle/>
          <a:p>
            <a:pPr algn="l">
              <a:defRPr sz="900" b="0">
                <a:solidFill>
                  <a:srgbClr val="333333"/>
                </a:solidFill>
                <a:latin typeface="Calibri"/>
              </a:defRPr>
            </a:pPr>
            <a:r>
              <a:t>Gateway receives agent intent payload (Mastercard Agent Pay primary; ACP / AP2 as adapters)</a:t>
            </a:r>
          </a:p>
        </p:txBody>
      </p:sp>
      <p:sp>
        <p:nvSpPr>
          <p:cNvPr id="16" name="Oval 15"/>
          <p:cNvSpPr/>
          <p:nvPr/>
        </p:nvSpPr>
        <p:spPr>
          <a:xfrm>
            <a:off x="6416040" y="22459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6040" y="22642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27520" y="2245968"/>
            <a:ext cx="4572000" cy="411480"/>
          </a:xfrm>
          <a:prstGeom prst="rect">
            <a:avLst/>
          </a:prstGeom>
          <a:noFill/>
        </p:spPr>
        <p:txBody>
          <a:bodyPr wrap="square">
            <a:spAutoFit/>
          </a:bodyPr>
          <a:lstStyle/>
          <a:p>
            <a:pPr algn="l">
              <a:defRPr sz="900" b="0">
                <a:solidFill>
                  <a:srgbClr val="333333"/>
                </a:solidFill>
                <a:latin typeface="Calibri"/>
              </a:defRPr>
            </a:pPr>
            <a:r>
              <a:t>Verifier validates agent identity, spending guardrails, Fiserv Secure Card on File token</a:t>
            </a:r>
          </a:p>
        </p:txBody>
      </p:sp>
      <p:sp>
        <p:nvSpPr>
          <p:cNvPr id="19" name="Oval 18"/>
          <p:cNvSpPr/>
          <p:nvPr/>
        </p:nvSpPr>
        <p:spPr>
          <a:xfrm>
            <a:off x="6416040" y="27214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6040" y="27397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27520" y="2721456"/>
            <a:ext cx="4572000" cy="411480"/>
          </a:xfrm>
          <a:prstGeom prst="rect">
            <a:avLst/>
          </a:prstGeom>
          <a:noFill/>
        </p:spPr>
        <p:txBody>
          <a:bodyPr wrap="square">
            <a:spAutoFit/>
          </a:bodyPr>
          <a:lstStyle/>
          <a:p>
            <a:pPr algn="l">
              <a:defRPr sz="900" b="0">
                <a:solidFill>
                  <a:srgbClr val="333333"/>
                </a:solidFill>
                <a:latin typeface="Calibri"/>
              </a:defRPr>
            </a:pPr>
            <a:r>
              <a:t>Agent Order Translation Layer normalizes payloads, maps SKUs and modifiers against merchant catalog</a:t>
            </a:r>
          </a:p>
        </p:txBody>
      </p:sp>
      <p:sp>
        <p:nvSpPr>
          <p:cNvPr id="22" name="Oval 21"/>
          <p:cNvSpPr/>
          <p:nvPr/>
        </p:nvSpPr>
        <p:spPr>
          <a:xfrm>
            <a:off x="6416040" y="31969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6040" y="32152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27520" y="3196944"/>
            <a:ext cx="4572000" cy="411480"/>
          </a:xfrm>
          <a:prstGeom prst="rect">
            <a:avLst/>
          </a:prstGeom>
          <a:noFill/>
        </p:spPr>
        <p:txBody>
          <a:bodyPr wrap="square">
            <a:spAutoFit/>
          </a:bodyPr>
          <a:lstStyle/>
          <a:p>
            <a:pPr algn="l">
              <a:defRPr sz="900" b="0">
                <a:solidFill>
                  <a:srgbClr val="333333"/>
                </a:solidFill>
                <a:latin typeface="Calibri"/>
              </a:defRPr>
            </a:pPr>
            <a:r>
              <a:t>Settler creates the Clover order via Platform API; attaches tokenized payment with mandate metadata</a:t>
            </a:r>
          </a:p>
        </p:txBody>
      </p:sp>
      <p:sp>
        <p:nvSpPr>
          <p:cNvPr id="25" name="Oval 24"/>
          <p:cNvSpPr/>
          <p:nvPr/>
        </p:nvSpPr>
        <p:spPr>
          <a:xfrm>
            <a:off x="6416040" y="36724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6040" y="36907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27520" y="3672432"/>
            <a:ext cx="4572000" cy="411480"/>
          </a:xfrm>
          <a:prstGeom prst="rect">
            <a:avLst/>
          </a:prstGeom>
          <a:noFill/>
        </p:spPr>
        <p:txBody>
          <a:bodyPr wrap="square">
            <a:spAutoFit/>
          </a:bodyPr>
          <a:lstStyle/>
          <a:p>
            <a:pPr algn="l">
              <a:defRPr sz="900" b="0">
                <a:solidFill>
                  <a:srgbClr val="333333"/>
                </a:solidFill>
                <a:latin typeface="Calibri"/>
              </a:defRPr>
            </a:pPr>
            <a:r>
              <a:t>Merchant POS rings with full ticket; latency target &lt;10s end-to-end, &lt;500ms translation</a:t>
            </a:r>
          </a:p>
        </p:txBody>
      </p:sp>
      <p:sp>
        <p:nvSpPr>
          <p:cNvPr id="28" name="Rounded Rectangle 27"/>
          <p:cNvSpPr/>
          <p:nvPr/>
        </p:nvSpPr>
        <p:spPr>
          <a:xfrm>
            <a:off x="563880" y="43765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8200" y="44222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746760" y="4696560"/>
            <a:ext cx="2468880" cy="457200"/>
          </a:xfrm>
          <a:prstGeom prst="rect">
            <a:avLst/>
          </a:prstGeom>
          <a:noFill/>
        </p:spPr>
        <p:txBody>
          <a:bodyPr wrap="square">
            <a:spAutoFit/>
          </a:bodyPr>
          <a:lstStyle/>
          <a:p>
            <a:pPr algn="ctr">
              <a:defRPr sz="2400" b="1">
                <a:solidFill>
                  <a:srgbClr val="FF6600"/>
                </a:solidFill>
                <a:latin typeface="Calibri"/>
              </a:defRPr>
            </a:pPr>
            <a:r>
              <a:rPr dirty="0"/>
              <a:t>3 protocols</a:t>
            </a:r>
          </a:p>
        </p:txBody>
      </p:sp>
      <p:sp>
        <p:nvSpPr>
          <p:cNvPr id="31" name="TextBox 30"/>
          <p:cNvSpPr txBox="1"/>
          <p:nvPr/>
        </p:nvSpPr>
        <p:spPr>
          <a:xfrm>
            <a:off x="746760" y="5153760"/>
            <a:ext cx="2468880" cy="411480"/>
          </a:xfrm>
          <a:prstGeom prst="rect">
            <a:avLst/>
          </a:prstGeom>
          <a:noFill/>
        </p:spPr>
        <p:txBody>
          <a:bodyPr wrap="square">
            <a:spAutoFit/>
          </a:bodyPr>
          <a:lstStyle/>
          <a:p>
            <a:pPr algn="ctr">
              <a:defRPr sz="900" b="0">
                <a:solidFill>
                  <a:srgbClr val="FFFFFF"/>
                </a:solidFill>
                <a:latin typeface="Calibri"/>
              </a:defRPr>
            </a:pPr>
            <a:r>
              <a:t>ACP, AP2,</a:t>
            </a:r>
            <a:br/>
            <a:r>
              <a:t>Mastercard Agent Pay</a:t>
            </a:r>
          </a:p>
        </p:txBody>
      </p:sp>
      <p:sp>
        <p:nvSpPr>
          <p:cNvPr id="32" name="TextBox 31"/>
          <p:cNvSpPr txBox="1"/>
          <p:nvPr/>
        </p:nvSpPr>
        <p:spPr>
          <a:xfrm>
            <a:off x="3535679" y="4696560"/>
            <a:ext cx="2468880" cy="457200"/>
          </a:xfrm>
          <a:prstGeom prst="rect">
            <a:avLst/>
          </a:prstGeom>
          <a:noFill/>
        </p:spPr>
        <p:txBody>
          <a:bodyPr wrap="square">
            <a:spAutoFit/>
          </a:bodyPr>
          <a:lstStyle/>
          <a:p>
            <a:pPr algn="ctr">
              <a:defRPr sz="2400" b="1">
                <a:solidFill>
                  <a:srgbClr val="FF6600"/>
                </a:solidFill>
                <a:latin typeface="Calibri"/>
              </a:defRPr>
            </a:pPr>
            <a:r>
              <a:t>&lt;500 ms</a:t>
            </a:r>
          </a:p>
        </p:txBody>
      </p:sp>
      <p:sp>
        <p:nvSpPr>
          <p:cNvPr id="33" name="TextBox 32"/>
          <p:cNvSpPr txBox="1"/>
          <p:nvPr/>
        </p:nvSpPr>
        <p:spPr>
          <a:xfrm>
            <a:off x="3535679" y="5153760"/>
            <a:ext cx="2468880" cy="411480"/>
          </a:xfrm>
          <a:prstGeom prst="rect">
            <a:avLst/>
          </a:prstGeom>
          <a:noFill/>
        </p:spPr>
        <p:txBody>
          <a:bodyPr wrap="square">
            <a:spAutoFit/>
          </a:bodyPr>
          <a:lstStyle/>
          <a:p>
            <a:pPr algn="ctr">
              <a:defRPr sz="900" b="0">
                <a:solidFill>
                  <a:srgbClr val="FFFFFF"/>
                </a:solidFill>
                <a:latin typeface="Calibri"/>
              </a:defRPr>
            </a:pPr>
            <a:r>
              <a:t>Translation layer</a:t>
            </a:r>
            <a:br/>
            <a:r>
              <a:t>latency target</a:t>
            </a:r>
          </a:p>
        </p:txBody>
      </p:sp>
      <p:sp>
        <p:nvSpPr>
          <p:cNvPr id="34" name="TextBox 33"/>
          <p:cNvSpPr txBox="1"/>
          <p:nvPr/>
        </p:nvSpPr>
        <p:spPr>
          <a:xfrm>
            <a:off x="6324599" y="4696560"/>
            <a:ext cx="2468880" cy="457200"/>
          </a:xfrm>
          <a:prstGeom prst="rect">
            <a:avLst/>
          </a:prstGeom>
          <a:noFill/>
        </p:spPr>
        <p:txBody>
          <a:bodyPr wrap="square">
            <a:spAutoFit/>
          </a:bodyPr>
          <a:lstStyle/>
          <a:p>
            <a:pPr algn="ctr">
              <a:defRPr sz="2400" b="1">
                <a:solidFill>
                  <a:srgbClr val="FF6600"/>
                </a:solidFill>
                <a:latin typeface="Calibri"/>
              </a:defRPr>
            </a:pPr>
            <a:r>
              <a:t>&gt;95%</a:t>
            </a:r>
          </a:p>
        </p:txBody>
      </p:sp>
      <p:sp>
        <p:nvSpPr>
          <p:cNvPr id="35" name="TextBox 34"/>
          <p:cNvSpPr txBox="1"/>
          <p:nvPr/>
        </p:nvSpPr>
        <p:spPr>
          <a:xfrm>
            <a:off x="6324599" y="5153760"/>
            <a:ext cx="2468880" cy="411480"/>
          </a:xfrm>
          <a:prstGeom prst="rect">
            <a:avLst/>
          </a:prstGeom>
          <a:noFill/>
        </p:spPr>
        <p:txBody>
          <a:bodyPr wrap="square">
            <a:spAutoFit/>
          </a:bodyPr>
          <a:lstStyle/>
          <a:p>
            <a:pPr algn="ctr">
              <a:defRPr sz="900" b="0">
                <a:solidFill>
                  <a:srgbClr val="FFFFFF"/>
                </a:solidFill>
                <a:latin typeface="Calibri"/>
              </a:defRPr>
            </a:pPr>
            <a:r>
              <a:t>Translation confidence</a:t>
            </a:r>
            <a:br/>
            <a:r>
              <a:t>kill threshold</a:t>
            </a:r>
          </a:p>
        </p:txBody>
      </p:sp>
      <p:sp>
        <p:nvSpPr>
          <p:cNvPr id="36" name="TextBox 35"/>
          <p:cNvSpPr txBox="1"/>
          <p:nvPr/>
        </p:nvSpPr>
        <p:spPr>
          <a:xfrm>
            <a:off x="9113520" y="4696560"/>
            <a:ext cx="2468880" cy="457200"/>
          </a:xfrm>
          <a:prstGeom prst="rect">
            <a:avLst/>
          </a:prstGeom>
          <a:noFill/>
        </p:spPr>
        <p:txBody>
          <a:bodyPr wrap="square">
            <a:spAutoFit/>
          </a:bodyPr>
          <a:lstStyle/>
          <a:p>
            <a:pPr algn="ctr">
              <a:defRPr sz="2400" b="1">
                <a:solidFill>
                  <a:srgbClr val="FF6600"/>
                </a:solidFill>
                <a:latin typeface="Calibri"/>
              </a:defRPr>
            </a:pPr>
            <a:r>
              <a:t>1 stack</a:t>
            </a:r>
          </a:p>
        </p:txBody>
      </p:sp>
      <p:sp>
        <p:nvSpPr>
          <p:cNvPr id="37" name="TextBox 36"/>
          <p:cNvSpPr txBox="1"/>
          <p:nvPr/>
        </p:nvSpPr>
        <p:spPr>
          <a:xfrm>
            <a:off x="9113520" y="5153760"/>
            <a:ext cx="2468880" cy="411480"/>
          </a:xfrm>
          <a:prstGeom prst="rect">
            <a:avLst/>
          </a:prstGeom>
          <a:noFill/>
        </p:spPr>
        <p:txBody>
          <a:bodyPr wrap="square">
            <a:spAutoFit/>
          </a:bodyPr>
          <a:lstStyle/>
          <a:p>
            <a:pPr algn="ctr">
              <a:defRPr sz="900" b="0">
                <a:solidFill>
                  <a:srgbClr val="FFFFFF"/>
                </a:solidFill>
                <a:latin typeface="Calibri"/>
              </a:defRPr>
            </a:pPr>
            <a:r>
              <a:t>Clover Direct +</a:t>
            </a:r>
            <a:br/>
            <a:r>
              <a:t>SmartDeposit both ride it</a:t>
            </a:r>
          </a:p>
        </p:txBody>
      </p:sp>
      <p:sp>
        <p:nvSpPr>
          <p:cNvPr id="38" name="TextBox 37"/>
          <p:cNvSpPr txBox="1"/>
          <p:nvPr/>
        </p:nvSpPr>
        <p:spPr>
          <a:xfrm>
            <a:off x="746760" y="5546952"/>
            <a:ext cx="10515600" cy="365760"/>
          </a:xfrm>
          <a:prstGeom prst="rect">
            <a:avLst/>
          </a:prstGeom>
          <a:noFill/>
        </p:spPr>
        <p:txBody>
          <a:bodyPr wrap="square">
            <a:spAutoFit/>
          </a:bodyPr>
          <a:lstStyle/>
          <a:p>
            <a:pPr algn="ctr">
              <a:defRPr sz="1100" b="0">
                <a:solidFill>
                  <a:srgbClr val="FFFFFF"/>
                </a:solidFill>
                <a:latin typeface="Calibri"/>
              </a:defRPr>
            </a:pPr>
            <a:r>
              <a:rPr dirty="0"/>
              <a:t>Rename from 'Pay-by-Agent x402' to 'Clover Agent Checkout.' Re-target from enterprise API devs to Clover merchants receiving orders from any AI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Portfolio Discipline &amp; Kill Thresholds</a:t>
            </a:r>
          </a:p>
        </p:txBody>
      </p:sp>
      <p:sp>
        <p:nvSpPr>
          <p:cNvPr id="5" name="Rounded Rectangle 4"/>
          <p:cNvSpPr/>
          <p:nvPr/>
        </p:nvSpPr>
        <p:spPr>
          <a:xfrm>
            <a:off x="731520" y="1200000"/>
            <a:ext cx="10698480" cy="53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350000"/>
            <a:ext cx="10058400" cy="5100000"/>
          </a:xfrm>
          <a:prstGeom prst="rect">
            <a:avLst/>
          </a:prstGeom>
          <a:noFill/>
        </p:spPr>
        <p:txBody>
          <a:bodyPr wrap="square">
            <a:spAutoFit/>
          </a:bodyPr>
          <a:lstStyle/>
          <a:p>
            <a:pPr algn="ctr">
              <a:defRPr sz="1200" b="0">
                <a:solidFill>
                  <a:srgbClr val="333333"/>
                </a:solidFill>
                <a:latin typeface="Calibri"/>
              </a:defRPr>
            </a:pPr>
            <a:r>
              <a:t>Every product has a public kill threshold. The kills are as important as the ships.</a:t>
            </a:r>
          </a:p>
          <a:p/>
          <a:p>
            <a:r>
              <a:t>IN SCOPE:</a:t>
            </a:r>
          </a:p>
          <a:p>
            <a:r>
              <a:t>  • Clover Direct — kill if &lt;$50M annualized agent-channel GPV by Q4 2026</a:t>
            </a:r>
          </a:p>
          <a:p>
            <a:r>
              <a:t>  • SmartDeposit — hold the dispute-defense claim until 6 months of data show &gt;10pp win-rate lift</a:t>
            </a:r>
          </a:p>
          <a:p>
            <a:r>
              <a:t>  • WeekendCash — auto-pause if rolling 30-day SLA drops below 99.9%; Fiserv backstops on any SLA miss</a:t>
            </a:r>
          </a:p>
          <a:p>
            <a:r>
              <a:t>  • Clover Agent Checkout backbone — kill if Agent Order Translation Layer &lt;95% confidence on demo fixtures</a:t>
            </a:r>
          </a:p>
          <a:p/>
          <a:p>
            <a:r>
              <a:t>EXPLORED AND PARKED (via negativa):</a:t>
            </a:r>
          </a:p>
          <a:p>
            <a:r>
              <a:t>  • Clover Net-Zero — killed on competitive parity with Stripe/Square Invoicing; folded as feature layer</a:t>
            </a:r>
          </a:p>
          <a:p>
            <a:r>
              <a:t>  • Prototype-3 Supplier Pay — retired from workstream (B2B, not CNP); parked as Commerce Hub side-bet</a:t>
            </a:r>
          </a:p>
          <a:p>
            <a:r>
              <a:t>  • Prototype-4 Cross-Border — retired from workstream; Mastercard BVNK acquisition obsoleted differentiator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876096" y="2875405"/>
            <a:ext cx="9418320" cy="731520"/>
          </a:xfrm>
          <a:prstGeom prst="rect">
            <a:avLst/>
          </a:prstGeom>
          <a:noFill/>
        </p:spPr>
        <p:txBody>
          <a:bodyPr wrap="square">
            <a:spAutoFit/>
          </a:bodyPr>
          <a:lstStyle/>
          <a:p>
            <a:pPr algn="ctr">
              <a:defRPr sz="1600" b="0">
                <a:solidFill>
                  <a:srgbClr val="FF6600"/>
                </a:solidFill>
                <a:latin typeface="Calibri"/>
              </a:defRPr>
            </a:pPr>
            <a:r>
              <a:rPr dirty="0"/>
              <a:t>"We are not just adding a payment method. We are building the infrastructure</a:t>
            </a:r>
            <a:br>
              <a:rPr dirty="0"/>
            </a:br>
            <a:r>
              <a:rPr dirty="0"/>
              <a:t>for the next era of commerce."</a:t>
            </a:r>
          </a:p>
        </p:txBody>
      </p:sp>
    </p:spTree>
    <p:extLst>
      <p:ext uri="{BB962C8B-B14F-4D97-AF65-F5344CB8AC3E}">
        <p14:creationId xmlns:p14="http://schemas.microsoft.com/office/powerpoint/2010/main" val="19624397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ROW" val="1"/>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Fisv">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5 235 235">
      <a:srgbClr val="EBEBEB"/>
    </a:custClr>
    <a:custClr name="Fiserv Graphite Gray 102 102 102">
      <a:srgbClr val="666666"/>
    </a:custClr>
    <a:custClr name="Fiserv Steel Blue 102 153 204">
      <a:srgbClr val="6699CC"/>
    </a:custClr>
    <a:custClr name="Black">
      <a:srgbClr val="000000"/>
    </a:custClr>
  </a:custClrLst>
  <a:extLst>
    <a:ext uri="{05A4C25C-085E-4340-85A3-A5531E510DB2}">
      <thm15:themeFamily xmlns:thm15="http://schemas.microsoft.com/office/thememl/2012/main" name="Fisv" id="{0BD0A2C2-1170-4EA8-842F-D16BE21B5974}" vid="{97D8B134-F933-43BD-BF4E-64889F48CB2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588</TotalTime>
  <Words>2539</Words>
  <Application>Microsoft Office PowerPoint</Application>
  <PresentationFormat>Widescreen</PresentationFormat>
  <Paragraphs>449</Paragraphs>
  <Slides>19</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Aptos</vt:lpstr>
      <vt:lpstr>Aptos Display</vt:lpstr>
      <vt:lpstr>Arial</vt:lpstr>
      <vt:lpstr>Calibri</vt:lpstr>
      <vt:lpstr>Univers for Fiserv 45 Light</vt:lpstr>
      <vt:lpstr>Office Theme</vt:lpstr>
      <vt:lpstr>Custom Design</vt:lpstr>
      <vt:lpstr>Fisv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Narasimmamoorthy, Ajay (US - California)</cp:lastModifiedBy>
  <cp:revision>1</cp:revision>
  <dcterms:created xsi:type="dcterms:W3CDTF">2013-01-27T09:14:16Z</dcterms:created>
  <dcterms:modified xsi:type="dcterms:W3CDTF">2026-04-10T04:46:50Z</dcterms:modified>
  <cp:category/>
</cp:coreProperties>
</file>